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a7f117ccf24f12" /><Relationship Type="http://schemas.openxmlformats.org/officeDocument/2006/relationships/extended-properties" Target="/docProps/app.xml" Id="Recc01ad8f33a4442" /><Relationship Type="http://schemas.openxmlformats.org/officeDocument/2006/relationships/officeDocument" Target="/ppt/presentation.xml" Id="R1714a73fc3fc43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79c44dff044e46"/>
  </p:sldMasterIdLst>
  <p:notesMasterIdLst>
    <p:notesMasterId xmlns:r="http://schemas.openxmlformats.org/officeDocument/2006/relationships" r:id="Rbee793c425064a64"/>
  </p:notesMasterIdLst>
  <p:sldIdLst>
    <p:sldId xmlns:r="http://schemas.openxmlformats.org/officeDocument/2006/relationships" id="256" r:id="Rd56f79ea90424c50"/>
    <p:sldId xmlns:r="http://schemas.openxmlformats.org/officeDocument/2006/relationships" id="257" r:id="R7af6a9ceb98e4431"/>
    <p:sldId xmlns:r="http://schemas.openxmlformats.org/officeDocument/2006/relationships" id="258" r:id="Rd8ebed1abe3547f0"/>
    <p:sldId xmlns:r="http://schemas.openxmlformats.org/officeDocument/2006/relationships" id="259" r:id="Rdd97d13ec0274942"/>
    <p:sldId xmlns:r="http://schemas.openxmlformats.org/officeDocument/2006/relationships" id="260" r:id="R6323820b405c4e5e"/>
    <p:sldId xmlns:r="http://schemas.openxmlformats.org/officeDocument/2006/relationships" id="261" r:id="R1252e067151041b4"/>
    <p:sldId xmlns:r="http://schemas.openxmlformats.org/officeDocument/2006/relationships" id="262" r:id="R99fb74ba76834374"/>
    <p:sldId xmlns:r="http://schemas.openxmlformats.org/officeDocument/2006/relationships" id="263" r:id="Rd761c618f6724088"/>
    <p:sldId xmlns:r="http://schemas.openxmlformats.org/officeDocument/2006/relationships" id="264" r:id="Ra3bc776a4e5140ea"/>
    <p:sldId xmlns:r="http://schemas.openxmlformats.org/officeDocument/2006/relationships" id="265" r:id="R2b7327776b2b4640"/>
    <p:sldId xmlns:r="http://schemas.openxmlformats.org/officeDocument/2006/relationships" id="266" r:id="R2a412ae7b7c345dc"/>
    <p:sldId xmlns:r="http://schemas.openxmlformats.org/officeDocument/2006/relationships" id="267" r:id="R4ef8947c1d514b1f"/>
    <p:sldId xmlns:r="http://schemas.openxmlformats.org/officeDocument/2006/relationships" id="268" r:id="R3e5a960964e24157"/>
    <p:sldId xmlns:r="http://schemas.openxmlformats.org/officeDocument/2006/relationships" id="269" r:id="R9c139aaf94fa40cc"/>
    <p:sldId xmlns:r="http://schemas.openxmlformats.org/officeDocument/2006/relationships" id="270" r:id="Rba1e400266554e32"/>
    <p:sldId xmlns:r="http://schemas.openxmlformats.org/officeDocument/2006/relationships" id="271" r:id="Rd23227f5768f44eb"/>
    <p:sldId xmlns:r="http://schemas.openxmlformats.org/officeDocument/2006/relationships" id="272" r:id="R1a84feddd0614b93"/>
    <p:sldId xmlns:r="http://schemas.openxmlformats.org/officeDocument/2006/relationships" id="273" r:id="R11250971063140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a9522e06fe481b" /><Relationship Type="http://schemas.openxmlformats.org/officeDocument/2006/relationships/slideMaster" Target="/ppt/slideMasters/slideMaster1.xml" Id="Rfb79c44dff044e46" /><Relationship Type="http://schemas.openxmlformats.org/officeDocument/2006/relationships/notesMaster" Target="/ppt/notesMasters/notesMaster1.xml" Id="Rbee793c425064a64" /><Relationship Type="http://schemas.openxmlformats.org/officeDocument/2006/relationships/presProps" Target="/ppt/presProps.xml" Id="R89301c6e35994ed9" /><Relationship Type="http://schemas.openxmlformats.org/officeDocument/2006/relationships/viewProps" Target="/ppt/viewProps.xml" Id="R1b9a7b1b5335405f" /><Relationship Type="http://schemas.openxmlformats.org/officeDocument/2006/relationships/tableStyles" Target="/ppt/tableStyles.xml" Id="R8af719526b88440e" /><Relationship Type="http://schemas.openxmlformats.org/officeDocument/2006/relationships/slide" Target="/ppt/slides/slide1.xml" Id="Rd56f79ea90424c50" /><Relationship Type="http://schemas.openxmlformats.org/officeDocument/2006/relationships/slide" Target="/ppt/slides/slide2.xml" Id="R7af6a9ceb98e4431" /><Relationship Type="http://schemas.openxmlformats.org/officeDocument/2006/relationships/slide" Target="/ppt/slides/slide3.xml" Id="Rd8ebed1abe3547f0" /><Relationship Type="http://schemas.openxmlformats.org/officeDocument/2006/relationships/slide" Target="/ppt/slides/slide4.xml" Id="Rdd97d13ec0274942" /><Relationship Type="http://schemas.openxmlformats.org/officeDocument/2006/relationships/slide" Target="/ppt/slides/slide5.xml" Id="R6323820b405c4e5e" /><Relationship Type="http://schemas.openxmlformats.org/officeDocument/2006/relationships/slide" Target="/ppt/slides/slide6.xml" Id="R1252e067151041b4" /><Relationship Type="http://schemas.openxmlformats.org/officeDocument/2006/relationships/slide" Target="/ppt/slides/slide7.xml" Id="R99fb74ba76834374" /><Relationship Type="http://schemas.openxmlformats.org/officeDocument/2006/relationships/slide" Target="/ppt/slides/slide8.xml" Id="Rd761c618f6724088" /><Relationship Type="http://schemas.openxmlformats.org/officeDocument/2006/relationships/slide" Target="/ppt/slides/slide9.xml" Id="Ra3bc776a4e5140ea" /><Relationship Type="http://schemas.openxmlformats.org/officeDocument/2006/relationships/slide" Target="/ppt/slides/slide10.xml" Id="R2b7327776b2b4640" /><Relationship Type="http://schemas.openxmlformats.org/officeDocument/2006/relationships/slide" Target="/ppt/slides/slide11.xml" Id="R2a412ae7b7c345dc" /><Relationship Type="http://schemas.openxmlformats.org/officeDocument/2006/relationships/slide" Target="/ppt/slides/slide12.xml" Id="R4ef8947c1d514b1f" /><Relationship Type="http://schemas.openxmlformats.org/officeDocument/2006/relationships/slide" Target="/ppt/slides/slide13.xml" Id="R3e5a960964e24157" /><Relationship Type="http://schemas.openxmlformats.org/officeDocument/2006/relationships/slide" Target="/ppt/slides/slide14.xml" Id="R9c139aaf94fa40cc" /><Relationship Type="http://schemas.openxmlformats.org/officeDocument/2006/relationships/slide" Target="/ppt/slides/slide15.xml" Id="Rba1e400266554e32" /><Relationship Type="http://schemas.openxmlformats.org/officeDocument/2006/relationships/slide" Target="/ppt/slides/slide16.xml" Id="Rd23227f5768f44eb" /><Relationship Type="http://schemas.openxmlformats.org/officeDocument/2006/relationships/slide" Target="/ppt/slides/slide17.xml" Id="R1a84feddd0614b93" /><Relationship Type="http://schemas.openxmlformats.org/officeDocument/2006/relationships/slide" Target="/ppt/slides/slide18.xml" Id="R11250971063140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c9bab4d58949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723d0cc7f649ef" /><Relationship Type="http://schemas.openxmlformats.org/officeDocument/2006/relationships/notesMaster" Target="/ppt/notesMasters/notesMaster1.xml" Id="R609f55836c1745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38a24b7c044ccf" /><Relationship Type="http://schemas.openxmlformats.org/officeDocument/2006/relationships/notesMaster" Target="/ppt/notesMasters/notesMaster1.xml" Id="R7897d73dc3a741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9919c2dad5468d" /><Relationship Type="http://schemas.openxmlformats.org/officeDocument/2006/relationships/notesMaster" Target="/ppt/notesMasters/notesMaster1.xml" Id="Re1c98340eaf349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8d1be87efa449b" /><Relationship Type="http://schemas.openxmlformats.org/officeDocument/2006/relationships/notesMaster" Target="/ppt/notesMasters/notesMaster1.xml" Id="Ra410ad4c642d4b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d922fe58f34df9" /><Relationship Type="http://schemas.openxmlformats.org/officeDocument/2006/relationships/notesMaster" Target="/ppt/notesMasters/notesMaster1.xml" Id="R3ea9f0d095624d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07d3e2f2a74c31" /><Relationship Type="http://schemas.openxmlformats.org/officeDocument/2006/relationships/notesMaster" Target="/ppt/notesMasters/notesMaster1.xml" Id="Re4bf84c1cd2e45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179f244c624c11" /><Relationship Type="http://schemas.openxmlformats.org/officeDocument/2006/relationships/notesMaster" Target="/ppt/notesMasters/notesMaster1.xml" Id="R66a56d71958441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60f88fa23c4c72" /><Relationship Type="http://schemas.openxmlformats.org/officeDocument/2006/relationships/notesMaster" Target="/ppt/notesMasters/notesMaster1.xml" Id="Rc1d5180e19d64a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a8108f0e2a45da" /><Relationship Type="http://schemas.openxmlformats.org/officeDocument/2006/relationships/notesMaster" Target="/ppt/notesMasters/notesMaster1.xml" Id="R16ad209251844e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c2829a35d44f2f" /><Relationship Type="http://schemas.openxmlformats.org/officeDocument/2006/relationships/notesMaster" Target="/ppt/notesMasters/notesMaster1.xml" Id="R48b669e7ace84b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28c8ed4762493a" /><Relationship Type="http://schemas.openxmlformats.org/officeDocument/2006/relationships/notesMaster" Target="/ppt/notesMasters/notesMaster1.xml" Id="Rf48f640d928d4e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775a8d4840498b" /><Relationship Type="http://schemas.openxmlformats.org/officeDocument/2006/relationships/notesMaster" Target="/ppt/notesMasters/notesMaster1.xml" Id="Re156e682bb464eb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15ba05da7e4e7a" /><Relationship Type="http://schemas.openxmlformats.org/officeDocument/2006/relationships/notesMaster" Target="/ppt/notesMasters/notesMaster1.xml" Id="R344aa9201c2d4b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05dc2d322c45ee" /><Relationship Type="http://schemas.openxmlformats.org/officeDocument/2006/relationships/notesMaster" Target="/ppt/notesMasters/notesMaster1.xml" Id="R6d150724b0ed45c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16c4d1f4c834c6e" /><Relationship Type="http://schemas.openxmlformats.org/officeDocument/2006/relationships/notesMaster" Target="/ppt/notesMasters/notesMaster1.xml" Id="Ra9555404abd6497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81b3860d7dc47c9" /><Relationship Type="http://schemas.openxmlformats.org/officeDocument/2006/relationships/notesMaster" Target="/ppt/notesMasters/notesMaster1.xml" Id="R7e1308737e634bc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99ccfe55ccb45f7" /><Relationship Type="http://schemas.openxmlformats.org/officeDocument/2006/relationships/notesMaster" Target="/ppt/notesMasters/notesMaster1.xml" Id="Rbf8ae9a853b2448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25f5111f9541da" /><Relationship Type="http://schemas.openxmlformats.org/officeDocument/2006/relationships/notesMaster" Target="/ppt/notesMasters/notesMaster1.xml" Id="R45e490cd08fb4e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b6b8247ac74a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2a392fb12849af" /><Relationship Type="http://schemas.openxmlformats.org/officeDocument/2006/relationships/slideLayout" Target="/ppt/slideLayouts/slideLayout1.xml" Id="R69c0916c90f647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c0916c90f647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c7d177cd04280" /><Relationship Type="http://schemas.openxmlformats.org/officeDocument/2006/relationships/notesSlide" Target="/ppt/notesSlides/notesSlide1.xml" Id="R280a39e72b624f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eb8639c0747d6" /><Relationship Type="http://schemas.openxmlformats.org/officeDocument/2006/relationships/notesSlide" Target="/ppt/notesSlides/notesSlide2.xml" Id="R314db878680740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3be8012674a56" /><Relationship Type="http://schemas.openxmlformats.org/officeDocument/2006/relationships/notesSlide" Target="/ppt/notesSlides/notesSlide3.xml" Id="R7e9a4113a7d54f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a8ca472c745c1" /><Relationship Type="http://schemas.openxmlformats.org/officeDocument/2006/relationships/notesSlide" Target="/ppt/notesSlides/notesSlide4.xml" Id="Rebe39eee490a40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10f20720b460d" /><Relationship Type="http://schemas.openxmlformats.org/officeDocument/2006/relationships/notesSlide" Target="/ppt/notesSlides/notesSlide5.xml" Id="R1ae9e351ec0745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db7defc7640ac" /><Relationship Type="http://schemas.openxmlformats.org/officeDocument/2006/relationships/notesSlide" Target="/ppt/notesSlides/notesSlide6.xml" Id="R138c13c71f4642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26c281a6a45ef" /><Relationship Type="http://schemas.openxmlformats.org/officeDocument/2006/relationships/notesSlide" Target="/ppt/notesSlides/notesSlide7.xml" Id="R7d7d4b25253f4c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f94f8134442ab" /><Relationship Type="http://schemas.openxmlformats.org/officeDocument/2006/relationships/notesSlide" Target="/ppt/notesSlides/notesSlide8.xml" Id="R2743c489153149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485378b2441ee" /><Relationship Type="http://schemas.openxmlformats.org/officeDocument/2006/relationships/notesSlide" Target="/ppt/notesSlides/notesSlide9.xml" Id="Re2b200a191c744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ef6f07ac143b5" /><Relationship Type="http://schemas.openxmlformats.org/officeDocument/2006/relationships/notesSlide" Target="/ppt/notesSlides/notesSlide10.xml" Id="R3da702200b1649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26f5518f346f4" /><Relationship Type="http://schemas.openxmlformats.org/officeDocument/2006/relationships/notesSlide" Target="/ppt/notesSlides/notesSlide11.xml" Id="R839440cb702140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9d16ea3634d72" /><Relationship Type="http://schemas.openxmlformats.org/officeDocument/2006/relationships/notesSlide" Target="/ppt/notesSlides/notesSlide12.xml" Id="R90b57452446045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cc89aa30741c5" /><Relationship Type="http://schemas.openxmlformats.org/officeDocument/2006/relationships/notesSlide" Target="/ppt/notesSlides/notesSlide13.xml" Id="Rb607d430c5ce46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cad2874404cc6" /><Relationship Type="http://schemas.openxmlformats.org/officeDocument/2006/relationships/notesSlide" Target="/ppt/notesSlides/notesSlide14.xml" Id="R3cbc7a1206284d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e2b2fe15444d2" /><Relationship Type="http://schemas.openxmlformats.org/officeDocument/2006/relationships/notesSlide" Target="/ppt/notesSlides/notesSlide15.xml" Id="R914fc66324a644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b0459a25f4e11" /><Relationship Type="http://schemas.openxmlformats.org/officeDocument/2006/relationships/notesSlide" Target="/ppt/notesSlides/notesSlide16.xml" Id="R9444c91f7ccd406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fa9655b1546c2" /><Relationship Type="http://schemas.openxmlformats.org/officeDocument/2006/relationships/notesSlide" Target="/ppt/notesSlides/notesSlide17.xml" Id="Rf148fdca77b04ff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28673180d4c32" /><Relationship Type="http://schemas.openxmlformats.org/officeDocument/2006/relationships/notesSlide" Target="/ppt/notesSlides/notesSlide18.xml" Id="Rf37444c22c534d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576" name="">
            <a:extLst xmlns:a="http://schemas.openxmlformats.org/drawingml/2006/main">
              <a:ext uri="{FF2B5EF4-FFF2-40B4-BE49-F238E27FC236}">
                <a16:creationId xmlns:a16="http://schemas.microsoft.com/office/drawing/2014/main" id="{D1E9AC08-94AF-4D1C-B645-34E6CC86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577" name="">
            <a:extLst xmlns:a="http://schemas.openxmlformats.org/drawingml/2006/main">
              <a:ext uri="{FF2B5EF4-FFF2-40B4-BE49-F238E27FC236}">
                <a16:creationId xmlns:a16="http://schemas.microsoft.com/office/drawing/2014/main" id="{8A9C5ABC-4D96-417C-BDF0-AB59ADF3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9C6E5"/>
                </a:solidFill>
              </a:defRPr>
            </a:pPr>
            <a:r>
              <a:rPr sz="1425" b="1">
                <a:solidFill>
                  <a:srgbClr val="49C6E5"/>
                </a:solidFill>
              </a:rPr>
              <a:t>AI-BASED</a:t>
            </a:r>
          </a:p>
        </p:txBody>
      </p:sp>
      <p:sp>
        <p:nvSpPr>
          <p:cNvPr id="1048578" name="">
            <a:extLst xmlns:a="http://schemas.openxmlformats.org/drawingml/2006/main">
              <a:ext uri="{FF2B5EF4-FFF2-40B4-BE49-F238E27FC236}">
                <a16:creationId xmlns:a16="http://schemas.microsoft.com/office/drawing/2014/main" id="{59F81BC6-8F39-4B69-A672-6F34E0B2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47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Resume Screening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and Review System</a:t>
            </a:r>
          </a:p>
        </p:txBody>
      </p:sp>
      <p:sp>
        <p:nvSpPr>
          <p:cNvPr id="1048579" name="">
            <a:extLst xmlns:a="http://schemas.openxmlformats.org/drawingml/2006/main">
              <a:ext uri="{FF2B5EF4-FFF2-40B4-BE49-F238E27FC236}">
                <a16:creationId xmlns:a16="http://schemas.microsoft.com/office/drawing/2014/main" id="{1A6635B4-B2AC-433D-85D3-43404366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80" y="2809874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6E0F0"/>
                </a:solidFill>
              </a:defRPr>
            </a:pPr>
            <a:r>
              <a:rPr sz="1800" b="0">
                <a:solidFill>
                  <a:srgbClr val="D6E0F0"/>
                </a:solidFill>
              </a:rPr>
              <a:t>A fair, explainable and efficient approach to candidate shortlisting</a:t>
            </a:r>
          </a:p>
        </p:txBody>
      </p:sp>
      <p:sp>
        <p:nvSpPr>
          <p:cNvPr id="1048580" name="">
            <a:extLst xmlns:a="http://schemas.openxmlformats.org/drawingml/2006/main">
              <a:ext uri="{FF2B5EF4-FFF2-40B4-BE49-F238E27FC236}">
                <a16:creationId xmlns:a16="http://schemas.microsoft.com/office/drawing/2014/main" id="{A3F83DC6-3555-42FE-8527-6B799986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6E5"/>
          </a:solidFill>
          <a:ln xmlns:a="http://schemas.openxmlformats.org/drawingml/2006/main" w="0">
            <a:solidFill>
              <a:srgbClr val="49C6E5"/>
            </a:solidFill>
            <a:prstDash val="solid"/>
          </a:ln>
        </p:spPr>
      </p:sp>
      <p:sp>
        <p:nvSpPr>
          <p:cNvPr id="1048581" name="">
            <a:extLst xmlns:a="http://schemas.openxmlformats.org/drawingml/2006/main">
              <a:ext uri="{FF2B5EF4-FFF2-40B4-BE49-F238E27FC236}">
                <a16:creationId xmlns:a16="http://schemas.microsoft.com/office/drawing/2014/main" id="{8FBDF1E9-694C-4978-A81A-4919035E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590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Kruthikaran  1925260038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Mohammed misbahuldin  1965260109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Harini  1965260055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Loshitha P  1965260080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Sornavarshini M  1965260025</a:t>
            </a:r>
          </a:p>
        </p:txBody>
      </p:sp>
      <p:sp>
        <p:nvSpPr>
          <p:cNvPr id="1048582" name="">
            <a:extLst xmlns:a="http://schemas.openxmlformats.org/drawingml/2006/main">
              <a:ext uri="{FF2B5EF4-FFF2-40B4-BE49-F238E27FC236}">
                <a16:creationId xmlns:a16="http://schemas.microsoft.com/office/drawing/2014/main" id="{59D8F6DE-B076-4E7A-8062-D96F21FC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FC0D8"/>
                </a:solidFill>
              </a:defRPr>
            </a:pPr>
          </a:p>
        </p:txBody>
      </p:sp>
      <p:sp>
        <p:nvSpPr>
          <p:cNvPr id="1048583" name="">
            <a:extLst xmlns:a="http://schemas.openxmlformats.org/drawingml/2006/main">
              <a:ext uri="{FF2B5EF4-FFF2-40B4-BE49-F238E27FC236}">
                <a16:creationId xmlns:a16="http://schemas.microsoft.com/office/drawing/2014/main" id="{93D2B3A2-874C-4AB4-A571-6A687D90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200" b="1">
                <a:solidFill>
                  <a:srgbClr val="FFFFFF"/>
                </a:solidFill>
              </a:defRPr>
            </a:pPr>
            <a:r>
              <a:rPr sz="72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1048584" name="">
            <a:extLst xmlns:a="http://schemas.openxmlformats.org/drawingml/2006/main">
              <a:ext uri="{FF2B5EF4-FFF2-40B4-BE49-F238E27FC236}">
                <a16:creationId xmlns:a16="http://schemas.microsoft.com/office/drawing/2014/main" id="{FE5F95EF-4553-4905-B5A1-65440EDA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385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CV → SCORE → REVIEW</a:t>
            </a:r>
          </a:p>
        </p:txBody>
      </p:sp>
      <p:sp>
        <p:nvSpPr>
          <p:cNvPr id="1048585" name="">
            <a:extLst xmlns:a="http://schemas.openxmlformats.org/drawingml/2006/main">
              <a:ext uri="{FF2B5EF4-FFF2-40B4-BE49-F238E27FC236}">
                <a16:creationId xmlns:a16="http://schemas.microsoft.com/office/drawing/2014/main" id="{8EDE62DA-61B9-4AFA-8DE8-3D638FA3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914" y="3667125"/>
            <a:ext cx="6879872" cy="51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</a:rPr>
              <a:t/>
            </a:r>
            <a:endParaRPr sz="2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5457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589" name="">
            <a:extLst xmlns:a="http://schemas.openxmlformats.org/drawingml/2006/main">
              <a:ext uri="{FF2B5EF4-FFF2-40B4-BE49-F238E27FC236}">
                <a16:creationId xmlns:a16="http://schemas.microsoft.com/office/drawing/2014/main" id="{22C8611B-B41C-4DA7-9339-4C9F6FC7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48590" name="">
            <a:extLst xmlns:a="http://schemas.openxmlformats.org/drawingml/2006/main">
              <a:ext uri="{FF2B5EF4-FFF2-40B4-BE49-F238E27FC236}">
                <a16:creationId xmlns:a16="http://schemas.microsoft.com/office/drawing/2014/main" id="{F2ABBF59-D34B-47FD-A359-B78C2FE0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23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591" name="">
            <a:extLst xmlns:a="http://schemas.openxmlformats.org/drawingml/2006/main">
              <a:ext uri="{FF2B5EF4-FFF2-40B4-BE49-F238E27FC236}">
                <a16:creationId xmlns:a16="http://schemas.microsoft.com/office/drawing/2014/main" id="{D25AE7B6-8720-4E48-882D-23094AD8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1048592" name="">
            <a:extLst xmlns:a="http://schemas.openxmlformats.org/drawingml/2006/main">
              <a:ext uri="{FF2B5EF4-FFF2-40B4-BE49-F238E27FC236}">
                <a16:creationId xmlns:a16="http://schemas.microsoft.com/office/drawing/2014/main" id="{7C968FA4-4F4A-4D31-A4D8-CBFE3AE2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Why manual resume screening needs support</a:t>
            </a:r>
          </a:p>
        </p:txBody>
      </p:sp>
      <p:sp>
        <p:nvSpPr>
          <p:cNvPr id="1048593" name="">
            <a:extLst xmlns:a="http://schemas.openxmlformats.org/drawingml/2006/main">
              <a:ext uri="{FF2B5EF4-FFF2-40B4-BE49-F238E27FC236}">
                <a16:creationId xmlns:a16="http://schemas.microsoft.com/office/drawing/2014/main" id="{568BB5DC-7270-4267-985B-AC308062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1048594" name="">
            <a:extLst xmlns:a="http://schemas.openxmlformats.org/drawingml/2006/main">
              <a:ext uri="{FF2B5EF4-FFF2-40B4-BE49-F238E27FC236}">
                <a16:creationId xmlns:a16="http://schemas.microsoft.com/office/drawing/2014/main" id="{E8446344-E99B-4D8B-BC9F-8605A037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Recruiters often review many resumes under time pressure.</a:t>
            </a:r>
          </a:p>
        </p:txBody>
      </p:sp>
      <p:sp>
        <p:nvSpPr>
          <p:cNvPr id="1048595" name="">
            <a:extLst xmlns:a="http://schemas.openxmlformats.org/drawingml/2006/main">
              <a:ext uri="{FF2B5EF4-FFF2-40B4-BE49-F238E27FC236}">
                <a16:creationId xmlns:a16="http://schemas.microsoft.com/office/drawing/2014/main" id="{4CC41FF9-3504-4E23-B986-B3E2AD95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596" name="">
            <a:extLst xmlns:a="http://schemas.openxmlformats.org/drawingml/2006/main">
              <a:ext uri="{FF2B5EF4-FFF2-40B4-BE49-F238E27FC236}">
                <a16:creationId xmlns:a16="http://schemas.microsoft.com/office/drawing/2014/main" id="{932F9B71-2401-4630-AC20-0C124323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38375"/>
            <a:ext cx="593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Slow: repeated reading delays shortlisting</a:t>
            </a:r>
          </a:p>
        </p:txBody>
      </p:sp>
      <p:sp>
        <p:nvSpPr>
          <p:cNvPr id="1048597" name="">
            <a:extLst xmlns:a="http://schemas.openxmlformats.org/drawingml/2006/main">
              <a:ext uri="{FF2B5EF4-FFF2-40B4-BE49-F238E27FC236}">
                <a16:creationId xmlns:a16="http://schemas.microsoft.com/office/drawing/2014/main" id="{3115A17A-C780-42F6-AB23-B87F4A17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598" name="">
            <a:extLst xmlns:a="http://schemas.openxmlformats.org/drawingml/2006/main">
              <a:ext uri="{FF2B5EF4-FFF2-40B4-BE49-F238E27FC236}">
                <a16:creationId xmlns:a16="http://schemas.microsoft.com/office/drawing/2014/main" id="{883E4FC7-D89B-4803-B69A-9AAB7001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05125"/>
            <a:ext cx="593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Inconsistent: different reviewers may judge differently</a:t>
            </a:r>
          </a:p>
        </p:txBody>
      </p:sp>
      <p:sp>
        <p:nvSpPr>
          <p:cNvPr id="1048599" name="">
            <a:extLst xmlns:a="http://schemas.openxmlformats.org/drawingml/2006/main">
              <a:ext uri="{FF2B5EF4-FFF2-40B4-BE49-F238E27FC236}">
                <a16:creationId xmlns:a16="http://schemas.microsoft.com/office/drawing/2014/main" id="{959EFA51-0349-47E4-BFFF-0A2FF7DC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600" name="">
            <a:extLst xmlns:a="http://schemas.openxmlformats.org/drawingml/2006/main">
              <a:ext uri="{FF2B5EF4-FFF2-40B4-BE49-F238E27FC236}">
                <a16:creationId xmlns:a16="http://schemas.microsoft.com/office/drawing/2014/main" id="{94E45721-A809-46C2-ADB5-2371A5BC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71875"/>
            <a:ext cx="593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Keyword overload: suitable candidates may be missed</a:t>
            </a:r>
          </a:p>
        </p:txBody>
      </p:sp>
      <p:sp>
        <p:nvSpPr>
          <p:cNvPr id="1048601" name="">
            <a:extLst xmlns:a="http://schemas.openxmlformats.org/drawingml/2006/main">
              <a:ext uri="{FF2B5EF4-FFF2-40B4-BE49-F238E27FC236}">
                <a16:creationId xmlns:a16="http://schemas.microsoft.com/office/drawing/2014/main" id="{A2C1F3DF-6CC4-4B13-9FCA-3F411C27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602" name="">
            <a:extLst xmlns:a="http://schemas.openxmlformats.org/drawingml/2006/main">
              <a:ext uri="{FF2B5EF4-FFF2-40B4-BE49-F238E27FC236}">
                <a16:creationId xmlns:a16="http://schemas.microsoft.com/office/drawing/2014/main" id="{F218D6D2-483A-4308-9B84-603119DA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38625"/>
            <a:ext cx="593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Hard to explain why one resume ranked above another</a:t>
            </a:r>
          </a:p>
        </p:txBody>
      </p:sp>
      <p:sp>
        <p:nvSpPr>
          <p:cNvPr id="1048603" name="">
            <a:extLst xmlns:a="http://schemas.openxmlformats.org/drawingml/2006/main">
              <a:ext uri="{FF2B5EF4-FFF2-40B4-BE49-F238E27FC236}">
                <a16:creationId xmlns:a16="http://schemas.microsoft.com/office/drawing/2014/main" id="{D2762E3D-E98F-4610-9817-493C0458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62125"/>
            <a:ext cx="3095625" cy="3429000"/>
          </a:xfrm>
          <a:prstGeom xmlns:a="http://schemas.openxmlformats.org/drawingml/2006/main" prst="roundRect">
            <a:avLst>
              <a:gd name="adj" fmla="val 369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604" name="">
            <a:extLst xmlns:a="http://schemas.openxmlformats.org/drawingml/2006/main">
              <a:ext uri="{FF2B5EF4-FFF2-40B4-BE49-F238E27FC236}">
                <a16:creationId xmlns:a16="http://schemas.microsoft.com/office/drawing/2014/main" id="{7B849DA7-8D3A-412E-8980-FE6E6FBE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9550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46BFD"/>
                </a:solidFill>
              </a:defRPr>
            </a:pPr>
            <a:r>
              <a:rPr sz="1350" b="1">
                <a:solidFill>
                  <a:srgbClr val="246BFD"/>
                </a:solidFill>
              </a:rPr>
              <a:t>PROJECT GOAL</a:t>
            </a:r>
          </a:p>
        </p:txBody>
      </p:sp>
      <p:sp>
        <p:nvSpPr>
          <p:cNvPr id="1048605" name="">
            <a:extLst xmlns:a="http://schemas.openxmlformats.org/drawingml/2006/main">
              <a:ext uri="{FF2B5EF4-FFF2-40B4-BE49-F238E27FC236}">
                <a16:creationId xmlns:a16="http://schemas.microsoft.com/office/drawing/2014/main" id="{63FBCDD6-117D-4CF5-BF64-94B431BE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67000"/>
            <a:ext cx="2428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Convert resumes into structured data, compare them with a job description, and generate a transparent review report.</a:t>
            </a:r>
          </a:p>
        </p:txBody>
      </p:sp>
      <p:sp>
        <p:nvSpPr>
          <p:cNvPr id="1048606" name="">
            <a:extLst xmlns:a="http://schemas.openxmlformats.org/drawingml/2006/main">
              <a:ext uri="{FF2B5EF4-FFF2-40B4-BE49-F238E27FC236}">
                <a16:creationId xmlns:a16="http://schemas.microsoft.com/office/drawing/2014/main" id="{A628FB2E-4A3E-4D05-959A-949CF726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426727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610" name="">
            <a:extLst xmlns:a="http://schemas.openxmlformats.org/drawingml/2006/main">
              <a:ext uri="{FF2B5EF4-FFF2-40B4-BE49-F238E27FC236}">
                <a16:creationId xmlns:a16="http://schemas.microsoft.com/office/drawing/2014/main" id="{72C8B241-61B1-4EC6-A72D-B51B4BD1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48611" name="">
            <a:extLst xmlns:a="http://schemas.openxmlformats.org/drawingml/2006/main">
              <a:ext uri="{FF2B5EF4-FFF2-40B4-BE49-F238E27FC236}">
                <a16:creationId xmlns:a16="http://schemas.microsoft.com/office/drawing/2014/main" id="{0D55C50E-1AFD-485E-BEDF-56607209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23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612" name="">
            <a:extLst xmlns:a="http://schemas.openxmlformats.org/drawingml/2006/main">
              <a:ext uri="{FF2B5EF4-FFF2-40B4-BE49-F238E27FC236}">
                <a16:creationId xmlns:a16="http://schemas.microsoft.com/office/drawing/2014/main" id="{B4CDE897-6DF4-4CB2-B96A-B79ABECE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1048613" name="">
            <a:extLst xmlns:a="http://schemas.openxmlformats.org/drawingml/2006/main">
              <a:ext uri="{FF2B5EF4-FFF2-40B4-BE49-F238E27FC236}">
                <a16:creationId xmlns:a16="http://schemas.microsoft.com/office/drawing/2014/main" id="{2B70AB1E-A27D-43E3-84AF-B79A28FA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The proposed system supports—not replaces—the recruiter</a:t>
            </a:r>
          </a:p>
        </p:txBody>
      </p:sp>
      <p:sp>
        <p:nvSpPr>
          <p:cNvPr id="1048614" name="">
            <a:extLst xmlns:a="http://schemas.openxmlformats.org/drawingml/2006/main">
              <a:ext uri="{FF2B5EF4-FFF2-40B4-BE49-F238E27FC236}">
                <a16:creationId xmlns:a16="http://schemas.microsoft.com/office/drawing/2014/main" id="{4BCB8414-D9B9-4CD5-A694-4041A139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1048615" name="">
            <a:extLst xmlns:a="http://schemas.openxmlformats.org/drawingml/2006/main">
              <a:ext uri="{FF2B5EF4-FFF2-40B4-BE49-F238E27FC236}">
                <a16:creationId xmlns:a16="http://schemas.microsoft.com/office/drawing/2014/main" id="{7B4457D2-0607-4167-A4B8-7249BBB8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6BFD"/>
                </a:solidFill>
              </a:defRPr>
            </a:pPr>
            <a:r>
              <a:rPr sz="1800" b="1">
                <a:solidFill>
                  <a:srgbClr val="246BFD"/>
                </a:solidFill>
              </a:rPr>
              <a:t>Input</a:t>
            </a:r>
          </a:p>
        </p:txBody>
      </p:sp>
      <p:sp>
        <p:nvSpPr>
          <p:cNvPr id="1048616" name="">
            <a:extLst xmlns:a="http://schemas.openxmlformats.org/drawingml/2006/main">
              <a:ext uri="{FF2B5EF4-FFF2-40B4-BE49-F238E27FC236}">
                <a16:creationId xmlns:a16="http://schemas.microsoft.com/office/drawing/2014/main" id="{E47E5821-6D04-4F98-82B1-34D9B63C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6BFD"/>
                </a:solidFill>
              </a:defRPr>
            </a:pPr>
            <a:r>
              <a:rPr sz="1800" b="1">
                <a:solidFill>
                  <a:srgbClr val="246BFD"/>
                </a:solidFill>
              </a:rPr>
              <a:t>Processing</a:t>
            </a:r>
          </a:p>
        </p:txBody>
      </p:sp>
      <p:sp>
        <p:nvSpPr>
          <p:cNvPr id="1048617" name="">
            <a:extLst xmlns:a="http://schemas.openxmlformats.org/drawingml/2006/main">
              <a:ext uri="{FF2B5EF4-FFF2-40B4-BE49-F238E27FC236}">
                <a16:creationId xmlns:a16="http://schemas.microsoft.com/office/drawing/2014/main" id="{1CDBC7B5-A583-451A-A703-401C7A2E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6BFD"/>
                </a:solidFill>
              </a:defRPr>
            </a:pPr>
            <a:r>
              <a:rPr sz="1800" b="1">
                <a:solidFill>
                  <a:srgbClr val="246BFD"/>
                </a:solidFill>
              </a:rPr>
              <a:t>Output</a:t>
            </a:r>
          </a:p>
        </p:txBody>
      </p:sp>
      <p:sp>
        <p:nvSpPr>
          <p:cNvPr id="1048618" name="">
            <a:extLst xmlns:a="http://schemas.openxmlformats.org/drawingml/2006/main">
              <a:ext uri="{FF2B5EF4-FFF2-40B4-BE49-F238E27FC236}">
                <a16:creationId xmlns:a16="http://schemas.microsoft.com/office/drawing/2014/main" id="{7CA2E276-EFD0-4930-97EF-AC726725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952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619" name="">
            <a:extLst xmlns:a="http://schemas.openxmlformats.org/drawingml/2006/main">
              <a:ext uri="{FF2B5EF4-FFF2-40B4-BE49-F238E27FC236}">
                <a16:creationId xmlns:a16="http://schemas.microsoft.com/office/drawing/2014/main" id="{BAF767FC-412A-4A53-B3BC-6413C809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6BFD"/>
                </a:solidFill>
              </a:defRPr>
            </a:pPr>
            <a:r>
              <a:rPr sz="1200" b="1">
                <a:solidFill>
                  <a:srgbClr val="246BFD"/>
                </a:solidFill>
              </a:rPr>
              <a:t>01</a:t>
            </a:r>
          </a:p>
        </p:txBody>
      </p:sp>
      <p:sp>
        <p:nvSpPr>
          <p:cNvPr id="1048620" name="">
            <a:extLst xmlns:a="http://schemas.openxmlformats.org/drawingml/2006/main">
              <a:ext uri="{FF2B5EF4-FFF2-40B4-BE49-F238E27FC236}">
                <a16:creationId xmlns:a16="http://schemas.microsoft.com/office/drawing/2014/main" id="{39786E14-FB09-43E0-965D-2031FD96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Upload resume</a:t>
            </a:r>
          </a:p>
        </p:txBody>
      </p:sp>
      <p:sp>
        <p:nvSpPr>
          <p:cNvPr id="1048621" name="">
            <a:extLst xmlns:a="http://schemas.openxmlformats.org/drawingml/2006/main">
              <a:ext uri="{FF2B5EF4-FFF2-40B4-BE49-F238E27FC236}">
                <a16:creationId xmlns:a16="http://schemas.microsoft.com/office/drawing/2014/main" id="{93C6A33C-EC0A-40E8-BDD1-D1320E78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1952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622" name="">
            <a:extLst xmlns:a="http://schemas.openxmlformats.org/drawingml/2006/main">
              <a:ext uri="{FF2B5EF4-FFF2-40B4-BE49-F238E27FC236}">
                <a16:creationId xmlns:a16="http://schemas.microsoft.com/office/drawing/2014/main" id="{FB827793-5855-4BB9-BACF-39E0DD4C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2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6BFD"/>
                </a:solidFill>
              </a:defRPr>
            </a:pPr>
            <a:r>
              <a:rPr sz="1200" b="1">
                <a:solidFill>
                  <a:srgbClr val="246BFD"/>
                </a:solidFill>
              </a:rPr>
              <a:t>02</a:t>
            </a:r>
          </a:p>
        </p:txBody>
      </p:sp>
      <p:sp>
        <p:nvSpPr>
          <p:cNvPr id="1048623" name="">
            <a:extLst xmlns:a="http://schemas.openxmlformats.org/drawingml/2006/main">
              <a:ext uri="{FF2B5EF4-FFF2-40B4-BE49-F238E27FC236}">
                <a16:creationId xmlns:a16="http://schemas.microsoft.com/office/drawing/2014/main" id="{8FC19BD4-0FF6-411D-BC97-E7B16D6F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43200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Extract text</a:t>
            </a:r>
          </a:p>
        </p:txBody>
      </p:sp>
      <p:sp>
        <p:nvSpPr>
          <p:cNvPr id="1048624" name="">
            <a:extLst xmlns:a="http://schemas.openxmlformats.org/drawingml/2006/main">
              <a:ext uri="{FF2B5EF4-FFF2-40B4-BE49-F238E27FC236}">
                <a16:creationId xmlns:a16="http://schemas.microsoft.com/office/drawing/2014/main" id="{50D4EC44-18D1-44C2-879F-FF76E97D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86000"/>
            <a:ext cx="1952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625" name="">
            <a:extLst xmlns:a="http://schemas.openxmlformats.org/drawingml/2006/main">
              <a:ext uri="{FF2B5EF4-FFF2-40B4-BE49-F238E27FC236}">
                <a16:creationId xmlns:a16="http://schemas.microsoft.com/office/drawing/2014/main" id="{88127092-723F-42C6-8A5A-FC82C405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2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6BFD"/>
                </a:solidFill>
              </a:defRPr>
            </a:pPr>
            <a:r>
              <a:rPr sz="1200" b="1">
                <a:solidFill>
                  <a:srgbClr val="246BFD"/>
                </a:solidFill>
              </a:rPr>
              <a:t>03</a:t>
            </a:r>
          </a:p>
        </p:txBody>
      </p:sp>
      <p:sp>
        <p:nvSpPr>
          <p:cNvPr id="1048626" name="">
            <a:extLst xmlns:a="http://schemas.openxmlformats.org/drawingml/2006/main">
              <a:ext uri="{FF2B5EF4-FFF2-40B4-BE49-F238E27FC236}">
                <a16:creationId xmlns:a16="http://schemas.microsoft.com/office/drawing/2014/main" id="{46BDD4E5-04C5-4E43-9B13-06F153C4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43200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Match skills</a:t>
            </a:r>
          </a:p>
        </p:txBody>
      </p:sp>
      <p:sp>
        <p:nvSpPr>
          <p:cNvPr id="1048627" name="">
            <a:extLst xmlns:a="http://schemas.openxmlformats.org/drawingml/2006/main">
              <a:ext uri="{FF2B5EF4-FFF2-40B4-BE49-F238E27FC236}">
                <a16:creationId xmlns:a16="http://schemas.microsoft.com/office/drawing/2014/main" id="{30EA3C7E-D9D0-4EF3-8AAC-0E526468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86000"/>
            <a:ext cx="1952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628" name="">
            <a:extLst xmlns:a="http://schemas.openxmlformats.org/drawingml/2006/main">
              <a:ext uri="{FF2B5EF4-FFF2-40B4-BE49-F238E27FC236}">
                <a16:creationId xmlns:a16="http://schemas.microsoft.com/office/drawing/2014/main" id="{F68F41FF-CC97-4D5D-96A2-3F2763CC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2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6BFD"/>
                </a:solidFill>
              </a:defRPr>
            </a:pPr>
            <a:r>
              <a:rPr sz="1200" b="1">
                <a:solidFill>
                  <a:srgbClr val="246BFD"/>
                </a:solidFill>
              </a:rPr>
              <a:t>04</a:t>
            </a:r>
          </a:p>
        </p:txBody>
      </p:sp>
      <p:sp>
        <p:nvSpPr>
          <p:cNvPr id="1048629" name="">
            <a:extLst xmlns:a="http://schemas.openxmlformats.org/drawingml/2006/main">
              <a:ext uri="{FF2B5EF4-FFF2-40B4-BE49-F238E27FC236}">
                <a16:creationId xmlns:a16="http://schemas.microsoft.com/office/drawing/2014/main" id="{461B64AE-E5F5-4B86-8921-FF30CB46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43200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Rank &amp; explain</a:t>
            </a:r>
          </a:p>
        </p:txBody>
      </p:sp>
      <p:sp>
        <p:nvSpPr>
          <p:cNvPr id="1048630" name="">
            <a:extLst xmlns:a="http://schemas.openxmlformats.org/drawingml/2006/main">
              <a:ext uri="{FF2B5EF4-FFF2-40B4-BE49-F238E27FC236}">
                <a16:creationId xmlns:a16="http://schemas.microsoft.com/office/drawing/2014/main" id="{6D677FB8-29E3-4979-BBA6-03858970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86000"/>
            <a:ext cx="1619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631" name="">
            <a:extLst xmlns:a="http://schemas.openxmlformats.org/drawingml/2006/main">
              <a:ext uri="{FF2B5EF4-FFF2-40B4-BE49-F238E27FC236}">
                <a16:creationId xmlns:a16="http://schemas.microsoft.com/office/drawing/2014/main" id="{393580EF-5D87-4D1A-A6A5-769BE63A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2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6BFD"/>
                </a:solidFill>
              </a:defRPr>
            </a:pPr>
            <a:r>
              <a:rPr sz="1200" b="1">
                <a:solidFill>
                  <a:srgbClr val="246BFD"/>
                </a:solidFill>
              </a:rPr>
              <a:t>05</a:t>
            </a:r>
          </a:p>
        </p:txBody>
      </p:sp>
      <p:sp>
        <p:nvSpPr>
          <p:cNvPr id="1048632" name="">
            <a:extLst xmlns:a="http://schemas.openxmlformats.org/drawingml/2006/main">
              <a:ext uri="{FF2B5EF4-FFF2-40B4-BE49-F238E27FC236}">
                <a16:creationId xmlns:a16="http://schemas.microsoft.com/office/drawing/2014/main" id="{064FD3AC-F008-40E0-AB2E-579E58E8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74320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Human decision</a:t>
            </a:r>
          </a:p>
        </p:txBody>
      </p:sp>
      <p:sp>
        <p:nvSpPr>
          <p:cNvPr id="1048633" name="">
            <a:extLst xmlns:a="http://schemas.openxmlformats.org/drawingml/2006/main">
              <a:ext uri="{FF2B5EF4-FFF2-40B4-BE49-F238E27FC236}">
                <a16:creationId xmlns:a16="http://schemas.microsoft.com/office/drawing/2014/main" id="{607350AE-3B2E-466E-B12F-EEF71290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9191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6E5"/>
          </a:solidFill>
          <a:ln xmlns:a="http://schemas.openxmlformats.org/drawingml/2006/main" w="0">
            <a:solidFill>
              <a:srgbClr val="49C6E5"/>
            </a:solidFill>
            <a:prstDash val="solid"/>
          </a:ln>
        </p:spPr>
      </p:sp>
      <p:sp>
        <p:nvSpPr>
          <p:cNvPr id="1048634" name="">
            <a:extLst xmlns:a="http://schemas.openxmlformats.org/drawingml/2006/main">
              <a:ext uri="{FF2B5EF4-FFF2-40B4-BE49-F238E27FC236}">
                <a16:creationId xmlns:a16="http://schemas.microsoft.com/office/drawing/2014/main" id="{434FB8B0-81AB-4ED1-AE5E-0FC17E07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2606D"/>
                </a:solidFill>
              </a:defRPr>
            </a:pPr>
            <a:r>
              <a:rPr sz="1275" b="1">
                <a:solidFill>
                  <a:srgbClr val="52606D"/>
                </a:solidFill>
              </a:rPr>
              <a:t>PDF / DOCX</a:t>
            </a:r>
          </a:p>
        </p:txBody>
      </p:sp>
      <p:sp>
        <p:nvSpPr>
          <p:cNvPr id="1048635" name="">
            <a:extLst xmlns:a="http://schemas.openxmlformats.org/drawingml/2006/main">
              <a:ext uri="{FF2B5EF4-FFF2-40B4-BE49-F238E27FC236}">
                <a16:creationId xmlns:a16="http://schemas.microsoft.com/office/drawing/2014/main" id="{FEAD6956-3EB1-43A3-B598-9E6471F9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48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2606D"/>
                </a:solidFill>
              </a:defRPr>
            </a:pPr>
            <a:r>
              <a:rPr sz="1275" b="1">
                <a:solidFill>
                  <a:srgbClr val="52606D"/>
                </a:solidFill>
              </a:rPr>
              <a:t>NLP cleaning</a:t>
            </a:r>
          </a:p>
        </p:txBody>
      </p:sp>
      <p:sp>
        <p:nvSpPr>
          <p:cNvPr id="1048636" name="">
            <a:extLst xmlns:a="http://schemas.openxmlformats.org/drawingml/2006/main">
              <a:ext uri="{FF2B5EF4-FFF2-40B4-BE49-F238E27FC236}">
                <a16:creationId xmlns:a16="http://schemas.microsoft.com/office/drawing/2014/main" id="{DE6377B8-C99C-491E-9640-A7D5E6DC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0481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2606D"/>
                </a:solidFill>
              </a:defRPr>
            </a:pPr>
            <a:r>
              <a:rPr sz="1275" b="1">
                <a:solidFill>
                  <a:srgbClr val="52606D"/>
                </a:solidFill>
              </a:rPr>
              <a:t>TF-IDF similarity</a:t>
            </a:r>
          </a:p>
        </p:txBody>
      </p:sp>
      <p:sp>
        <p:nvSpPr>
          <p:cNvPr id="1048637" name="">
            <a:extLst xmlns:a="http://schemas.openxmlformats.org/drawingml/2006/main">
              <a:ext uri="{FF2B5EF4-FFF2-40B4-BE49-F238E27FC236}">
                <a16:creationId xmlns:a16="http://schemas.microsoft.com/office/drawing/2014/main" id="{F21E751A-D81F-4022-AEA0-BB98DF66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481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2606D"/>
                </a:solidFill>
              </a:defRPr>
            </a:pPr>
            <a:r>
              <a:rPr sz="1275" b="1">
                <a:solidFill>
                  <a:srgbClr val="52606D"/>
                </a:solidFill>
              </a:rPr>
              <a:t>Score + review</a:t>
            </a:r>
          </a:p>
        </p:txBody>
      </p:sp>
      <p:sp>
        <p:nvSpPr>
          <p:cNvPr id="1048638" name="">
            <a:extLst xmlns:a="http://schemas.openxmlformats.org/drawingml/2006/main">
              <a:ext uri="{FF2B5EF4-FFF2-40B4-BE49-F238E27FC236}">
                <a16:creationId xmlns:a16="http://schemas.microsoft.com/office/drawing/2014/main" id="{367FBD61-E595-41FB-BD13-82225749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48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2606D"/>
                </a:solidFill>
              </a:defRPr>
            </a:pPr>
            <a:r>
              <a:rPr sz="1275" b="1">
                <a:solidFill>
                  <a:srgbClr val="52606D"/>
                </a:solidFill>
              </a:rPr>
              <a:t>Approve / reject</a:t>
            </a:r>
          </a:p>
        </p:txBody>
      </p:sp>
      <p:sp>
        <p:nvSpPr>
          <p:cNvPr id="1048639" name="">
            <a:extLst xmlns:a="http://schemas.openxmlformats.org/drawingml/2006/main">
              <a:ext uri="{FF2B5EF4-FFF2-40B4-BE49-F238E27FC236}">
                <a16:creationId xmlns:a16="http://schemas.microsoft.com/office/drawing/2014/main" id="{1D5500AD-D7C2-4A23-9A90-A461388A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7429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F3C46A"/>
            </a:solidFill>
            <a:prstDash val="solid"/>
          </a:ln>
        </p:spPr>
      </p:sp>
      <p:sp>
        <p:nvSpPr>
          <p:cNvPr id="1048640" name="">
            <a:extLst xmlns:a="http://schemas.openxmlformats.org/drawingml/2006/main">
              <a:ext uri="{FF2B5EF4-FFF2-40B4-BE49-F238E27FC236}">
                <a16:creationId xmlns:a16="http://schemas.microsoft.com/office/drawing/2014/main" id="{CF16B69F-69C7-4D09-BCCC-5AEE2222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14350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Human oversight remains mandatory for final hiring decisions.</a:t>
            </a:r>
          </a:p>
        </p:txBody>
      </p:sp>
      <p:sp>
        <p:nvSpPr>
          <p:cNvPr id="1048641" name="">
            <a:extLst xmlns:a="http://schemas.openxmlformats.org/drawingml/2006/main">
              <a:ext uri="{FF2B5EF4-FFF2-40B4-BE49-F238E27FC236}">
                <a16:creationId xmlns:a16="http://schemas.microsoft.com/office/drawing/2014/main" id="{6A7C740A-AF7F-4F4F-B78E-1A891FD6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902990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645" name="">
            <a:extLst xmlns:a="http://schemas.openxmlformats.org/drawingml/2006/main">
              <a:ext uri="{FF2B5EF4-FFF2-40B4-BE49-F238E27FC236}">
                <a16:creationId xmlns:a16="http://schemas.microsoft.com/office/drawing/2014/main" id="{38A8C86C-063A-4A7F-A4F0-08A7E3ED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48646" name="">
            <a:extLst xmlns:a="http://schemas.openxmlformats.org/drawingml/2006/main">
              <a:ext uri="{FF2B5EF4-FFF2-40B4-BE49-F238E27FC236}">
                <a16:creationId xmlns:a16="http://schemas.microsoft.com/office/drawing/2014/main" id="{19B7E93E-C608-4E0F-A2CF-AD969CCB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23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647" name="">
            <a:extLst xmlns:a="http://schemas.openxmlformats.org/drawingml/2006/main">
              <a:ext uri="{FF2B5EF4-FFF2-40B4-BE49-F238E27FC236}">
                <a16:creationId xmlns:a16="http://schemas.microsoft.com/office/drawing/2014/main" id="{0CE1E445-28A6-469E-9A13-2B0A7B0B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1048648" name="">
            <a:extLst xmlns:a="http://schemas.openxmlformats.org/drawingml/2006/main">
              <a:ext uri="{FF2B5EF4-FFF2-40B4-BE49-F238E27FC236}">
                <a16:creationId xmlns:a16="http://schemas.microsoft.com/office/drawing/2014/main" id="{CAB90395-C9E7-4E36-9B53-73FB0AF7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Five modules turn an unstructured resume into a review</a:t>
            </a:r>
          </a:p>
        </p:txBody>
      </p:sp>
      <p:sp>
        <p:nvSpPr>
          <p:cNvPr id="1048649" name="">
            <a:extLst xmlns:a="http://schemas.openxmlformats.org/drawingml/2006/main">
              <a:ext uri="{FF2B5EF4-FFF2-40B4-BE49-F238E27FC236}">
                <a16:creationId xmlns:a16="http://schemas.microsoft.com/office/drawing/2014/main" id="{595CDC34-EA37-41E2-88D5-9B3A842E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1048650" name="">
            <a:extLst xmlns:a="http://schemas.openxmlformats.org/drawingml/2006/main">
              <a:ext uri="{FF2B5EF4-FFF2-40B4-BE49-F238E27FC236}">
                <a16:creationId xmlns:a16="http://schemas.microsoft.com/office/drawing/2014/main" id="{F8C18FF8-758A-44D1-BC87-2DC7F940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46BFD"/>
                </a:solidFill>
              </a:defRPr>
            </a:pPr>
            <a:r>
              <a:rPr sz="1950" b="1">
                <a:solidFill>
                  <a:srgbClr val="246BFD"/>
                </a:solidFill>
              </a:rPr>
              <a:t>1</a:t>
            </a:r>
          </a:p>
        </p:txBody>
      </p:sp>
      <p:sp>
        <p:nvSpPr>
          <p:cNvPr id="1048651" name="">
            <a:extLst xmlns:a="http://schemas.openxmlformats.org/drawingml/2006/main">
              <a:ext uri="{FF2B5EF4-FFF2-40B4-BE49-F238E27FC236}">
                <a16:creationId xmlns:a16="http://schemas.microsoft.com/office/drawing/2014/main" id="{DAB9EF6B-73E0-456D-B2EC-3998DAA5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811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6E5"/>
          </a:solidFill>
          <a:ln xmlns:a="http://schemas.openxmlformats.org/drawingml/2006/main" w="0">
            <a:solidFill>
              <a:srgbClr val="49C6E5"/>
            </a:solidFill>
            <a:prstDash val="solid"/>
          </a:ln>
        </p:spPr>
      </p:sp>
      <p:sp>
        <p:nvSpPr>
          <p:cNvPr id="1048652" name="">
            <a:extLst xmlns:a="http://schemas.openxmlformats.org/drawingml/2006/main">
              <a:ext uri="{FF2B5EF4-FFF2-40B4-BE49-F238E27FC236}">
                <a16:creationId xmlns:a16="http://schemas.microsoft.com/office/drawing/2014/main" id="{977D0BFA-26E5-4DEB-81FB-64A3E638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716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Resume upload</a:t>
            </a:r>
          </a:p>
        </p:txBody>
      </p:sp>
      <p:sp>
        <p:nvSpPr>
          <p:cNvPr id="1048653" name="">
            <a:extLst xmlns:a="http://schemas.openxmlformats.org/drawingml/2006/main">
              <a:ext uri="{FF2B5EF4-FFF2-40B4-BE49-F238E27FC236}">
                <a16:creationId xmlns:a16="http://schemas.microsoft.com/office/drawing/2014/main" id="{28AD49D0-D808-4732-BBAD-DFBE15C1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71625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Validates PDF/DOCX and file size</a:t>
            </a:r>
          </a:p>
        </p:txBody>
      </p:sp>
      <p:sp>
        <p:nvSpPr>
          <p:cNvPr id="1048654" name="">
            <a:extLst xmlns:a="http://schemas.openxmlformats.org/drawingml/2006/main">
              <a:ext uri="{FF2B5EF4-FFF2-40B4-BE49-F238E27FC236}">
                <a16:creationId xmlns:a16="http://schemas.microsoft.com/office/drawing/2014/main" id="{240E64AA-83E2-4D58-8537-50362291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46BFD"/>
                </a:solidFill>
              </a:defRPr>
            </a:pPr>
            <a:r>
              <a:rPr sz="1950" b="1">
                <a:solidFill>
                  <a:srgbClr val="246BFD"/>
                </a:solidFill>
              </a:rPr>
              <a:t>2</a:t>
            </a:r>
          </a:p>
        </p:txBody>
      </p:sp>
      <p:sp>
        <p:nvSpPr>
          <p:cNvPr id="1048655" name="">
            <a:extLst xmlns:a="http://schemas.openxmlformats.org/drawingml/2006/main">
              <a:ext uri="{FF2B5EF4-FFF2-40B4-BE49-F238E27FC236}">
                <a16:creationId xmlns:a16="http://schemas.microsoft.com/office/drawing/2014/main" id="{6E1E60B3-5E51-4F59-A9EE-57F75CA0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574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6E5"/>
          </a:solidFill>
          <a:ln xmlns:a="http://schemas.openxmlformats.org/drawingml/2006/main" w="0">
            <a:solidFill>
              <a:srgbClr val="49C6E5"/>
            </a:solidFill>
            <a:prstDash val="solid"/>
          </a:ln>
        </p:spPr>
      </p:sp>
      <p:sp>
        <p:nvSpPr>
          <p:cNvPr id="1048656" name="">
            <a:extLst xmlns:a="http://schemas.openxmlformats.org/drawingml/2006/main">
              <a:ext uri="{FF2B5EF4-FFF2-40B4-BE49-F238E27FC236}">
                <a16:creationId xmlns:a16="http://schemas.microsoft.com/office/drawing/2014/main" id="{340EEA64-0F3F-4460-972C-CB8AF952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4479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Text extraction</a:t>
            </a:r>
          </a:p>
        </p:txBody>
      </p:sp>
      <p:sp>
        <p:nvSpPr>
          <p:cNvPr id="1048657" name="">
            <a:extLst xmlns:a="http://schemas.openxmlformats.org/drawingml/2006/main">
              <a:ext uri="{FF2B5EF4-FFF2-40B4-BE49-F238E27FC236}">
                <a16:creationId xmlns:a16="http://schemas.microsoft.com/office/drawing/2014/main" id="{894092EC-CE74-417E-9EB2-EE20721C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47925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Reads name, skills, education and experience</a:t>
            </a:r>
          </a:p>
        </p:txBody>
      </p:sp>
      <p:sp>
        <p:nvSpPr>
          <p:cNvPr id="1048658" name="">
            <a:extLst xmlns:a="http://schemas.openxmlformats.org/drawingml/2006/main">
              <a:ext uri="{FF2B5EF4-FFF2-40B4-BE49-F238E27FC236}">
                <a16:creationId xmlns:a16="http://schemas.microsoft.com/office/drawing/2014/main" id="{18889F72-C24F-4B2D-8BD3-234921DB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242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46BFD"/>
                </a:solidFill>
              </a:defRPr>
            </a:pPr>
            <a:r>
              <a:rPr sz="1950" b="1">
                <a:solidFill>
                  <a:srgbClr val="246BFD"/>
                </a:solidFill>
              </a:rPr>
              <a:t>3</a:t>
            </a:r>
          </a:p>
        </p:txBody>
      </p:sp>
      <p:sp>
        <p:nvSpPr>
          <p:cNvPr id="1048659" name="">
            <a:extLst xmlns:a="http://schemas.openxmlformats.org/drawingml/2006/main">
              <a:ext uri="{FF2B5EF4-FFF2-40B4-BE49-F238E27FC236}">
                <a16:creationId xmlns:a16="http://schemas.microsoft.com/office/drawing/2014/main" id="{DC1C14FE-CFE7-43A3-A665-490FACAA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337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6E5"/>
          </a:solidFill>
          <a:ln xmlns:a="http://schemas.openxmlformats.org/drawingml/2006/main" w="0">
            <a:solidFill>
              <a:srgbClr val="49C6E5"/>
            </a:solidFill>
            <a:prstDash val="solid"/>
          </a:ln>
        </p:spPr>
      </p:sp>
      <p:sp>
        <p:nvSpPr>
          <p:cNvPr id="1048660" name="">
            <a:extLst xmlns:a="http://schemas.openxmlformats.org/drawingml/2006/main">
              <a:ext uri="{FF2B5EF4-FFF2-40B4-BE49-F238E27FC236}">
                <a16:creationId xmlns:a16="http://schemas.microsoft.com/office/drawing/2014/main" id="{A765E6B9-4088-4FB4-AC9A-14E1D99C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242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Job analysis</a:t>
            </a:r>
          </a:p>
        </p:txBody>
      </p:sp>
      <p:sp>
        <p:nvSpPr>
          <p:cNvPr id="1048661" name="">
            <a:extLst xmlns:a="http://schemas.openxmlformats.org/drawingml/2006/main">
              <a:ext uri="{FF2B5EF4-FFF2-40B4-BE49-F238E27FC236}">
                <a16:creationId xmlns:a16="http://schemas.microsoft.com/office/drawing/2014/main" id="{8E1A1540-C506-4758-8E67-62A5D090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24225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Identifies required and preferred keywords</a:t>
            </a:r>
          </a:p>
        </p:txBody>
      </p:sp>
      <p:sp>
        <p:nvSpPr>
          <p:cNvPr id="1048662" name="">
            <a:extLst xmlns:a="http://schemas.openxmlformats.org/drawingml/2006/main">
              <a:ext uri="{FF2B5EF4-FFF2-40B4-BE49-F238E27FC236}">
                <a16:creationId xmlns:a16="http://schemas.microsoft.com/office/drawing/2014/main" id="{E2E26F2F-4A78-44FF-B750-A2122916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46BFD"/>
                </a:solidFill>
              </a:defRPr>
            </a:pPr>
            <a:r>
              <a:rPr sz="1950" b="1">
                <a:solidFill>
                  <a:srgbClr val="246BFD"/>
                </a:solidFill>
              </a:rPr>
              <a:t>4</a:t>
            </a:r>
          </a:p>
        </p:txBody>
      </p:sp>
      <p:sp>
        <p:nvSpPr>
          <p:cNvPr id="1048663" name="">
            <a:extLst xmlns:a="http://schemas.openxmlformats.org/drawingml/2006/main">
              <a:ext uri="{FF2B5EF4-FFF2-40B4-BE49-F238E27FC236}">
                <a16:creationId xmlns:a16="http://schemas.microsoft.com/office/drawing/2014/main" id="{6DBCB712-468B-470A-A76E-BB74D6B6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00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6E5"/>
          </a:solidFill>
          <a:ln xmlns:a="http://schemas.openxmlformats.org/drawingml/2006/main" w="0">
            <a:solidFill>
              <a:srgbClr val="49C6E5"/>
            </a:solidFill>
            <a:prstDash val="solid"/>
          </a:ln>
        </p:spPr>
      </p:sp>
      <p:sp>
        <p:nvSpPr>
          <p:cNvPr id="1048664" name="">
            <a:extLst xmlns:a="http://schemas.openxmlformats.org/drawingml/2006/main">
              <a:ext uri="{FF2B5EF4-FFF2-40B4-BE49-F238E27FC236}">
                <a16:creationId xmlns:a16="http://schemas.microsoft.com/office/drawing/2014/main" id="{0FE71B7A-D090-4B64-BC77-950733F4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2005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Matching engine</a:t>
            </a:r>
          </a:p>
        </p:txBody>
      </p:sp>
      <p:sp>
        <p:nvSpPr>
          <p:cNvPr id="1048665" name="">
            <a:extLst xmlns:a="http://schemas.openxmlformats.org/drawingml/2006/main">
              <a:ext uri="{FF2B5EF4-FFF2-40B4-BE49-F238E27FC236}">
                <a16:creationId xmlns:a16="http://schemas.microsoft.com/office/drawing/2014/main" id="{D14482DD-2C25-4FBC-89D0-7F7A1B87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200525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Calculates skill, education and experience scores</a:t>
            </a:r>
          </a:p>
        </p:txBody>
      </p:sp>
      <p:sp>
        <p:nvSpPr>
          <p:cNvPr id="1048666" name="">
            <a:extLst xmlns:a="http://schemas.openxmlformats.org/drawingml/2006/main">
              <a:ext uri="{FF2B5EF4-FFF2-40B4-BE49-F238E27FC236}">
                <a16:creationId xmlns:a16="http://schemas.microsoft.com/office/drawing/2014/main" id="{FB6185EC-E2BF-4DF4-8121-21DA0B4F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46BFD"/>
                </a:solidFill>
              </a:defRPr>
            </a:pPr>
            <a:r>
              <a:rPr sz="1950" b="1">
                <a:solidFill>
                  <a:srgbClr val="246BFD"/>
                </a:solidFill>
              </a:rPr>
              <a:t>5</a:t>
            </a:r>
          </a:p>
        </p:txBody>
      </p:sp>
      <p:sp>
        <p:nvSpPr>
          <p:cNvPr id="1048667" name="">
            <a:extLst xmlns:a="http://schemas.openxmlformats.org/drawingml/2006/main">
              <a:ext uri="{FF2B5EF4-FFF2-40B4-BE49-F238E27FC236}">
                <a16:creationId xmlns:a16="http://schemas.microsoft.com/office/drawing/2014/main" id="{313A21F1-7E6E-4D7E-94E3-C8020A70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863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6E5"/>
          </a:solidFill>
          <a:ln xmlns:a="http://schemas.openxmlformats.org/drawingml/2006/main" w="0">
            <a:solidFill>
              <a:srgbClr val="49C6E5"/>
            </a:solidFill>
            <a:prstDash val="solid"/>
          </a:ln>
        </p:spPr>
      </p:sp>
      <p:sp>
        <p:nvSpPr>
          <p:cNvPr id="1048668" name="">
            <a:extLst xmlns:a="http://schemas.openxmlformats.org/drawingml/2006/main">
              <a:ext uri="{FF2B5EF4-FFF2-40B4-BE49-F238E27FC236}">
                <a16:creationId xmlns:a16="http://schemas.microsoft.com/office/drawing/2014/main" id="{9B98C9B4-3E7E-4B1A-B201-B8FA0D3F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768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Review dashboard</a:t>
            </a:r>
          </a:p>
        </p:txBody>
      </p:sp>
      <p:sp>
        <p:nvSpPr>
          <p:cNvPr id="1048669" name="">
            <a:extLst xmlns:a="http://schemas.openxmlformats.org/drawingml/2006/main">
              <a:ext uri="{FF2B5EF4-FFF2-40B4-BE49-F238E27FC236}">
                <a16:creationId xmlns:a16="http://schemas.microsoft.com/office/drawing/2014/main" id="{28263D5C-4990-461B-9343-E107E3D7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76825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Shows ranking, evidence and recommendations</a:t>
            </a:r>
          </a:p>
        </p:txBody>
      </p:sp>
      <p:sp>
        <p:nvSpPr>
          <p:cNvPr id="1048670" name="">
            <a:extLst xmlns:a="http://schemas.openxmlformats.org/drawingml/2006/main">
              <a:ext uri="{FF2B5EF4-FFF2-40B4-BE49-F238E27FC236}">
                <a16:creationId xmlns:a16="http://schemas.microsoft.com/office/drawing/2014/main" id="{6345033F-FA7E-4E34-BE36-C75E6A62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664813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674" name="">
            <a:extLst xmlns:a="http://schemas.openxmlformats.org/drawingml/2006/main">
              <a:ext uri="{FF2B5EF4-FFF2-40B4-BE49-F238E27FC236}">
                <a16:creationId xmlns:a16="http://schemas.microsoft.com/office/drawing/2014/main" id="{35943C60-E4F0-48DE-8845-78835EB9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48675" name="">
            <a:extLst xmlns:a="http://schemas.openxmlformats.org/drawingml/2006/main">
              <a:ext uri="{FF2B5EF4-FFF2-40B4-BE49-F238E27FC236}">
                <a16:creationId xmlns:a16="http://schemas.microsoft.com/office/drawing/2014/main" id="{7CDCF819-2A01-49D0-9BA4-A7992E03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23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676" name="">
            <a:extLst xmlns:a="http://schemas.openxmlformats.org/drawingml/2006/main">
              <a:ext uri="{FF2B5EF4-FFF2-40B4-BE49-F238E27FC236}">
                <a16:creationId xmlns:a16="http://schemas.microsoft.com/office/drawing/2014/main" id="{5CF691C9-1407-430C-A5E7-BAADED80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1048677" name="">
            <a:extLst xmlns:a="http://schemas.openxmlformats.org/drawingml/2006/main">
              <a:ext uri="{FF2B5EF4-FFF2-40B4-BE49-F238E27FC236}">
                <a16:creationId xmlns:a16="http://schemas.microsoft.com/office/drawing/2014/main" id="{981CDDCB-5FC3-46F8-9E4A-09DDCFEC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System architecture separates interface, intelligence and storage</a:t>
            </a:r>
          </a:p>
        </p:txBody>
      </p:sp>
      <p:sp>
        <p:nvSpPr>
          <p:cNvPr id="1048678" name="">
            <a:extLst xmlns:a="http://schemas.openxmlformats.org/drawingml/2006/main">
              <a:ext uri="{FF2B5EF4-FFF2-40B4-BE49-F238E27FC236}">
                <a16:creationId xmlns:a16="http://schemas.microsoft.com/office/drawing/2014/main" id="{FB5F57F5-F26E-4B90-B9C3-547AAD62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1048679" name="">
            <a:extLst xmlns:a="http://schemas.openxmlformats.org/drawingml/2006/main">
              <a:ext uri="{FF2B5EF4-FFF2-40B4-BE49-F238E27FC236}">
                <a16:creationId xmlns:a16="http://schemas.microsoft.com/office/drawing/2014/main" id="{551F1CB8-897B-4959-A1CA-264553DF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19250"/>
            <a:ext cx="962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680" name="">
            <a:extLst xmlns:a="http://schemas.openxmlformats.org/drawingml/2006/main">
              <a:ext uri="{FF2B5EF4-FFF2-40B4-BE49-F238E27FC236}">
                <a16:creationId xmlns:a16="http://schemas.microsoft.com/office/drawing/2014/main" id="{571D76C8-5D13-4759-A5CC-6C3644B1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90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46BFD"/>
                </a:solidFill>
              </a:defRPr>
            </a:pPr>
            <a:r>
              <a:rPr sz="1425" b="1">
                <a:solidFill>
                  <a:srgbClr val="246BFD"/>
                </a:solidFill>
              </a:rPr>
              <a:t>USER INTERFACE</a:t>
            </a:r>
          </a:p>
        </p:txBody>
      </p:sp>
      <p:sp>
        <p:nvSpPr>
          <p:cNvPr id="1048681" name="">
            <a:extLst xmlns:a="http://schemas.openxmlformats.org/drawingml/2006/main">
              <a:ext uri="{FF2B5EF4-FFF2-40B4-BE49-F238E27FC236}">
                <a16:creationId xmlns:a16="http://schemas.microsoft.com/office/drawing/2014/main" id="{82E9E641-862B-4784-87D6-FE5A40AF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907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Upload resume • enter job description • view results</a:t>
            </a:r>
          </a:p>
        </p:txBody>
      </p:sp>
      <p:sp>
        <p:nvSpPr>
          <p:cNvPr id="1048682" name="">
            <a:extLst xmlns:a="http://schemas.openxmlformats.org/drawingml/2006/main">
              <a:ext uri="{FF2B5EF4-FFF2-40B4-BE49-F238E27FC236}">
                <a16:creationId xmlns:a16="http://schemas.microsoft.com/office/drawing/2014/main" id="{449811E6-82F0-44DB-B0FA-D3C52EE5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14625"/>
            <a:ext cx="962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683" name="">
            <a:extLst xmlns:a="http://schemas.openxmlformats.org/drawingml/2006/main">
              <a:ext uri="{FF2B5EF4-FFF2-40B4-BE49-F238E27FC236}">
                <a16:creationId xmlns:a16="http://schemas.microsoft.com/office/drawing/2014/main" id="{71921253-C23B-4661-A33E-B91EEAE6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860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46BFD"/>
                </a:solidFill>
              </a:defRPr>
            </a:pPr>
            <a:r>
              <a:rPr sz="1425" b="1">
                <a:solidFill>
                  <a:srgbClr val="246BFD"/>
                </a:solidFill>
              </a:rPr>
              <a:t>APPLICATION LAYER</a:t>
            </a:r>
          </a:p>
        </p:txBody>
      </p:sp>
      <p:sp>
        <p:nvSpPr>
          <p:cNvPr id="1048684" name="">
            <a:extLst xmlns:a="http://schemas.openxmlformats.org/drawingml/2006/main">
              <a:ext uri="{FF2B5EF4-FFF2-40B4-BE49-F238E27FC236}">
                <a16:creationId xmlns:a16="http://schemas.microsoft.com/office/drawing/2014/main" id="{2F6010BD-8E02-4665-B009-25B060F2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86075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Flask / Streamlit controls validation and workflow</a:t>
            </a:r>
          </a:p>
        </p:txBody>
      </p:sp>
      <p:sp>
        <p:nvSpPr>
          <p:cNvPr id="1048685" name="">
            <a:extLst xmlns:a="http://schemas.openxmlformats.org/drawingml/2006/main">
              <a:ext uri="{FF2B5EF4-FFF2-40B4-BE49-F238E27FC236}">
                <a16:creationId xmlns:a16="http://schemas.microsoft.com/office/drawing/2014/main" id="{ADAD90CE-995F-4CF4-9001-303D88EF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0000"/>
            <a:ext cx="962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686" name="">
            <a:extLst xmlns:a="http://schemas.openxmlformats.org/drawingml/2006/main">
              <a:ext uri="{FF2B5EF4-FFF2-40B4-BE49-F238E27FC236}">
                <a16:creationId xmlns:a16="http://schemas.microsoft.com/office/drawing/2014/main" id="{E82E9374-B4AA-4C23-9D93-1526156F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81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46BFD"/>
                </a:solidFill>
              </a:defRPr>
            </a:pPr>
            <a:r>
              <a:rPr sz="1425" b="1">
                <a:solidFill>
                  <a:srgbClr val="246BFD"/>
                </a:solidFill>
              </a:rPr>
              <a:t>AI &amp; NLP LAYER</a:t>
            </a:r>
          </a:p>
        </p:txBody>
      </p:sp>
      <p:sp>
        <p:nvSpPr>
          <p:cNvPr id="1048687" name="">
            <a:extLst xmlns:a="http://schemas.openxmlformats.org/drawingml/2006/main">
              <a:ext uri="{FF2B5EF4-FFF2-40B4-BE49-F238E27FC236}">
                <a16:creationId xmlns:a16="http://schemas.microsoft.com/office/drawing/2014/main" id="{BC75E3A4-97C2-4391-9D98-E197A083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8145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Text cleaning • skill extraction • similarity • scoring</a:t>
            </a:r>
          </a:p>
        </p:txBody>
      </p:sp>
      <p:sp>
        <p:nvSpPr>
          <p:cNvPr id="1048688" name="">
            <a:extLst xmlns:a="http://schemas.openxmlformats.org/drawingml/2006/main">
              <a:ext uri="{FF2B5EF4-FFF2-40B4-BE49-F238E27FC236}">
                <a16:creationId xmlns:a16="http://schemas.microsoft.com/office/drawing/2014/main" id="{54F1822D-A8D6-493F-B1FD-B3EF3D6E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05375"/>
            <a:ext cx="962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689" name="">
            <a:extLst xmlns:a="http://schemas.openxmlformats.org/drawingml/2006/main">
              <a:ext uri="{FF2B5EF4-FFF2-40B4-BE49-F238E27FC236}">
                <a16:creationId xmlns:a16="http://schemas.microsoft.com/office/drawing/2014/main" id="{2D06B48A-BB4F-40CC-9A3C-029B9FE5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768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46BFD"/>
                </a:solidFill>
              </a:defRPr>
            </a:pPr>
            <a:r>
              <a:rPr sz="1425" b="1">
                <a:solidFill>
                  <a:srgbClr val="246BFD"/>
                </a:solidFill>
              </a:rPr>
              <a:t>DATA LAYER</a:t>
            </a:r>
          </a:p>
        </p:txBody>
      </p:sp>
      <p:sp>
        <p:nvSpPr>
          <p:cNvPr id="1048690" name="">
            <a:extLst xmlns:a="http://schemas.openxmlformats.org/drawingml/2006/main">
              <a:ext uri="{FF2B5EF4-FFF2-40B4-BE49-F238E27FC236}">
                <a16:creationId xmlns:a16="http://schemas.microsoft.com/office/drawing/2014/main" id="{506FAD60-9D88-4634-8C89-97812128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76825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Resume files • job profiles • scores • audit log</a:t>
            </a:r>
          </a:p>
        </p:txBody>
      </p:sp>
      <p:sp>
        <p:nvSpPr>
          <p:cNvPr id="1048691" name="">
            <a:extLst xmlns:a="http://schemas.openxmlformats.org/drawingml/2006/main">
              <a:ext uri="{FF2B5EF4-FFF2-40B4-BE49-F238E27FC236}">
                <a16:creationId xmlns:a16="http://schemas.microsoft.com/office/drawing/2014/main" id="{16D9A963-DF8E-407E-8955-1FA4CBEE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782717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695" name="">
            <a:extLst xmlns:a="http://schemas.openxmlformats.org/drawingml/2006/main">
              <a:ext uri="{FF2B5EF4-FFF2-40B4-BE49-F238E27FC236}">
                <a16:creationId xmlns:a16="http://schemas.microsoft.com/office/drawing/2014/main" id="{3150EB9F-A2E6-478A-A10E-DCB0C650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48696" name="">
            <a:extLst xmlns:a="http://schemas.openxmlformats.org/drawingml/2006/main">
              <a:ext uri="{FF2B5EF4-FFF2-40B4-BE49-F238E27FC236}">
                <a16:creationId xmlns:a16="http://schemas.microsoft.com/office/drawing/2014/main" id="{BF484A08-6E95-489B-9AF1-D879B6D2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23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697" name="">
            <a:extLst xmlns:a="http://schemas.openxmlformats.org/drawingml/2006/main">
              <a:ext uri="{FF2B5EF4-FFF2-40B4-BE49-F238E27FC236}">
                <a16:creationId xmlns:a16="http://schemas.microsoft.com/office/drawing/2014/main" id="{93E8CF43-D92B-4C38-9F12-06883D51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1048698" name="">
            <a:extLst xmlns:a="http://schemas.openxmlformats.org/drawingml/2006/main">
              <a:ext uri="{FF2B5EF4-FFF2-40B4-BE49-F238E27FC236}">
                <a16:creationId xmlns:a16="http://schemas.microsoft.com/office/drawing/2014/main" id="{7E8C86B9-0F53-4200-8A5B-C08A1FA4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Matching combines multiple signals into one explainable score</a:t>
            </a:r>
          </a:p>
        </p:txBody>
      </p:sp>
      <p:sp>
        <p:nvSpPr>
          <p:cNvPr id="1048699" name="">
            <a:extLst xmlns:a="http://schemas.openxmlformats.org/drawingml/2006/main">
              <a:ext uri="{FF2B5EF4-FFF2-40B4-BE49-F238E27FC236}">
                <a16:creationId xmlns:a16="http://schemas.microsoft.com/office/drawing/2014/main" id="{6B39401D-A692-48D7-AD69-7020220E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1048700" name="">
            <a:extLst xmlns:a="http://schemas.openxmlformats.org/drawingml/2006/main">
              <a:ext uri="{FF2B5EF4-FFF2-40B4-BE49-F238E27FC236}">
                <a16:creationId xmlns:a16="http://schemas.microsoft.com/office/drawing/2014/main" id="{FCCC8C75-3697-453F-9782-6D333FB3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Overall score</a:t>
            </a:r>
          </a:p>
        </p:txBody>
      </p:sp>
      <p:sp>
        <p:nvSpPr>
          <p:cNvPr id="1048701" name="">
            <a:extLst xmlns:a="http://schemas.openxmlformats.org/drawingml/2006/main">
              <a:ext uri="{FF2B5EF4-FFF2-40B4-BE49-F238E27FC236}">
                <a16:creationId xmlns:a16="http://schemas.microsoft.com/office/drawing/2014/main" id="{53123A9C-8C6E-4FFC-898E-88C0C2C8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6687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46BFD"/>
                </a:solidFill>
              </a:defRPr>
            </a:pPr>
            <a:r>
              <a:rPr sz="2100" b="1">
                <a:solidFill>
                  <a:srgbClr val="246BFD"/>
                </a:solidFill>
              </a:rPr>
              <a:t>=</a:t>
            </a:r>
          </a:p>
        </p:txBody>
      </p:sp>
      <p:sp>
        <p:nvSpPr>
          <p:cNvPr id="1048702" name="">
            <a:extLst xmlns:a="http://schemas.openxmlformats.org/drawingml/2006/main">
              <a:ext uri="{FF2B5EF4-FFF2-40B4-BE49-F238E27FC236}">
                <a16:creationId xmlns:a16="http://schemas.microsoft.com/office/drawing/2014/main" id="{98012B25-117E-46B9-9AAC-6AA54F7A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24000"/>
            <a:ext cx="1524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703" name="">
            <a:extLst xmlns:a="http://schemas.openxmlformats.org/drawingml/2006/main">
              <a:ext uri="{FF2B5EF4-FFF2-40B4-BE49-F238E27FC236}">
                <a16:creationId xmlns:a16="http://schemas.microsoft.com/office/drawing/2014/main" id="{EBAE35B0-FE72-426B-A813-C764A196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954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Skill match</a:t>
            </a:r>
          </a:p>
        </p:txBody>
      </p:sp>
      <p:sp>
        <p:nvSpPr>
          <p:cNvPr id="1048704" name="">
            <a:extLst xmlns:a="http://schemas.openxmlformats.org/drawingml/2006/main">
              <a:ext uri="{FF2B5EF4-FFF2-40B4-BE49-F238E27FC236}">
                <a16:creationId xmlns:a16="http://schemas.microsoft.com/office/drawing/2014/main" id="{3B36C581-EB5C-4C86-977B-FFDC5A5D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97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46BFD"/>
                </a:solidFill>
              </a:defRPr>
            </a:pPr>
            <a:r>
              <a:rPr sz="1800" b="1">
                <a:solidFill>
                  <a:srgbClr val="246BFD"/>
                </a:solidFill>
              </a:rPr>
              <a:t>50%</a:t>
            </a:r>
          </a:p>
        </p:txBody>
      </p:sp>
      <p:sp>
        <p:nvSpPr>
          <p:cNvPr id="1048705" name="">
            <a:extLst xmlns:a="http://schemas.openxmlformats.org/drawingml/2006/main">
              <a:ext uri="{FF2B5EF4-FFF2-40B4-BE49-F238E27FC236}">
                <a16:creationId xmlns:a16="http://schemas.microsoft.com/office/drawing/2014/main" id="{B582C02A-D7CF-4588-898B-5D1104E0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24000"/>
            <a:ext cx="1524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706" name="">
            <a:extLst xmlns:a="http://schemas.openxmlformats.org/drawingml/2006/main">
              <a:ext uri="{FF2B5EF4-FFF2-40B4-BE49-F238E27FC236}">
                <a16:creationId xmlns:a16="http://schemas.microsoft.com/office/drawing/2014/main" id="{2188A19E-FB01-45EF-B44B-AF8DBD7C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954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Experience</a:t>
            </a:r>
          </a:p>
        </p:txBody>
      </p:sp>
      <p:sp>
        <p:nvSpPr>
          <p:cNvPr id="1048707" name="">
            <a:extLst xmlns:a="http://schemas.openxmlformats.org/drawingml/2006/main">
              <a:ext uri="{FF2B5EF4-FFF2-40B4-BE49-F238E27FC236}">
                <a16:creationId xmlns:a16="http://schemas.microsoft.com/office/drawing/2014/main" id="{5A223A28-B1AC-4909-A4D7-845BD60E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0097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46BFD"/>
                </a:solidFill>
              </a:defRPr>
            </a:pPr>
            <a:r>
              <a:rPr sz="1800" b="1">
                <a:solidFill>
                  <a:srgbClr val="246BFD"/>
                </a:solidFill>
              </a:rPr>
              <a:t>25%</a:t>
            </a:r>
          </a:p>
        </p:txBody>
      </p:sp>
      <p:sp>
        <p:nvSpPr>
          <p:cNvPr id="1048708" name="">
            <a:extLst xmlns:a="http://schemas.openxmlformats.org/drawingml/2006/main">
              <a:ext uri="{FF2B5EF4-FFF2-40B4-BE49-F238E27FC236}">
                <a16:creationId xmlns:a16="http://schemas.microsoft.com/office/drawing/2014/main" id="{04C9FB69-5247-4B8B-82E2-A1546E7D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24000"/>
            <a:ext cx="1524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709" name="">
            <a:extLst xmlns:a="http://schemas.openxmlformats.org/drawingml/2006/main">
              <a:ext uri="{FF2B5EF4-FFF2-40B4-BE49-F238E27FC236}">
                <a16:creationId xmlns:a16="http://schemas.microsoft.com/office/drawing/2014/main" id="{4669BA73-3DE9-447F-AA86-BCFDBC73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954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Education</a:t>
            </a:r>
          </a:p>
        </p:txBody>
      </p:sp>
      <p:sp>
        <p:nvSpPr>
          <p:cNvPr id="1048710" name="">
            <a:extLst xmlns:a="http://schemas.openxmlformats.org/drawingml/2006/main">
              <a:ext uri="{FF2B5EF4-FFF2-40B4-BE49-F238E27FC236}">
                <a16:creationId xmlns:a16="http://schemas.microsoft.com/office/drawing/2014/main" id="{F645B0C1-53FF-4AFE-9E6D-A4A57C09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097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46BFD"/>
                </a:solidFill>
              </a:defRPr>
            </a:pPr>
            <a:r>
              <a:rPr sz="1800" b="1">
                <a:solidFill>
                  <a:srgbClr val="246BFD"/>
                </a:solidFill>
              </a:rPr>
              <a:t>15%</a:t>
            </a:r>
          </a:p>
        </p:txBody>
      </p:sp>
      <p:sp>
        <p:nvSpPr>
          <p:cNvPr id="1048711" name="">
            <a:extLst xmlns:a="http://schemas.openxmlformats.org/drawingml/2006/main">
              <a:ext uri="{FF2B5EF4-FFF2-40B4-BE49-F238E27FC236}">
                <a16:creationId xmlns:a16="http://schemas.microsoft.com/office/drawing/2014/main" id="{D24607D4-FDDD-44C0-9CA2-938EBE87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524000"/>
            <a:ext cx="1524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712" name="">
            <a:extLst xmlns:a="http://schemas.openxmlformats.org/drawingml/2006/main">
              <a:ext uri="{FF2B5EF4-FFF2-40B4-BE49-F238E27FC236}">
                <a16:creationId xmlns:a16="http://schemas.microsoft.com/office/drawing/2014/main" id="{43614048-D67B-4973-B446-E41E785F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6954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Resume quality</a:t>
            </a:r>
          </a:p>
        </p:txBody>
      </p:sp>
      <p:sp>
        <p:nvSpPr>
          <p:cNvPr id="1048713" name="">
            <a:extLst xmlns:a="http://schemas.openxmlformats.org/drawingml/2006/main">
              <a:ext uri="{FF2B5EF4-FFF2-40B4-BE49-F238E27FC236}">
                <a16:creationId xmlns:a16="http://schemas.microsoft.com/office/drawing/2014/main" id="{ABF503AC-3873-497D-8B51-8BA71332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0097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46BFD"/>
                </a:solidFill>
              </a:defRPr>
            </a:pPr>
            <a:r>
              <a:rPr sz="1800" b="1">
                <a:solidFill>
                  <a:srgbClr val="246BFD"/>
                </a:solidFill>
              </a:rPr>
              <a:t>10%</a:t>
            </a:r>
          </a:p>
        </p:txBody>
      </p:sp>
      <p:sp>
        <p:nvSpPr>
          <p:cNvPr id="1048714" name="">
            <a:extLst xmlns:a="http://schemas.openxmlformats.org/drawingml/2006/main">
              <a:ext uri="{FF2B5EF4-FFF2-40B4-BE49-F238E27FC236}">
                <a16:creationId xmlns:a16="http://schemas.microsoft.com/office/drawing/2014/main" id="{7562D11C-6DFF-4B03-8D69-D4DABDF7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Example candidate calculation</a:t>
            </a:r>
          </a:p>
        </p:txBody>
      </p:sp>
      <p:sp>
        <p:nvSpPr>
          <p:cNvPr id="1048715" name="">
            <a:extLst xmlns:a="http://schemas.openxmlformats.org/drawingml/2006/main">
              <a:ext uri="{FF2B5EF4-FFF2-40B4-BE49-F238E27FC236}">
                <a16:creationId xmlns:a16="http://schemas.microsoft.com/office/drawing/2014/main" id="{85C10297-7781-4029-B071-BEC5C756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7334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1048716" name="">
            <a:extLst xmlns:a="http://schemas.openxmlformats.org/drawingml/2006/main">
              <a:ext uri="{FF2B5EF4-FFF2-40B4-BE49-F238E27FC236}">
                <a16:creationId xmlns:a16="http://schemas.microsoft.com/office/drawing/2014/main" id="{45506794-5821-4B43-B949-00CBCC57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Skills</a:t>
            </a:r>
          </a:p>
        </p:txBody>
      </p:sp>
      <p:sp>
        <p:nvSpPr>
          <p:cNvPr id="1048717" name="">
            <a:extLst xmlns:a="http://schemas.openxmlformats.org/drawingml/2006/main">
              <a:ext uri="{FF2B5EF4-FFF2-40B4-BE49-F238E27FC236}">
                <a16:creationId xmlns:a16="http://schemas.microsoft.com/office/drawing/2014/main" id="{47A54C59-FE84-4BA2-B0D3-14E14BAB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86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80 × 0.50</a:t>
            </a:r>
          </a:p>
        </p:txBody>
      </p:sp>
      <p:sp>
        <p:nvSpPr>
          <p:cNvPr id="1048718" name="">
            <a:extLst xmlns:a="http://schemas.openxmlformats.org/drawingml/2006/main">
              <a:ext uri="{FF2B5EF4-FFF2-40B4-BE49-F238E27FC236}">
                <a16:creationId xmlns:a16="http://schemas.microsoft.com/office/drawing/2014/main" id="{9FFEC8C5-2578-4B14-99B9-D0034E68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861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246BFD"/>
                </a:solidFill>
              </a:defRPr>
            </a:pPr>
            <a:r>
              <a:rPr sz="1350" b="1">
                <a:solidFill>
                  <a:srgbClr val="246BFD"/>
                </a:solidFill>
              </a:rPr>
              <a:t>40.0</a:t>
            </a:r>
          </a:p>
        </p:txBody>
      </p:sp>
      <p:sp>
        <p:nvSpPr>
          <p:cNvPr id="1048719" name="">
            <a:extLst xmlns:a="http://schemas.openxmlformats.org/drawingml/2006/main">
              <a:ext uri="{FF2B5EF4-FFF2-40B4-BE49-F238E27FC236}">
                <a16:creationId xmlns:a16="http://schemas.microsoft.com/office/drawing/2014/main" id="{D491AAC1-347F-43CC-B5D6-8820CC8F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002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Experience</a:t>
            </a:r>
          </a:p>
        </p:txBody>
      </p:sp>
      <p:sp>
        <p:nvSpPr>
          <p:cNvPr id="1048720" name="">
            <a:extLst xmlns:a="http://schemas.openxmlformats.org/drawingml/2006/main">
              <a:ext uri="{FF2B5EF4-FFF2-40B4-BE49-F238E27FC236}">
                <a16:creationId xmlns:a16="http://schemas.microsoft.com/office/drawing/2014/main" id="{7007D3B0-C640-4BFE-98D1-C57F7C03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100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70 × 0.25</a:t>
            </a:r>
          </a:p>
        </p:txBody>
      </p:sp>
      <p:sp>
        <p:nvSpPr>
          <p:cNvPr id="1048721" name="">
            <a:extLst xmlns:a="http://schemas.openxmlformats.org/drawingml/2006/main">
              <a:ext uri="{FF2B5EF4-FFF2-40B4-BE49-F238E27FC236}">
                <a16:creationId xmlns:a16="http://schemas.microsoft.com/office/drawing/2014/main" id="{8A079F9A-6D51-478C-B6CB-81B9F219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002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246BFD"/>
                </a:solidFill>
              </a:defRPr>
            </a:pPr>
            <a:r>
              <a:rPr sz="1350" b="1">
                <a:solidFill>
                  <a:srgbClr val="246BFD"/>
                </a:solidFill>
              </a:rPr>
              <a:t>17.5</a:t>
            </a:r>
          </a:p>
        </p:txBody>
      </p:sp>
      <p:sp>
        <p:nvSpPr>
          <p:cNvPr id="1048722" name="">
            <a:extLst xmlns:a="http://schemas.openxmlformats.org/drawingml/2006/main">
              <a:ext uri="{FF2B5EF4-FFF2-40B4-BE49-F238E27FC236}">
                <a16:creationId xmlns:a16="http://schemas.microsoft.com/office/drawing/2014/main" id="{81227FA0-E0AB-4F0D-8CC9-73D6D2F7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7334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1048723" name="">
            <a:extLst xmlns:a="http://schemas.openxmlformats.org/drawingml/2006/main">
              <a:ext uri="{FF2B5EF4-FFF2-40B4-BE49-F238E27FC236}">
                <a16:creationId xmlns:a16="http://schemas.microsoft.com/office/drawing/2014/main" id="{45BA7A63-7DF0-44D7-93DD-69C8FB7C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Education</a:t>
            </a:r>
          </a:p>
        </p:txBody>
      </p:sp>
      <p:sp>
        <p:nvSpPr>
          <p:cNvPr id="1048724" name="">
            <a:extLst xmlns:a="http://schemas.openxmlformats.org/drawingml/2006/main">
              <a:ext uri="{FF2B5EF4-FFF2-40B4-BE49-F238E27FC236}">
                <a16:creationId xmlns:a16="http://schemas.microsoft.com/office/drawing/2014/main" id="{89CCD4B4-4BA3-458D-AAE8-25C12A26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339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90 × 0.15</a:t>
            </a:r>
          </a:p>
        </p:txBody>
      </p:sp>
      <p:sp>
        <p:nvSpPr>
          <p:cNvPr id="1048725" name="">
            <a:extLst xmlns:a="http://schemas.openxmlformats.org/drawingml/2006/main">
              <a:ext uri="{FF2B5EF4-FFF2-40B4-BE49-F238E27FC236}">
                <a16:creationId xmlns:a16="http://schemas.microsoft.com/office/drawing/2014/main" id="{4306EE9A-FFDC-4011-BD8B-040F75DF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339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246BFD"/>
                </a:solidFill>
              </a:defRPr>
            </a:pPr>
            <a:r>
              <a:rPr sz="1350" b="1">
                <a:solidFill>
                  <a:srgbClr val="246BFD"/>
                </a:solidFill>
              </a:rPr>
              <a:t>13.5</a:t>
            </a:r>
          </a:p>
        </p:txBody>
      </p:sp>
      <p:sp>
        <p:nvSpPr>
          <p:cNvPr id="1048726" name="">
            <a:extLst xmlns:a="http://schemas.openxmlformats.org/drawingml/2006/main">
              <a:ext uri="{FF2B5EF4-FFF2-40B4-BE49-F238E27FC236}">
                <a16:creationId xmlns:a16="http://schemas.microsoft.com/office/drawing/2014/main" id="{AF933551-996E-4FAE-A8EA-F39DDF55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Quality</a:t>
            </a:r>
          </a:p>
        </p:txBody>
      </p:sp>
      <p:sp>
        <p:nvSpPr>
          <p:cNvPr id="1048727" name="">
            <a:extLst xmlns:a="http://schemas.openxmlformats.org/drawingml/2006/main">
              <a:ext uri="{FF2B5EF4-FFF2-40B4-BE49-F238E27FC236}">
                <a16:creationId xmlns:a16="http://schemas.microsoft.com/office/drawing/2014/main" id="{DA4DB1D3-DDC2-4A79-81C1-8ACBA7D0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577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75 × 0.10</a:t>
            </a:r>
          </a:p>
        </p:txBody>
      </p:sp>
      <p:sp>
        <p:nvSpPr>
          <p:cNvPr id="1048728" name="">
            <a:extLst xmlns:a="http://schemas.openxmlformats.org/drawingml/2006/main">
              <a:ext uri="{FF2B5EF4-FFF2-40B4-BE49-F238E27FC236}">
                <a16:creationId xmlns:a16="http://schemas.microsoft.com/office/drawing/2014/main" id="{3681CF7F-982F-439C-B50B-B4CD8A06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577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246BFD"/>
                </a:solidFill>
              </a:defRPr>
            </a:pPr>
            <a:r>
              <a:rPr sz="1350" b="1">
                <a:solidFill>
                  <a:srgbClr val="246BFD"/>
                </a:solidFill>
              </a:rPr>
              <a:t>7.5</a:t>
            </a:r>
          </a:p>
        </p:txBody>
      </p:sp>
      <p:sp>
        <p:nvSpPr>
          <p:cNvPr id="1048729" name="">
            <a:extLst xmlns:a="http://schemas.openxmlformats.org/drawingml/2006/main">
              <a:ext uri="{FF2B5EF4-FFF2-40B4-BE49-F238E27FC236}">
                <a16:creationId xmlns:a16="http://schemas.microsoft.com/office/drawing/2014/main" id="{12668165-71B3-498F-8313-64B3AD89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48730" name="">
            <a:extLst xmlns:a="http://schemas.openxmlformats.org/drawingml/2006/main">
              <a:ext uri="{FF2B5EF4-FFF2-40B4-BE49-F238E27FC236}">
                <a16:creationId xmlns:a16="http://schemas.microsoft.com/office/drawing/2014/main" id="{AF73D27C-4618-499F-93EE-4E2E16F5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9C6E5"/>
                </a:solidFill>
              </a:defRPr>
            </a:pPr>
            <a:r>
              <a:rPr sz="1350" b="1">
                <a:solidFill>
                  <a:srgbClr val="49C6E5"/>
                </a:solidFill>
              </a:rPr>
              <a:t>FINAL SCORE</a:t>
            </a:r>
          </a:p>
        </p:txBody>
      </p:sp>
      <p:sp>
        <p:nvSpPr>
          <p:cNvPr id="1048731" name="">
            <a:extLst xmlns:a="http://schemas.openxmlformats.org/drawingml/2006/main">
              <a:ext uri="{FF2B5EF4-FFF2-40B4-BE49-F238E27FC236}">
                <a16:creationId xmlns:a16="http://schemas.microsoft.com/office/drawing/2014/main" id="{FBDD1E32-D0AD-4973-BCAD-197A45CA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200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78.5</a:t>
            </a:r>
          </a:p>
        </p:txBody>
      </p:sp>
      <p:sp>
        <p:nvSpPr>
          <p:cNvPr id="1048732" name="">
            <a:extLst xmlns:a="http://schemas.openxmlformats.org/drawingml/2006/main">
              <a:ext uri="{FF2B5EF4-FFF2-40B4-BE49-F238E27FC236}">
                <a16:creationId xmlns:a16="http://schemas.microsoft.com/office/drawing/2014/main" id="{B5280368-5240-4107-A94E-E85AEADE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Potential Match</a:t>
            </a:r>
          </a:p>
        </p:txBody>
      </p:sp>
      <p:sp>
        <p:nvSpPr>
          <p:cNvPr id="1048733" name="">
            <a:extLst xmlns:a="http://schemas.openxmlformats.org/drawingml/2006/main">
              <a:ext uri="{FF2B5EF4-FFF2-40B4-BE49-F238E27FC236}">
                <a16:creationId xmlns:a16="http://schemas.microsoft.com/office/drawing/2014/main" id="{8EC3EF0F-9C35-4FCB-AC28-A80473C0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513636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737" name="">
            <a:extLst xmlns:a="http://schemas.openxmlformats.org/drawingml/2006/main">
              <a:ext uri="{FF2B5EF4-FFF2-40B4-BE49-F238E27FC236}">
                <a16:creationId xmlns:a16="http://schemas.microsoft.com/office/drawing/2014/main" id="{CEBA3F69-0FB1-4F7E-AC48-8E9C2C7C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48738" name="">
            <a:extLst xmlns:a="http://schemas.openxmlformats.org/drawingml/2006/main">
              <a:ext uri="{FF2B5EF4-FFF2-40B4-BE49-F238E27FC236}">
                <a16:creationId xmlns:a16="http://schemas.microsoft.com/office/drawing/2014/main" id="{E4BE4D6A-49B7-41AF-A7DB-F3E13492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23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739" name="">
            <a:extLst xmlns:a="http://schemas.openxmlformats.org/drawingml/2006/main">
              <a:ext uri="{FF2B5EF4-FFF2-40B4-BE49-F238E27FC236}">
                <a16:creationId xmlns:a16="http://schemas.microsoft.com/office/drawing/2014/main" id="{FADE86CB-17DF-470A-96D7-CABA45B2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1048740" name="">
            <a:extLst xmlns:a="http://schemas.openxmlformats.org/drawingml/2006/main">
              <a:ext uri="{FF2B5EF4-FFF2-40B4-BE49-F238E27FC236}">
                <a16:creationId xmlns:a16="http://schemas.microsoft.com/office/drawing/2014/main" id="{1D4DDE32-24C5-4D01-AE06-63A435A4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Advantages and disadvantages must be considered together</a:t>
            </a:r>
          </a:p>
        </p:txBody>
      </p:sp>
      <p:sp>
        <p:nvSpPr>
          <p:cNvPr id="1048741" name="">
            <a:extLst xmlns:a="http://schemas.openxmlformats.org/drawingml/2006/main">
              <a:ext uri="{FF2B5EF4-FFF2-40B4-BE49-F238E27FC236}">
                <a16:creationId xmlns:a16="http://schemas.microsoft.com/office/drawing/2014/main" id="{6E7C3C08-ED5D-4E55-A111-43A2004A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1048742" name="">
            <a:extLst xmlns:a="http://schemas.openxmlformats.org/drawingml/2006/main">
              <a:ext uri="{FF2B5EF4-FFF2-40B4-BE49-F238E27FC236}">
                <a16:creationId xmlns:a16="http://schemas.microsoft.com/office/drawing/2014/main" id="{9128E309-8AFD-4CEE-8A9C-A82E9C85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095875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8AD6B7"/>
            </a:solidFill>
            <a:prstDash val="solid"/>
          </a:ln>
        </p:spPr>
      </p:sp>
      <p:sp>
        <p:nvSpPr>
          <p:cNvPr id="1048743" name="">
            <a:extLst xmlns:a="http://schemas.openxmlformats.org/drawingml/2006/main">
              <a:ext uri="{FF2B5EF4-FFF2-40B4-BE49-F238E27FC236}">
                <a16:creationId xmlns:a16="http://schemas.microsoft.com/office/drawing/2014/main" id="{82FD21D5-B8D5-45A1-9DEF-BAEDADB4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288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6A36A"/>
                </a:solidFill>
              </a:defRPr>
            </a:pPr>
            <a:r>
              <a:rPr sz="1875" b="1">
                <a:solidFill>
                  <a:srgbClr val="16A36A"/>
                </a:solidFill>
              </a:rPr>
              <a:t>ADVANTAGES</a:t>
            </a:r>
          </a:p>
        </p:txBody>
      </p:sp>
      <p:sp>
        <p:nvSpPr>
          <p:cNvPr id="1048744" name="">
            <a:extLst xmlns:a="http://schemas.openxmlformats.org/drawingml/2006/main">
              <a:ext uri="{FF2B5EF4-FFF2-40B4-BE49-F238E27FC236}">
                <a16:creationId xmlns:a16="http://schemas.microsoft.com/office/drawing/2014/main" id="{0C7D39CF-6C36-40D7-9FBE-E4F87FA8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14575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D6B7"/>
          </a:solidFill>
          <a:ln xmlns:a="http://schemas.openxmlformats.org/drawingml/2006/main" w="0">
            <a:solidFill>
              <a:srgbClr val="8AD6B7"/>
            </a:solidFill>
            <a:prstDash val="solid"/>
          </a:ln>
        </p:spPr>
      </p:sp>
      <p:sp>
        <p:nvSpPr>
          <p:cNvPr id="1048745" name="">
            <a:extLst xmlns:a="http://schemas.openxmlformats.org/drawingml/2006/main">
              <a:ext uri="{FF2B5EF4-FFF2-40B4-BE49-F238E27FC236}">
                <a16:creationId xmlns:a16="http://schemas.microsoft.com/office/drawing/2014/main" id="{6A48F88B-4A33-4138-B138-93A2F67C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746" name="">
            <a:extLst xmlns:a="http://schemas.openxmlformats.org/drawingml/2006/main">
              <a:ext uri="{FF2B5EF4-FFF2-40B4-BE49-F238E27FC236}">
                <a16:creationId xmlns:a16="http://schemas.microsoft.com/office/drawing/2014/main" id="{48666DDA-20C6-4314-9475-2BCC8834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619375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Screens large resume sets quickly</a:t>
            </a:r>
          </a:p>
        </p:txBody>
      </p:sp>
      <p:sp>
        <p:nvSpPr>
          <p:cNvPr id="1048747" name="">
            <a:extLst xmlns:a="http://schemas.openxmlformats.org/drawingml/2006/main">
              <a:ext uri="{FF2B5EF4-FFF2-40B4-BE49-F238E27FC236}">
                <a16:creationId xmlns:a16="http://schemas.microsoft.com/office/drawing/2014/main" id="{600DB8F6-7758-4789-8025-E4615AC1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748" name="">
            <a:extLst xmlns:a="http://schemas.openxmlformats.org/drawingml/2006/main">
              <a:ext uri="{FF2B5EF4-FFF2-40B4-BE49-F238E27FC236}">
                <a16:creationId xmlns:a16="http://schemas.microsoft.com/office/drawing/2014/main" id="{834D8E1F-E397-4F1D-9AFE-B0882404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171825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Applies the same defined scoring rules</a:t>
            </a:r>
          </a:p>
        </p:txBody>
      </p:sp>
      <p:sp>
        <p:nvSpPr>
          <p:cNvPr id="1048749" name="">
            <a:extLst xmlns:a="http://schemas.openxmlformats.org/drawingml/2006/main">
              <a:ext uri="{FF2B5EF4-FFF2-40B4-BE49-F238E27FC236}">
                <a16:creationId xmlns:a16="http://schemas.microsoft.com/office/drawing/2014/main" id="{D3DB8851-14E0-4AB8-ACAF-98AAA926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750" name="">
            <a:extLst xmlns:a="http://schemas.openxmlformats.org/drawingml/2006/main">
              <a:ext uri="{FF2B5EF4-FFF2-40B4-BE49-F238E27FC236}">
                <a16:creationId xmlns:a16="http://schemas.microsoft.com/office/drawing/2014/main" id="{B02BD1D5-DF2B-4A4D-AD4E-FA0737A7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724275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Highlights matching and missing skills</a:t>
            </a:r>
          </a:p>
        </p:txBody>
      </p:sp>
      <p:sp>
        <p:nvSpPr>
          <p:cNvPr id="1048751" name="">
            <a:extLst xmlns:a="http://schemas.openxmlformats.org/drawingml/2006/main">
              <a:ext uri="{FF2B5EF4-FFF2-40B4-BE49-F238E27FC236}">
                <a16:creationId xmlns:a16="http://schemas.microsoft.com/office/drawing/2014/main" id="{86F56847-98B3-48B5-A369-2EEB665A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752" name="">
            <a:extLst xmlns:a="http://schemas.openxmlformats.org/drawingml/2006/main">
              <a:ext uri="{FF2B5EF4-FFF2-40B4-BE49-F238E27FC236}">
                <a16:creationId xmlns:a16="http://schemas.microsoft.com/office/drawing/2014/main" id="{E187171A-6E57-4397-B636-44DD144A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276725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Produces a clear ranking with evidence</a:t>
            </a:r>
          </a:p>
        </p:txBody>
      </p:sp>
      <p:sp>
        <p:nvSpPr>
          <p:cNvPr id="1048753" name="">
            <a:extLst xmlns:a="http://schemas.openxmlformats.org/drawingml/2006/main">
              <a:ext uri="{FF2B5EF4-FFF2-40B4-BE49-F238E27FC236}">
                <a16:creationId xmlns:a16="http://schemas.microsoft.com/office/drawing/2014/main" id="{C9EDAC38-A232-4D42-AE22-2939F48D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754" name="">
            <a:extLst xmlns:a="http://schemas.openxmlformats.org/drawingml/2006/main">
              <a:ext uri="{FF2B5EF4-FFF2-40B4-BE49-F238E27FC236}">
                <a16:creationId xmlns:a16="http://schemas.microsoft.com/office/drawing/2014/main" id="{FA910F67-4771-44B5-9C49-0C3E54FE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829175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Reduces repetitive work for recruiters</a:t>
            </a:r>
          </a:p>
        </p:txBody>
      </p:sp>
      <p:sp>
        <p:nvSpPr>
          <p:cNvPr id="1048755" name="">
            <a:extLst xmlns:a="http://schemas.openxmlformats.org/drawingml/2006/main">
              <a:ext uri="{FF2B5EF4-FFF2-40B4-BE49-F238E27FC236}">
                <a16:creationId xmlns:a16="http://schemas.microsoft.com/office/drawing/2014/main" id="{AEF49FEC-64F4-4A7D-BE84-48BF1712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5095875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3F1"/>
          </a:solidFill>
          <a:ln xmlns:a="http://schemas.openxmlformats.org/drawingml/2006/main" w="9525">
            <a:solidFill>
              <a:srgbClr val="F2AAA2"/>
            </a:solidFill>
            <a:prstDash val="solid"/>
          </a:ln>
        </p:spPr>
      </p:sp>
      <p:sp>
        <p:nvSpPr>
          <p:cNvPr id="1048756" name="">
            <a:extLst xmlns:a="http://schemas.openxmlformats.org/drawingml/2006/main">
              <a:ext uri="{FF2B5EF4-FFF2-40B4-BE49-F238E27FC236}">
                <a16:creationId xmlns:a16="http://schemas.microsoft.com/office/drawing/2014/main" id="{08778841-CA4D-48E4-A9AA-13F769C6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288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0392B"/>
                </a:solidFill>
              </a:defRPr>
            </a:pPr>
            <a:r>
              <a:rPr sz="1875" b="1">
                <a:solidFill>
                  <a:srgbClr val="C0392B"/>
                </a:solidFill>
              </a:rPr>
              <a:t>DISADVANTAGES</a:t>
            </a:r>
          </a:p>
        </p:txBody>
      </p:sp>
      <p:sp>
        <p:nvSpPr>
          <p:cNvPr id="1048757" name="">
            <a:extLst xmlns:a="http://schemas.openxmlformats.org/drawingml/2006/main">
              <a:ext uri="{FF2B5EF4-FFF2-40B4-BE49-F238E27FC236}">
                <a16:creationId xmlns:a16="http://schemas.microsoft.com/office/drawing/2014/main" id="{4DC2B6CC-CDD5-4601-A1F6-C87649C3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14575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AA2"/>
          </a:solidFill>
          <a:ln xmlns:a="http://schemas.openxmlformats.org/drawingml/2006/main" w="0">
            <a:solidFill>
              <a:srgbClr val="F2AAA2"/>
            </a:solidFill>
            <a:prstDash val="solid"/>
          </a:ln>
        </p:spPr>
      </p:sp>
      <p:sp>
        <p:nvSpPr>
          <p:cNvPr id="1048758" name="">
            <a:extLst xmlns:a="http://schemas.openxmlformats.org/drawingml/2006/main">
              <a:ext uri="{FF2B5EF4-FFF2-40B4-BE49-F238E27FC236}">
                <a16:creationId xmlns:a16="http://schemas.microsoft.com/office/drawing/2014/main" id="{2FF9E0D1-3A7C-4D4E-9773-B575CED6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759" name="">
            <a:extLst xmlns:a="http://schemas.openxmlformats.org/drawingml/2006/main">
              <a:ext uri="{FF2B5EF4-FFF2-40B4-BE49-F238E27FC236}">
                <a16:creationId xmlns:a16="http://schemas.microsoft.com/office/drawing/2014/main" id="{AA476CB0-0CA8-4ED1-AACA-2FBAA757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19375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May miss skills written in unusual language</a:t>
            </a:r>
          </a:p>
        </p:txBody>
      </p:sp>
      <p:sp>
        <p:nvSpPr>
          <p:cNvPr id="1048760" name="">
            <a:extLst xmlns:a="http://schemas.openxmlformats.org/drawingml/2006/main">
              <a:ext uri="{FF2B5EF4-FFF2-40B4-BE49-F238E27FC236}">
                <a16:creationId xmlns:a16="http://schemas.microsoft.com/office/drawing/2014/main" id="{362D8777-D62F-4C21-B065-4D4372CA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761" name="">
            <a:extLst xmlns:a="http://schemas.openxmlformats.org/drawingml/2006/main">
              <a:ext uri="{FF2B5EF4-FFF2-40B4-BE49-F238E27FC236}">
                <a16:creationId xmlns:a16="http://schemas.microsoft.com/office/drawing/2014/main" id="{185376BA-515F-4A19-B801-EA187334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71825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Can repeat bias in data or chosen weights</a:t>
            </a:r>
          </a:p>
        </p:txBody>
      </p:sp>
      <p:sp>
        <p:nvSpPr>
          <p:cNvPr id="1048762" name="">
            <a:extLst xmlns:a="http://schemas.openxmlformats.org/drawingml/2006/main">
              <a:ext uri="{FF2B5EF4-FFF2-40B4-BE49-F238E27FC236}">
                <a16:creationId xmlns:a16="http://schemas.microsoft.com/office/drawing/2014/main" id="{D30FDC91-B8E3-43AB-B51B-57BF1E77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763" name="">
            <a:extLst xmlns:a="http://schemas.openxmlformats.org/drawingml/2006/main">
              <a:ext uri="{FF2B5EF4-FFF2-40B4-BE49-F238E27FC236}">
                <a16:creationId xmlns:a16="http://schemas.microsoft.com/office/drawing/2014/main" id="{201F97FA-D40E-45E1-A956-792FDDBE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24275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Keyword matching cannot judge true ability</a:t>
            </a:r>
          </a:p>
        </p:txBody>
      </p:sp>
      <p:sp>
        <p:nvSpPr>
          <p:cNvPr id="1048764" name="">
            <a:extLst xmlns:a="http://schemas.openxmlformats.org/drawingml/2006/main">
              <a:ext uri="{FF2B5EF4-FFF2-40B4-BE49-F238E27FC236}">
                <a16:creationId xmlns:a16="http://schemas.microsoft.com/office/drawing/2014/main" id="{EE58E12A-AC4E-4439-9CF3-799E1634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765" name="">
            <a:extLst xmlns:a="http://schemas.openxmlformats.org/drawingml/2006/main">
              <a:ext uri="{FF2B5EF4-FFF2-40B4-BE49-F238E27FC236}">
                <a16:creationId xmlns:a16="http://schemas.microsoft.com/office/drawing/2014/main" id="{E04F2691-5F2B-4D10-B3E7-F60333E4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76725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Personal data creates privacy risks</a:t>
            </a:r>
          </a:p>
        </p:txBody>
      </p:sp>
      <p:sp>
        <p:nvSpPr>
          <p:cNvPr id="1048766" name="">
            <a:extLst xmlns:a="http://schemas.openxmlformats.org/drawingml/2006/main">
              <a:ext uri="{FF2B5EF4-FFF2-40B4-BE49-F238E27FC236}">
                <a16:creationId xmlns:a16="http://schemas.microsoft.com/office/drawing/2014/main" id="{936B277B-84B6-4811-ABE9-4317CC69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95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767" name="">
            <a:extLst xmlns:a="http://schemas.openxmlformats.org/drawingml/2006/main">
              <a:ext uri="{FF2B5EF4-FFF2-40B4-BE49-F238E27FC236}">
                <a16:creationId xmlns:a16="http://schemas.microsoft.com/office/drawing/2014/main" id="{AB367A4A-3B47-42C4-9EDB-0BE20756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29175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Needs human review, testing and updates</a:t>
            </a:r>
          </a:p>
        </p:txBody>
      </p:sp>
      <p:sp>
        <p:nvSpPr>
          <p:cNvPr id="1048768" name="">
            <a:extLst xmlns:a="http://schemas.openxmlformats.org/drawingml/2006/main">
              <a:ext uri="{FF2B5EF4-FFF2-40B4-BE49-F238E27FC236}">
                <a16:creationId xmlns:a16="http://schemas.microsoft.com/office/drawing/2014/main" id="{83DF9FCF-9DAD-4F36-86FD-4EAA3D64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53125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Best practice: use AI for decision support, never as the only decision-maker.</a:t>
            </a:r>
          </a:p>
        </p:txBody>
      </p:sp>
      <p:sp>
        <p:nvSpPr>
          <p:cNvPr id="1048769" name="">
            <a:extLst xmlns:a="http://schemas.openxmlformats.org/drawingml/2006/main">
              <a:ext uri="{FF2B5EF4-FFF2-40B4-BE49-F238E27FC236}">
                <a16:creationId xmlns:a16="http://schemas.microsoft.com/office/drawing/2014/main" id="{509EE02A-47AF-42A0-9C58-52849484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833022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773" name="">
            <a:extLst xmlns:a="http://schemas.openxmlformats.org/drawingml/2006/main">
              <a:ext uri="{FF2B5EF4-FFF2-40B4-BE49-F238E27FC236}">
                <a16:creationId xmlns:a16="http://schemas.microsoft.com/office/drawing/2014/main" id="{6282B4EE-7A20-41E7-A735-99B50989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48774" name="">
            <a:extLst xmlns:a="http://schemas.openxmlformats.org/drawingml/2006/main">
              <a:ext uri="{FF2B5EF4-FFF2-40B4-BE49-F238E27FC236}">
                <a16:creationId xmlns:a16="http://schemas.microsoft.com/office/drawing/2014/main" id="{BC06D35A-00D4-41B7-9B53-EFE2DF1C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23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775" name="">
            <a:extLst xmlns:a="http://schemas.openxmlformats.org/drawingml/2006/main">
              <a:ext uri="{FF2B5EF4-FFF2-40B4-BE49-F238E27FC236}">
                <a16:creationId xmlns:a16="http://schemas.microsoft.com/office/drawing/2014/main" id="{2BB62AD5-6231-4816-BB17-29C22DCC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1048776" name="">
            <a:extLst xmlns:a="http://schemas.openxmlformats.org/drawingml/2006/main">
              <a:ext uri="{FF2B5EF4-FFF2-40B4-BE49-F238E27FC236}">
                <a16:creationId xmlns:a16="http://schemas.microsoft.com/office/drawing/2014/main" id="{6A48447C-BEFD-4425-A7FC-B1FEC34D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Python extracts and cleans text before analysis</a:t>
            </a:r>
          </a:p>
        </p:txBody>
      </p:sp>
      <p:sp>
        <p:nvSpPr>
          <p:cNvPr id="1048777" name="">
            <a:extLst xmlns:a="http://schemas.openxmlformats.org/drawingml/2006/main">
              <a:ext uri="{FF2B5EF4-FFF2-40B4-BE49-F238E27FC236}">
                <a16:creationId xmlns:a16="http://schemas.microsoft.com/office/drawing/2014/main" id="{CDD5BD9A-B471-45AF-9CF5-5A632A06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1048778" name="">
            <a:extLst xmlns:a="http://schemas.openxmlformats.org/drawingml/2006/main">
              <a:ext uri="{FF2B5EF4-FFF2-40B4-BE49-F238E27FC236}">
                <a16:creationId xmlns:a16="http://schemas.microsoft.com/office/drawing/2014/main" id="{A3D0C432-6032-4345-B542-87055E76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6667500" cy="4238625"/>
          </a:xfrm>
          <a:prstGeom xmlns:a="http://schemas.openxmlformats.org/drawingml/2006/main" prst="roundRect">
            <a:avLst>
              <a:gd name="adj" fmla="val 269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48779" name="">
            <a:extLst xmlns:a="http://schemas.openxmlformats.org/drawingml/2006/main">
              <a:ext uri="{FF2B5EF4-FFF2-40B4-BE49-F238E27FC236}">
                <a16:creationId xmlns:a16="http://schemas.microsoft.com/office/drawing/2014/main" id="{E343F61E-EB79-4B2A-AEE6-79F1C7C0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61912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5ECF6"/>
                </a:solidFill>
              </a:defRPr>
            </a:pPr>
            <a:r>
              <a:rPr sz="1350" b="0">
                <a:solidFill>
                  <a:srgbClr val="E5ECF6"/>
                </a:solidFill>
              </a:rPr>
              <a:t>from pypdf import PdfReader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5ECF6"/>
                </a:solidFill>
              </a:defRPr>
            </a:pPr>
            <a:r>
              <a:rPr sz="1350" b="0">
                <a:solidFill>
                  <a:srgbClr val="E5ECF6"/>
                </a:solidFill>
              </a:rPr>
              <a:t>import 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E5ECF6"/>
                </a:solidFill>
              </a:defRPr>
            </a:pPr>
            <a:r>
              <a:rPr sz="1350" b="0">
                <a:solidFill>
                  <a:srgbClr val="E5ECF6"/>
                </a:solidFill>
              </a:rPr>
              <a:t>def extract_text(file_path):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5ECF6"/>
                </a:solidFill>
              </a:defRPr>
            </a:pPr>
            <a:r>
              <a:rPr sz="1350" b="0">
                <a:solidFill>
                  <a:srgbClr val="E5ECF6"/>
                </a:solidFill>
              </a:rPr>
              <a:t>    reader = PdfReader(file_path)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5ECF6"/>
                </a:solidFill>
              </a:defRPr>
            </a:pPr>
            <a:r>
              <a:rPr sz="1350" b="0">
                <a:solidFill>
                  <a:srgbClr val="E5ECF6"/>
                </a:solidFill>
              </a:rPr>
              <a:t>    text = " ".join(page.extract_text() or ""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5ECF6"/>
                </a:solidFill>
              </a:defRPr>
            </a:pPr>
            <a:r>
              <a:rPr sz="1350" b="0">
                <a:solidFill>
                  <a:srgbClr val="E5ECF6"/>
                </a:solidFill>
              </a:rPr>
              <a:t>                    for page in reader.pages)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5ECF6"/>
                </a:solidFill>
              </a:defRPr>
            </a:pPr>
            <a:r>
              <a:rPr sz="1350" b="0">
                <a:solidFill>
                  <a:srgbClr val="E5ECF6"/>
                </a:solidFill>
              </a:rPr>
              <a:t>    text = text.lower()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5ECF6"/>
                </a:solidFill>
              </a:defRPr>
            </a:pPr>
            <a:r>
              <a:rPr sz="1350" b="0">
                <a:solidFill>
                  <a:srgbClr val="E5ECF6"/>
                </a:solidFill>
              </a:rPr>
              <a:t>    text = re.sub(r"[^a-z0-9+#. ]", " ", text)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5ECF6"/>
                </a:solidFill>
              </a:defRPr>
            </a:pPr>
            <a:r>
              <a:rPr sz="1350" b="0">
                <a:solidFill>
                  <a:srgbClr val="E5ECF6"/>
                </a:solidFill>
              </a:rPr>
              <a:t>    return re.sub(r"\s+", " ", text).strip()</a:t>
            </a:r>
          </a:p>
        </p:txBody>
      </p:sp>
      <p:sp>
        <p:nvSpPr>
          <p:cNvPr id="1048780" name="">
            <a:extLst xmlns:a="http://schemas.openxmlformats.org/drawingml/2006/main">
              <a:ext uri="{FF2B5EF4-FFF2-40B4-BE49-F238E27FC236}">
                <a16:creationId xmlns:a16="http://schemas.microsoft.com/office/drawing/2014/main" id="{50D4DB62-6146-4E84-9BE8-B20D4EAA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What this code does</a:t>
            </a:r>
          </a:p>
        </p:txBody>
      </p:sp>
      <p:sp>
        <p:nvSpPr>
          <p:cNvPr id="1048781" name="">
            <a:extLst xmlns:a="http://schemas.openxmlformats.org/drawingml/2006/main">
              <a:ext uri="{FF2B5EF4-FFF2-40B4-BE49-F238E27FC236}">
                <a16:creationId xmlns:a16="http://schemas.microsoft.com/office/drawing/2014/main" id="{FA009951-280B-45E8-988B-CD1AFE65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782" name="">
            <a:extLst xmlns:a="http://schemas.openxmlformats.org/drawingml/2006/main">
              <a:ext uri="{FF2B5EF4-FFF2-40B4-BE49-F238E27FC236}">
                <a16:creationId xmlns:a16="http://schemas.microsoft.com/office/drawing/2014/main" id="{F386E0F4-0FD3-420C-8A21-FBA9E9CB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238375"/>
            <a:ext cx="3076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Reads every PDF page</a:t>
            </a:r>
          </a:p>
        </p:txBody>
      </p:sp>
      <p:sp>
        <p:nvSpPr>
          <p:cNvPr id="1048783" name="">
            <a:extLst xmlns:a="http://schemas.openxmlformats.org/drawingml/2006/main">
              <a:ext uri="{FF2B5EF4-FFF2-40B4-BE49-F238E27FC236}">
                <a16:creationId xmlns:a16="http://schemas.microsoft.com/office/drawing/2014/main" id="{AEFDE7CA-FF87-4F0C-AF40-50489416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784" name="">
            <a:extLst xmlns:a="http://schemas.openxmlformats.org/drawingml/2006/main">
              <a:ext uri="{FF2B5EF4-FFF2-40B4-BE49-F238E27FC236}">
                <a16:creationId xmlns:a16="http://schemas.microsoft.com/office/drawing/2014/main" id="{5D3BA6E9-EA7F-47D9-A11E-DEAE9956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790825"/>
            <a:ext cx="3076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Joins all extracted text</a:t>
            </a:r>
          </a:p>
        </p:txBody>
      </p:sp>
      <p:sp>
        <p:nvSpPr>
          <p:cNvPr id="1048785" name="">
            <a:extLst xmlns:a="http://schemas.openxmlformats.org/drawingml/2006/main">
              <a:ext uri="{FF2B5EF4-FFF2-40B4-BE49-F238E27FC236}">
                <a16:creationId xmlns:a16="http://schemas.microsoft.com/office/drawing/2014/main" id="{C86B848C-E0D8-446F-AB80-61C16BAE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09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786" name="">
            <a:extLst xmlns:a="http://schemas.openxmlformats.org/drawingml/2006/main">
              <a:ext uri="{FF2B5EF4-FFF2-40B4-BE49-F238E27FC236}">
                <a16:creationId xmlns:a16="http://schemas.microsoft.com/office/drawing/2014/main" id="{A6F57464-1BD1-4663-BB44-1E14AFCB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343275"/>
            <a:ext cx="3076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Converts text to lowercase</a:t>
            </a:r>
          </a:p>
        </p:txBody>
      </p:sp>
      <p:sp>
        <p:nvSpPr>
          <p:cNvPr id="1048787" name="">
            <a:extLst xmlns:a="http://schemas.openxmlformats.org/drawingml/2006/main">
              <a:ext uri="{FF2B5EF4-FFF2-40B4-BE49-F238E27FC236}">
                <a16:creationId xmlns:a16="http://schemas.microsoft.com/office/drawing/2014/main" id="{384749FB-9FED-466B-81AC-8A839D14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62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788" name="">
            <a:extLst xmlns:a="http://schemas.openxmlformats.org/drawingml/2006/main">
              <a:ext uri="{FF2B5EF4-FFF2-40B4-BE49-F238E27FC236}">
                <a16:creationId xmlns:a16="http://schemas.microsoft.com/office/drawing/2014/main" id="{57164009-4CA8-4683-B328-5C117956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895725"/>
            <a:ext cx="3076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Removes unwanted symbols</a:t>
            </a:r>
          </a:p>
        </p:txBody>
      </p:sp>
      <p:sp>
        <p:nvSpPr>
          <p:cNvPr id="1048789" name="">
            <a:extLst xmlns:a="http://schemas.openxmlformats.org/drawingml/2006/main">
              <a:ext uri="{FF2B5EF4-FFF2-40B4-BE49-F238E27FC236}">
                <a16:creationId xmlns:a16="http://schemas.microsoft.com/office/drawing/2014/main" id="{76802081-A47F-4CE8-8E83-EF3CEC7E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790" name="">
            <a:extLst xmlns:a="http://schemas.openxmlformats.org/drawingml/2006/main">
              <a:ext uri="{FF2B5EF4-FFF2-40B4-BE49-F238E27FC236}">
                <a16:creationId xmlns:a16="http://schemas.microsoft.com/office/drawing/2014/main" id="{C6CF8D9B-5C0B-4F80-85D4-965FC0FC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448175"/>
            <a:ext cx="3076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Returns clean searchable text</a:t>
            </a:r>
          </a:p>
        </p:txBody>
      </p:sp>
      <p:sp>
        <p:nvSpPr>
          <p:cNvPr id="1048791" name="">
            <a:extLst xmlns:a="http://schemas.openxmlformats.org/drawingml/2006/main">
              <a:ext uri="{FF2B5EF4-FFF2-40B4-BE49-F238E27FC236}">
                <a16:creationId xmlns:a16="http://schemas.microsoft.com/office/drawing/2014/main" id="{FF7C74E7-1750-4E42-9225-90096FA6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000722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795" name="">
            <a:extLst xmlns:a="http://schemas.openxmlformats.org/drawingml/2006/main">
              <a:ext uri="{FF2B5EF4-FFF2-40B4-BE49-F238E27FC236}">
                <a16:creationId xmlns:a16="http://schemas.microsoft.com/office/drawing/2014/main" id="{354B4768-5C2C-4853-A7D9-9D7E50EA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48796" name="">
            <a:extLst xmlns:a="http://schemas.openxmlformats.org/drawingml/2006/main">
              <a:ext uri="{FF2B5EF4-FFF2-40B4-BE49-F238E27FC236}">
                <a16:creationId xmlns:a16="http://schemas.microsoft.com/office/drawing/2014/main" id="{92A1D0C6-C1AD-4EC4-9D67-DCBD3923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23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797" name="">
            <a:extLst xmlns:a="http://schemas.openxmlformats.org/drawingml/2006/main">
              <a:ext uri="{FF2B5EF4-FFF2-40B4-BE49-F238E27FC236}">
                <a16:creationId xmlns:a16="http://schemas.microsoft.com/office/drawing/2014/main" id="{FC4C67E0-0B47-4DC4-9080-AC4D2BBB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1048798" name="">
            <a:extLst xmlns:a="http://schemas.openxmlformats.org/drawingml/2006/main">
              <a:ext uri="{FF2B5EF4-FFF2-40B4-BE49-F238E27FC236}">
                <a16:creationId xmlns:a16="http://schemas.microsoft.com/office/drawing/2014/main" id="{02D8E188-D5E0-45FC-AC60-4138E3A8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TF-IDF measures similarity between resume and job description</a:t>
            </a:r>
          </a:p>
        </p:txBody>
      </p:sp>
      <p:sp>
        <p:nvSpPr>
          <p:cNvPr id="1048799" name="">
            <a:extLst xmlns:a="http://schemas.openxmlformats.org/drawingml/2006/main">
              <a:ext uri="{FF2B5EF4-FFF2-40B4-BE49-F238E27FC236}">
                <a16:creationId xmlns:a16="http://schemas.microsoft.com/office/drawing/2014/main" id="{3AC5E955-4CCC-45BB-838E-A6471E1D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1048800" name="">
            <a:extLst xmlns:a="http://schemas.openxmlformats.org/drawingml/2006/main">
              <a:ext uri="{FF2B5EF4-FFF2-40B4-BE49-F238E27FC236}">
                <a16:creationId xmlns:a16="http://schemas.microsoft.com/office/drawing/2014/main" id="{4E0FC1CD-3D29-485C-B304-25E9E97A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858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48801" name="">
            <a:extLst xmlns:a="http://schemas.openxmlformats.org/drawingml/2006/main">
              <a:ext uri="{FF2B5EF4-FFF2-40B4-BE49-F238E27FC236}">
                <a16:creationId xmlns:a16="http://schemas.microsoft.com/office/drawing/2014/main" id="{D6D2B571-A209-4079-BC9A-FEF16A31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642937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from sklearn.feature_extraction.text import TfidfVectorizer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from sklearn.metrics.pairwise import cosine_similarity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def similarity_score(resume, job):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    model = TfidfVectorizer(stop_words="english")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    vectors = model.fit_transform([resume, job])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    score = cosine_similarity(vectors[0], vectors[1])[0][0]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    return round(score * 100, 2)</a:t>
            </a:r>
          </a:p>
        </p:txBody>
      </p:sp>
      <p:sp>
        <p:nvSpPr>
          <p:cNvPr id="1048802" name="">
            <a:extLst xmlns:a="http://schemas.openxmlformats.org/drawingml/2006/main">
              <a:ext uri="{FF2B5EF4-FFF2-40B4-BE49-F238E27FC236}">
                <a16:creationId xmlns:a16="http://schemas.microsoft.com/office/drawing/2014/main" id="{EF59F79F-B66C-434C-ADEC-6DC2AEFE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0"/>
            <a:ext cx="3048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803" name="">
            <a:extLst xmlns:a="http://schemas.openxmlformats.org/drawingml/2006/main">
              <a:ext uri="{FF2B5EF4-FFF2-40B4-BE49-F238E27FC236}">
                <a16:creationId xmlns:a16="http://schemas.microsoft.com/office/drawing/2014/main" id="{1A1D1AF0-E40B-4C4E-8239-EA55350F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52606D"/>
                </a:solidFill>
              </a:defRPr>
            </a:pPr>
            <a:r>
              <a:rPr sz="2025" b="1">
                <a:solidFill>
                  <a:srgbClr val="52606D"/>
                </a:solidFill>
              </a:rPr>
              <a:t>0%</a:t>
            </a:r>
          </a:p>
        </p:txBody>
      </p:sp>
      <p:sp>
        <p:nvSpPr>
          <p:cNvPr id="1048804" name="">
            <a:extLst xmlns:a="http://schemas.openxmlformats.org/drawingml/2006/main">
              <a:ext uri="{FF2B5EF4-FFF2-40B4-BE49-F238E27FC236}">
                <a16:creationId xmlns:a16="http://schemas.microsoft.com/office/drawing/2014/main" id="{694979A4-4A32-43DC-AABA-7FC5AD3D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47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46BFD"/>
                </a:solidFill>
              </a:defRPr>
            </a:pPr>
            <a:r>
              <a:rPr sz="1275" b="1">
                <a:solidFill>
                  <a:srgbClr val="246BFD"/>
                </a:solidFill>
              </a:rPr>
              <a:t>← similarity →</a:t>
            </a:r>
          </a:p>
        </p:txBody>
      </p:sp>
      <p:sp>
        <p:nvSpPr>
          <p:cNvPr id="1048805" name="">
            <a:extLst xmlns:a="http://schemas.openxmlformats.org/drawingml/2006/main">
              <a:ext uri="{FF2B5EF4-FFF2-40B4-BE49-F238E27FC236}">
                <a16:creationId xmlns:a16="http://schemas.microsoft.com/office/drawing/2014/main" id="{D05F2E38-6204-49A8-AF9D-4DA49138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0002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2025" b="1">
                <a:solidFill>
                  <a:srgbClr val="16A36A"/>
                </a:solidFill>
              </a:defRPr>
            </a:pPr>
            <a:r>
              <a:rPr sz="2025" b="1">
                <a:solidFill>
                  <a:srgbClr val="16A36A"/>
                </a:solidFill>
              </a:rPr>
              <a:t>100%</a:t>
            </a:r>
          </a:p>
        </p:txBody>
      </p:sp>
      <p:sp>
        <p:nvSpPr>
          <p:cNvPr id="1048806" name="">
            <a:extLst xmlns:a="http://schemas.openxmlformats.org/drawingml/2006/main">
              <a:ext uri="{FF2B5EF4-FFF2-40B4-BE49-F238E27FC236}">
                <a16:creationId xmlns:a16="http://schemas.microsoft.com/office/drawing/2014/main" id="{01FCB1CB-7BC6-410E-BAD3-5E9E4910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2714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A higher value means the resume language is more similar to the job description.</a:t>
            </a:r>
          </a:p>
        </p:txBody>
      </p:sp>
      <p:sp>
        <p:nvSpPr>
          <p:cNvPr id="1048807" name="">
            <a:extLst xmlns:a="http://schemas.openxmlformats.org/drawingml/2006/main">
              <a:ext uri="{FF2B5EF4-FFF2-40B4-BE49-F238E27FC236}">
                <a16:creationId xmlns:a16="http://schemas.microsoft.com/office/drawing/2014/main" id="{13A60266-6C9A-44ED-BCDF-0C686971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53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Similarity is only one signal; it should not decide hiring alone.</a:t>
            </a:r>
          </a:p>
        </p:txBody>
      </p:sp>
      <p:sp>
        <p:nvSpPr>
          <p:cNvPr id="1048808" name="">
            <a:extLst xmlns:a="http://schemas.openxmlformats.org/drawingml/2006/main">
              <a:ext uri="{FF2B5EF4-FFF2-40B4-BE49-F238E27FC236}">
                <a16:creationId xmlns:a16="http://schemas.microsoft.com/office/drawing/2014/main" id="{07517C8E-7C67-499F-B9C4-8F618F59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208946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812" name="">
            <a:extLst xmlns:a="http://schemas.openxmlformats.org/drawingml/2006/main">
              <a:ext uri="{FF2B5EF4-FFF2-40B4-BE49-F238E27FC236}">
                <a16:creationId xmlns:a16="http://schemas.microsoft.com/office/drawing/2014/main" id="{BC40798F-63D1-4C21-BF3C-FBB764B4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48813" name="">
            <a:extLst xmlns:a="http://schemas.openxmlformats.org/drawingml/2006/main">
              <a:ext uri="{FF2B5EF4-FFF2-40B4-BE49-F238E27FC236}">
                <a16:creationId xmlns:a16="http://schemas.microsoft.com/office/drawing/2014/main" id="{A8DB6FC7-0D0B-40B1-AEC0-03587453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23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814" name="">
            <a:extLst xmlns:a="http://schemas.openxmlformats.org/drawingml/2006/main">
              <a:ext uri="{FF2B5EF4-FFF2-40B4-BE49-F238E27FC236}">
                <a16:creationId xmlns:a16="http://schemas.microsoft.com/office/drawing/2014/main" id="{7427747C-486E-4142-8114-3CFE6D79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1048815" name="">
            <a:extLst xmlns:a="http://schemas.openxmlformats.org/drawingml/2006/main">
              <a:ext uri="{FF2B5EF4-FFF2-40B4-BE49-F238E27FC236}">
                <a16:creationId xmlns:a16="http://schemas.microsoft.com/office/drawing/2014/main" id="{A2260D3C-247D-4783-B6A0-4E1CA20A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Skill extraction makes the result easy to verify</a:t>
            </a:r>
          </a:p>
        </p:txBody>
      </p:sp>
      <p:sp>
        <p:nvSpPr>
          <p:cNvPr id="1048816" name="">
            <a:extLst xmlns:a="http://schemas.openxmlformats.org/drawingml/2006/main">
              <a:ext uri="{FF2B5EF4-FFF2-40B4-BE49-F238E27FC236}">
                <a16:creationId xmlns:a16="http://schemas.microsoft.com/office/drawing/2014/main" id="{CF132415-750F-4FD7-BFE0-B6470A2F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1048817" name="">
            <a:extLst xmlns:a="http://schemas.openxmlformats.org/drawingml/2006/main">
              <a:ext uri="{FF2B5EF4-FFF2-40B4-BE49-F238E27FC236}">
                <a16:creationId xmlns:a16="http://schemas.microsoft.com/office/drawing/2014/main" id="{4B68CB82-F90A-4705-B5C6-A94AE1D7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62865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48818" name="">
            <a:extLst xmlns:a="http://schemas.openxmlformats.org/drawingml/2006/main">
              <a:ext uri="{FF2B5EF4-FFF2-40B4-BE49-F238E27FC236}">
                <a16:creationId xmlns:a16="http://schemas.microsoft.com/office/drawing/2014/main" id="{AFC6A088-1E56-4C55-B1BC-4975D500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5857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SKILLS = ["python", "sql", "flask", "machine learning",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          "communication", "git", "data analysis"]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def find_skills(text):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    return [skill for skill in SKILLS if skill in text]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resume_skills = find_skills(resume_text)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job_skills = find_skills(job_text)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matching = sorted(set(resume_skills) &amp; set(job_skills))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missing = sorted(set(job_skills) - set(resume_skills))</a:t>
            </a:r>
          </a:p>
        </p:txBody>
      </p:sp>
      <p:sp>
        <p:nvSpPr>
          <p:cNvPr id="1048819" name="">
            <a:extLst xmlns:a="http://schemas.openxmlformats.org/drawingml/2006/main">
              <a:ext uri="{FF2B5EF4-FFF2-40B4-BE49-F238E27FC236}">
                <a16:creationId xmlns:a16="http://schemas.microsoft.com/office/drawing/2014/main" id="{A4910F0B-ACC7-4B54-9C58-CFAF4735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668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Example review</a:t>
            </a:r>
          </a:p>
        </p:txBody>
      </p:sp>
      <p:sp>
        <p:nvSpPr>
          <p:cNvPr id="1048820" name="">
            <a:extLst xmlns:a="http://schemas.openxmlformats.org/drawingml/2006/main">
              <a:ext uri="{FF2B5EF4-FFF2-40B4-BE49-F238E27FC236}">
                <a16:creationId xmlns:a16="http://schemas.microsoft.com/office/drawing/2014/main" id="{46AB90FB-7AC3-438A-A5C3-3425CAB9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3429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8AD6B7"/>
            </a:solidFill>
            <a:prstDash val="solid"/>
          </a:ln>
        </p:spPr>
      </p:sp>
      <p:sp>
        <p:nvSpPr>
          <p:cNvPr id="1048821" name="">
            <a:extLst xmlns:a="http://schemas.openxmlformats.org/drawingml/2006/main">
              <a:ext uri="{FF2B5EF4-FFF2-40B4-BE49-F238E27FC236}">
                <a16:creationId xmlns:a16="http://schemas.microsoft.com/office/drawing/2014/main" id="{97BB0AF5-7E71-4737-9AC2-858C40AE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812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A36A"/>
                </a:solidFill>
              </a:defRPr>
            </a:pPr>
            <a:r>
              <a:rPr sz="1275" b="1">
                <a:solidFill>
                  <a:srgbClr val="16A36A"/>
                </a:solidFill>
              </a:rPr>
              <a:t>MATCHING SKILLS</a:t>
            </a:r>
          </a:p>
        </p:txBody>
      </p:sp>
      <p:sp>
        <p:nvSpPr>
          <p:cNvPr id="1048822" name="">
            <a:extLst xmlns:a="http://schemas.openxmlformats.org/drawingml/2006/main">
              <a:ext uri="{FF2B5EF4-FFF2-40B4-BE49-F238E27FC236}">
                <a16:creationId xmlns:a16="http://schemas.microsoft.com/office/drawing/2014/main" id="{44808036-CA59-4816-BD11-631EC41F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Python • SQL • Git</a:t>
            </a:r>
          </a:p>
        </p:txBody>
      </p:sp>
      <p:sp>
        <p:nvSpPr>
          <p:cNvPr id="1048823" name="">
            <a:extLst xmlns:a="http://schemas.openxmlformats.org/drawingml/2006/main">
              <a:ext uri="{FF2B5EF4-FFF2-40B4-BE49-F238E27FC236}">
                <a16:creationId xmlns:a16="http://schemas.microsoft.com/office/drawing/2014/main" id="{EBE99252-57EB-4360-A604-3D0683E2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67125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F3C46A"/>
            </a:solidFill>
            <a:prstDash val="solid"/>
          </a:ln>
        </p:spPr>
      </p:sp>
      <p:sp>
        <p:nvSpPr>
          <p:cNvPr id="1048824" name="">
            <a:extLst xmlns:a="http://schemas.openxmlformats.org/drawingml/2006/main">
              <a:ext uri="{FF2B5EF4-FFF2-40B4-BE49-F238E27FC236}">
                <a16:creationId xmlns:a16="http://schemas.microsoft.com/office/drawing/2014/main" id="{D5869E8F-AE7C-4996-A5A1-25A3AAF0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576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A62A"/>
                </a:solidFill>
              </a:defRPr>
            </a:pPr>
            <a:r>
              <a:rPr sz="1275" b="1">
                <a:solidFill>
                  <a:srgbClr val="F4A62A"/>
                </a:solidFill>
              </a:rPr>
              <a:t>MISSING SKILLS</a:t>
            </a:r>
          </a:p>
        </p:txBody>
      </p:sp>
      <p:sp>
        <p:nvSpPr>
          <p:cNvPr id="1048825" name="">
            <a:extLst xmlns:a="http://schemas.openxmlformats.org/drawingml/2006/main">
              <a:ext uri="{FF2B5EF4-FFF2-40B4-BE49-F238E27FC236}">
                <a16:creationId xmlns:a16="http://schemas.microsoft.com/office/drawing/2014/main" id="{B75C508C-D366-4A51-A7F3-4E690D8E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576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Flask • Machine Learning</a:t>
            </a:r>
          </a:p>
        </p:txBody>
      </p:sp>
      <p:sp>
        <p:nvSpPr>
          <p:cNvPr id="1048826" name="">
            <a:extLst xmlns:a="http://schemas.openxmlformats.org/drawingml/2006/main">
              <a:ext uri="{FF2B5EF4-FFF2-40B4-BE49-F238E27FC236}">
                <a16:creationId xmlns:a16="http://schemas.microsoft.com/office/drawing/2014/main" id="{2A48231B-8F78-42B1-91B1-D496C59A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758540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830" name="">
            <a:extLst xmlns:a="http://schemas.openxmlformats.org/drawingml/2006/main">
              <a:ext uri="{FF2B5EF4-FFF2-40B4-BE49-F238E27FC236}">
                <a16:creationId xmlns:a16="http://schemas.microsoft.com/office/drawing/2014/main" id="{CB4E156D-ACBC-4902-B2A8-227F104F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48831" name="">
            <a:extLst xmlns:a="http://schemas.openxmlformats.org/drawingml/2006/main">
              <a:ext uri="{FF2B5EF4-FFF2-40B4-BE49-F238E27FC236}">
                <a16:creationId xmlns:a16="http://schemas.microsoft.com/office/drawing/2014/main" id="{67C48313-B72C-4D11-A03E-57B7CF2E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23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832" name="">
            <a:extLst xmlns:a="http://schemas.openxmlformats.org/drawingml/2006/main">
              <a:ext uri="{FF2B5EF4-FFF2-40B4-BE49-F238E27FC236}">
                <a16:creationId xmlns:a16="http://schemas.microsoft.com/office/drawing/2014/main" id="{9D84BFBD-35F3-41E7-B90F-39F16935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1048833" name="">
            <a:extLst xmlns:a="http://schemas.openxmlformats.org/drawingml/2006/main">
              <a:ext uri="{FF2B5EF4-FFF2-40B4-BE49-F238E27FC236}">
                <a16:creationId xmlns:a16="http://schemas.microsoft.com/office/drawing/2014/main" id="{40242EA3-DB3E-456E-9554-C8A2054F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The review report explains both strengths and gaps</a:t>
            </a:r>
          </a:p>
        </p:txBody>
      </p:sp>
      <p:sp>
        <p:nvSpPr>
          <p:cNvPr id="1048834" name="">
            <a:extLst xmlns:a="http://schemas.openxmlformats.org/drawingml/2006/main">
              <a:ext uri="{FF2B5EF4-FFF2-40B4-BE49-F238E27FC236}">
                <a16:creationId xmlns:a16="http://schemas.microsoft.com/office/drawing/2014/main" id="{94A4CB75-07B1-45B8-9643-7930C65E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1048835" name="">
            <a:extLst xmlns:a="http://schemas.openxmlformats.org/drawingml/2006/main">
              <a:ext uri="{FF2B5EF4-FFF2-40B4-BE49-F238E27FC236}">
                <a16:creationId xmlns:a16="http://schemas.microsoft.com/office/drawing/2014/main" id="{7EACC56B-20D5-4ABA-BD92-E75C1626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3337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836" name="">
            <a:extLst xmlns:a="http://schemas.openxmlformats.org/drawingml/2006/main">
              <a:ext uri="{FF2B5EF4-FFF2-40B4-BE49-F238E27FC236}">
                <a16:creationId xmlns:a16="http://schemas.microsoft.com/office/drawing/2014/main" id="{54B054C9-8242-41CF-B977-01AA5528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2876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6BFD"/>
                </a:solidFill>
              </a:defRPr>
            </a:pPr>
            <a:r>
              <a:rPr sz="1725" b="1">
                <a:solidFill>
                  <a:srgbClr val="246BFD"/>
                </a:solidFill>
              </a:rPr>
              <a:t>Candidate summary</a:t>
            </a:r>
          </a:p>
        </p:txBody>
      </p:sp>
      <p:sp>
        <p:nvSpPr>
          <p:cNvPr id="1048837" name="">
            <a:extLst xmlns:a="http://schemas.openxmlformats.org/drawingml/2006/main">
              <a:ext uri="{FF2B5EF4-FFF2-40B4-BE49-F238E27FC236}">
                <a16:creationId xmlns:a16="http://schemas.microsoft.com/office/drawing/2014/main" id="{133E1EEE-FBC6-435B-858D-4CB9624B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2876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1048838" name="">
            <a:extLst xmlns:a="http://schemas.openxmlformats.org/drawingml/2006/main">
              <a:ext uri="{FF2B5EF4-FFF2-40B4-BE49-F238E27FC236}">
                <a16:creationId xmlns:a16="http://schemas.microsoft.com/office/drawing/2014/main" id="{12A27C3A-4697-4487-B08E-A45CB42E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839" name="">
            <a:extLst xmlns:a="http://schemas.openxmlformats.org/drawingml/2006/main">
              <a:ext uri="{FF2B5EF4-FFF2-40B4-BE49-F238E27FC236}">
                <a16:creationId xmlns:a16="http://schemas.microsoft.com/office/drawing/2014/main" id="{CD2A3A67-D260-4B9A-935B-A07196FA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Name and contact</a:t>
            </a:r>
          </a:p>
        </p:txBody>
      </p:sp>
      <p:sp>
        <p:nvSpPr>
          <p:cNvPr id="1048840" name="">
            <a:extLst xmlns:a="http://schemas.openxmlformats.org/drawingml/2006/main">
              <a:ext uri="{FF2B5EF4-FFF2-40B4-BE49-F238E27FC236}">
                <a16:creationId xmlns:a16="http://schemas.microsoft.com/office/drawing/2014/main" id="{3F9BDDAD-B4CB-4486-AA61-B5680F85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19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841" name="">
            <a:extLst xmlns:a="http://schemas.openxmlformats.org/drawingml/2006/main">
              <a:ext uri="{FF2B5EF4-FFF2-40B4-BE49-F238E27FC236}">
                <a16:creationId xmlns:a16="http://schemas.microsoft.com/office/drawing/2014/main" id="{E96F3005-DF97-478B-A646-93E9C6A1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528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Education level</a:t>
            </a:r>
          </a:p>
        </p:txBody>
      </p:sp>
      <p:sp>
        <p:nvSpPr>
          <p:cNvPr id="1048842" name="">
            <a:extLst xmlns:a="http://schemas.openxmlformats.org/drawingml/2006/main">
              <a:ext uri="{FF2B5EF4-FFF2-40B4-BE49-F238E27FC236}">
                <a16:creationId xmlns:a16="http://schemas.microsoft.com/office/drawing/2014/main" id="{6852C670-D202-41AF-814C-9371C1C8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843" name="">
            <a:extLst xmlns:a="http://schemas.openxmlformats.org/drawingml/2006/main">
              <a:ext uri="{FF2B5EF4-FFF2-40B4-BE49-F238E27FC236}">
                <a16:creationId xmlns:a16="http://schemas.microsoft.com/office/drawing/2014/main" id="{64F06CDF-A36A-43D8-BE7F-259339F3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90975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Years of experience</a:t>
            </a:r>
          </a:p>
        </p:txBody>
      </p:sp>
      <p:sp>
        <p:nvSpPr>
          <p:cNvPr id="1048844" name="">
            <a:extLst xmlns:a="http://schemas.openxmlformats.org/drawingml/2006/main">
              <a:ext uri="{FF2B5EF4-FFF2-40B4-BE49-F238E27FC236}">
                <a16:creationId xmlns:a16="http://schemas.microsoft.com/office/drawing/2014/main" id="{6A6C782D-90E6-4C2D-B4A4-C195C94C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66875"/>
            <a:ext cx="33337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845" name="">
            <a:extLst xmlns:a="http://schemas.openxmlformats.org/drawingml/2006/main">
              <a:ext uri="{FF2B5EF4-FFF2-40B4-BE49-F238E27FC236}">
                <a16:creationId xmlns:a16="http://schemas.microsoft.com/office/drawing/2014/main" id="{FD15E898-9196-453D-A380-75CE63C8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52625"/>
            <a:ext cx="2876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6BFD"/>
                </a:solidFill>
              </a:defRPr>
            </a:pPr>
            <a:r>
              <a:rPr sz="1725" b="1">
                <a:solidFill>
                  <a:srgbClr val="246BFD"/>
                </a:solidFill>
              </a:rPr>
              <a:t>Evidence</a:t>
            </a:r>
          </a:p>
        </p:txBody>
      </p:sp>
      <p:sp>
        <p:nvSpPr>
          <p:cNvPr id="1048846" name="">
            <a:extLst xmlns:a="http://schemas.openxmlformats.org/drawingml/2006/main">
              <a:ext uri="{FF2B5EF4-FFF2-40B4-BE49-F238E27FC236}">
                <a16:creationId xmlns:a16="http://schemas.microsoft.com/office/drawing/2014/main" id="{F1B9398F-04E7-42BC-B4FD-BE1F4DC0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28875"/>
            <a:ext cx="2876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1048847" name="">
            <a:extLst xmlns:a="http://schemas.openxmlformats.org/drawingml/2006/main">
              <a:ext uri="{FF2B5EF4-FFF2-40B4-BE49-F238E27FC236}">
                <a16:creationId xmlns:a16="http://schemas.microsoft.com/office/drawing/2014/main" id="{D3504158-AD49-4C24-BA51-FFE88A97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848" name="">
            <a:extLst xmlns:a="http://schemas.openxmlformats.org/drawingml/2006/main">
              <a:ext uri="{FF2B5EF4-FFF2-40B4-BE49-F238E27FC236}">
                <a16:creationId xmlns:a16="http://schemas.microsoft.com/office/drawing/2014/main" id="{B2C51E8C-2311-4CF5-A81E-147C33C6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14625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Matched keywords</a:t>
            </a:r>
          </a:p>
        </p:txBody>
      </p:sp>
      <p:sp>
        <p:nvSpPr>
          <p:cNvPr id="1048849" name="">
            <a:extLst xmlns:a="http://schemas.openxmlformats.org/drawingml/2006/main">
              <a:ext uri="{FF2B5EF4-FFF2-40B4-BE49-F238E27FC236}">
                <a16:creationId xmlns:a16="http://schemas.microsoft.com/office/drawing/2014/main" id="{F01DC61C-8929-416C-8471-50845D48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19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850" name="">
            <a:extLst xmlns:a="http://schemas.openxmlformats.org/drawingml/2006/main">
              <a:ext uri="{FF2B5EF4-FFF2-40B4-BE49-F238E27FC236}">
                <a16:creationId xmlns:a16="http://schemas.microsoft.com/office/drawing/2014/main" id="{7069174C-9916-4FD9-9E25-39181C7B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528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Relevant projects</a:t>
            </a:r>
          </a:p>
        </p:txBody>
      </p:sp>
      <p:sp>
        <p:nvSpPr>
          <p:cNvPr id="1048851" name="">
            <a:extLst xmlns:a="http://schemas.openxmlformats.org/drawingml/2006/main">
              <a:ext uri="{FF2B5EF4-FFF2-40B4-BE49-F238E27FC236}">
                <a16:creationId xmlns:a16="http://schemas.microsoft.com/office/drawing/2014/main" id="{1F0B1A82-5ECD-46CC-BAE7-4D4BC9AB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57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852" name="">
            <a:extLst xmlns:a="http://schemas.openxmlformats.org/drawingml/2006/main">
              <a:ext uri="{FF2B5EF4-FFF2-40B4-BE49-F238E27FC236}">
                <a16:creationId xmlns:a16="http://schemas.microsoft.com/office/drawing/2014/main" id="{4811FFA8-6407-4C2D-AE9C-B8F6DC59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90975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Required skills found</a:t>
            </a:r>
          </a:p>
        </p:txBody>
      </p:sp>
      <p:sp>
        <p:nvSpPr>
          <p:cNvPr id="1048853" name="">
            <a:extLst xmlns:a="http://schemas.openxmlformats.org/drawingml/2006/main">
              <a:ext uri="{FF2B5EF4-FFF2-40B4-BE49-F238E27FC236}">
                <a16:creationId xmlns:a16="http://schemas.microsoft.com/office/drawing/2014/main" id="{331A7C73-F650-495A-A76D-EF721F4F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66875"/>
            <a:ext cx="33337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854" name="">
            <a:extLst xmlns:a="http://schemas.openxmlformats.org/drawingml/2006/main">
              <a:ext uri="{FF2B5EF4-FFF2-40B4-BE49-F238E27FC236}">
                <a16:creationId xmlns:a16="http://schemas.microsoft.com/office/drawing/2014/main" id="{C3AFDF78-9AD3-4A61-B18A-8AB46B5D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52625"/>
            <a:ext cx="2876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6BFD"/>
                </a:solidFill>
              </a:defRPr>
            </a:pPr>
            <a:r>
              <a:rPr sz="1725" b="1">
                <a:solidFill>
                  <a:srgbClr val="246BFD"/>
                </a:solidFill>
              </a:rPr>
              <a:t>Decision support</a:t>
            </a:r>
          </a:p>
        </p:txBody>
      </p:sp>
      <p:sp>
        <p:nvSpPr>
          <p:cNvPr id="1048855" name="">
            <a:extLst xmlns:a="http://schemas.openxmlformats.org/drawingml/2006/main">
              <a:ext uri="{FF2B5EF4-FFF2-40B4-BE49-F238E27FC236}">
                <a16:creationId xmlns:a16="http://schemas.microsoft.com/office/drawing/2014/main" id="{A1F7E72D-A3CA-40B2-98B4-B2F7AA96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28875"/>
            <a:ext cx="2876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1048856" name="">
            <a:extLst xmlns:a="http://schemas.openxmlformats.org/drawingml/2006/main">
              <a:ext uri="{FF2B5EF4-FFF2-40B4-BE49-F238E27FC236}">
                <a16:creationId xmlns:a16="http://schemas.microsoft.com/office/drawing/2014/main" id="{07A12A37-9173-489D-A754-1C9F99D6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857" name="">
            <a:extLst xmlns:a="http://schemas.openxmlformats.org/drawingml/2006/main">
              <a:ext uri="{FF2B5EF4-FFF2-40B4-BE49-F238E27FC236}">
                <a16:creationId xmlns:a16="http://schemas.microsoft.com/office/drawing/2014/main" id="{D50440B1-2A7B-4CFA-8EF3-F16108B3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14625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Match score</a:t>
            </a:r>
          </a:p>
        </p:txBody>
      </p:sp>
      <p:sp>
        <p:nvSpPr>
          <p:cNvPr id="1048858" name="">
            <a:extLst xmlns:a="http://schemas.openxmlformats.org/drawingml/2006/main">
              <a:ext uri="{FF2B5EF4-FFF2-40B4-BE49-F238E27FC236}">
                <a16:creationId xmlns:a16="http://schemas.microsoft.com/office/drawing/2014/main" id="{0DBA0A7F-EF4C-421C-A58F-C730E180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19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859" name="">
            <a:extLst xmlns:a="http://schemas.openxmlformats.org/drawingml/2006/main">
              <a:ext uri="{FF2B5EF4-FFF2-40B4-BE49-F238E27FC236}">
                <a16:creationId xmlns:a16="http://schemas.microsoft.com/office/drawing/2014/main" id="{3777DD98-2A06-4FBF-AEF2-1D414027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528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Missing skills</a:t>
            </a:r>
          </a:p>
        </p:txBody>
      </p:sp>
      <p:sp>
        <p:nvSpPr>
          <p:cNvPr id="1048860" name="">
            <a:extLst xmlns:a="http://schemas.openxmlformats.org/drawingml/2006/main">
              <a:ext uri="{FF2B5EF4-FFF2-40B4-BE49-F238E27FC236}">
                <a16:creationId xmlns:a16="http://schemas.microsoft.com/office/drawing/2014/main" id="{F95DE0ED-11C6-4804-B2A5-D1614987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57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861" name="">
            <a:extLst xmlns:a="http://schemas.openxmlformats.org/drawingml/2006/main">
              <a:ext uri="{FF2B5EF4-FFF2-40B4-BE49-F238E27FC236}">
                <a16:creationId xmlns:a16="http://schemas.microsoft.com/office/drawing/2014/main" id="{76417DBC-E837-49FA-95AA-C5F8F1FD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90975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Improvement suggestions</a:t>
            </a:r>
          </a:p>
        </p:txBody>
      </p:sp>
      <p:sp>
        <p:nvSpPr>
          <p:cNvPr id="1048862" name="">
            <a:extLst xmlns:a="http://schemas.openxmlformats.org/drawingml/2006/main">
              <a:ext uri="{FF2B5EF4-FFF2-40B4-BE49-F238E27FC236}">
                <a16:creationId xmlns:a16="http://schemas.microsoft.com/office/drawing/2014/main" id="{5D52E74E-485E-4032-ACAF-8B96C163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86375"/>
            <a:ext cx="8763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48863" name="">
            <a:extLst xmlns:a="http://schemas.openxmlformats.org/drawingml/2006/main">
              <a:ext uri="{FF2B5EF4-FFF2-40B4-BE49-F238E27FC236}">
                <a16:creationId xmlns:a16="http://schemas.microsoft.com/office/drawing/2014/main" id="{2E497538-1BE1-4E13-B793-5E21F241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57825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Output: Strong Match  •  Potential Match  •  Not Recommended</a:t>
            </a:r>
          </a:p>
        </p:txBody>
      </p:sp>
      <p:sp>
        <p:nvSpPr>
          <p:cNvPr id="1048864" name="">
            <a:extLst xmlns:a="http://schemas.openxmlformats.org/drawingml/2006/main">
              <a:ext uri="{FF2B5EF4-FFF2-40B4-BE49-F238E27FC236}">
                <a16:creationId xmlns:a16="http://schemas.microsoft.com/office/drawing/2014/main" id="{CE961B01-FE5D-4742-8CF7-4ED3CB39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241900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868" name="">
            <a:extLst xmlns:a="http://schemas.openxmlformats.org/drawingml/2006/main">
              <a:ext uri="{FF2B5EF4-FFF2-40B4-BE49-F238E27FC236}">
                <a16:creationId xmlns:a16="http://schemas.microsoft.com/office/drawing/2014/main" id="{FB6171F2-98A7-4B95-8C3F-53DA2D37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48869" name="">
            <a:extLst xmlns:a="http://schemas.openxmlformats.org/drawingml/2006/main">
              <a:ext uri="{FF2B5EF4-FFF2-40B4-BE49-F238E27FC236}">
                <a16:creationId xmlns:a16="http://schemas.microsoft.com/office/drawing/2014/main" id="{C86135ED-61A3-4731-9884-46469661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23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870" name="">
            <a:extLst xmlns:a="http://schemas.openxmlformats.org/drawingml/2006/main">
              <a:ext uri="{FF2B5EF4-FFF2-40B4-BE49-F238E27FC236}">
                <a16:creationId xmlns:a16="http://schemas.microsoft.com/office/drawing/2014/main" id="{9B485405-CC43-407F-BA2B-9E1D7CFF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1048871" name="">
            <a:extLst xmlns:a="http://schemas.openxmlformats.org/drawingml/2006/main">
              <a:ext uri="{FF2B5EF4-FFF2-40B4-BE49-F238E27FC236}">
                <a16:creationId xmlns:a16="http://schemas.microsoft.com/office/drawing/2014/main" id="{38639660-0C7C-42F4-9789-84101CB4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Database design keeps decisions traceable</a:t>
            </a:r>
          </a:p>
        </p:txBody>
      </p:sp>
      <p:sp>
        <p:nvSpPr>
          <p:cNvPr id="1048872" name="">
            <a:extLst xmlns:a="http://schemas.openxmlformats.org/drawingml/2006/main">
              <a:ext uri="{FF2B5EF4-FFF2-40B4-BE49-F238E27FC236}">
                <a16:creationId xmlns:a16="http://schemas.microsoft.com/office/drawing/2014/main" id="{0DD6F720-9DFB-4D95-A5C5-380BECFC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1048873" name="">
            <a:extLst xmlns:a="http://schemas.openxmlformats.org/drawingml/2006/main">
              <a:ext uri="{FF2B5EF4-FFF2-40B4-BE49-F238E27FC236}">
                <a16:creationId xmlns:a16="http://schemas.microsoft.com/office/drawing/2014/main" id="{90E8EA6B-7540-4BCA-9E77-3ABE5F53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9526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874" name="">
            <a:extLst xmlns:a="http://schemas.openxmlformats.org/drawingml/2006/main">
              <a:ext uri="{FF2B5EF4-FFF2-40B4-BE49-F238E27FC236}">
                <a16:creationId xmlns:a16="http://schemas.microsoft.com/office/drawing/2014/main" id="{97B8DE6F-001A-435E-A2B1-6348AF19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76425"/>
            <a:ext cx="1800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candidate_id</a:t>
            </a:r>
          </a:p>
        </p:txBody>
      </p:sp>
      <p:sp>
        <p:nvSpPr>
          <p:cNvPr id="1048875" name="">
            <a:extLst xmlns:a="http://schemas.openxmlformats.org/drawingml/2006/main">
              <a:ext uri="{FF2B5EF4-FFF2-40B4-BE49-F238E27FC236}">
                <a16:creationId xmlns:a16="http://schemas.microsoft.com/office/drawing/2014/main" id="{5944451F-8030-406A-A59D-2FC6E591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714500"/>
            <a:ext cx="19526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876" name="">
            <a:extLst xmlns:a="http://schemas.openxmlformats.org/drawingml/2006/main">
              <a:ext uri="{FF2B5EF4-FFF2-40B4-BE49-F238E27FC236}">
                <a16:creationId xmlns:a16="http://schemas.microsoft.com/office/drawing/2014/main" id="{C1656D00-B691-4842-8474-27CCB746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876425"/>
            <a:ext cx="1800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job_id</a:t>
            </a:r>
          </a:p>
        </p:txBody>
      </p:sp>
      <p:sp>
        <p:nvSpPr>
          <p:cNvPr id="1048877" name="">
            <a:extLst xmlns:a="http://schemas.openxmlformats.org/drawingml/2006/main">
              <a:ext uri="{FF2B5EF4-FFF2-40B4-BE49-F238E27FC236}">
                <a16:creationId xmlns:a16="http://schemas.microsoft.com/office/drawing/2014/main" id="{2C8FA102-2010-4D17-AA88-EF8B8A7F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714500"/>
            <a:ext cx="19526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878" name="">
            <a:extLst xmlns:a="http://schemas.openxmlformats.org/drawingml/2006/main">
              <a:ext uri="{FF2B5EF4-FFF2-40B4-BE49-F238E27FC236}">
                <a16:creationId xmlns:a16="http://schemas.microsoft.com/office/drawing/2014/main" id="{2E5D5648-AA4C-445F-B4E9-C95083E1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76425"/>
            <a:ext cx="1800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match_score</a:t>
            </a:r>
          </a:p>
        </p:txBody>
      </p:sp>
      <p:sp>
        <p:nvSpPr>
          <p:cNvPr id="1048879" name="">
            <a:extLst xmlns:a="http://schemas.openxmlformats.org/drawingml/2006/main">
              <a:ext uri="{FF2B5EF4-FFF2-40B4-BE49-F238E27FC236}">
                <a16:creationId xmlns:a16="http://schemas.microsoft.com/office/drawing/2014/main" id="{E92DE72F-A0E8-49CF-A3F5-44C0EA27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714500"/>
            <a:ext cx="19526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880" name="">
            <a:extLst xmlns:a="http://schemas.openxmlformats.org/drawingml/2006/main">
              <a:ext uri="{FF2B5EF4-FFF2-40B4-BE49-F238E27FC236}">
                <a16:creationId xmlns:a16="http://schemas.microsoft.com/office/drawing/2014/main" id="{0C921196-F733-4DF7-B71F-CC6DED1A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876425"/>
            <a:ext cx="1800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8881" name="">
            <a:extLst xmlns:a="http://schemas.openxmlformats.org/drawingml/2006/main">
              <a:ext uri="{FF2B5EF4-FFF2-40B4-BE49-F238E27FC236}">
                <a16:creationId xmlns:a16="http://schemas.microsoft.com/office/drawing/2014/main" id="{84606436-6378-4CFA-BE18-C79EC9AD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714500"/>
            <a:ext cx="19526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882" name="">
            <a:extLst xmlns:a="http://schemas.openxmlformats.org/drawingml/2006/main">
              <a:ext uri="{FF2B5EF4-FFF2-40B4-BE49-F238E27FC236}">
                <a16:creationId xmlns:a16="http://schemas.microsoft.com/office/drawing/2014/main" id="{F8D9BD1D-5FFB-43A8-88AC-F108F7DA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876425"/>
            <a:ext cx="1800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reviewed_by</a:t>
            </a:r>
          </a:p>
        </p:txBody>
      </p:sp>
      <p:sp>
        <p:nvSpPr>
          <p:cNvPr id="1048883" name="">
            <a:extLst xmlns:a="http://schemas.openxmlformats.org/drawingml/2006/main">
              <a:ext uri="{FF2B5EF4-FFF2-40B4-BE49-F238E27FC236}">
                <a16:creationId xmlns:a16="http://schemas.microsoft.com/office/drawing/2014/main" id="{52A7BFC1-1459-4245-8311-8C35809F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884" name="">
            <a:extLst xmlns:a="http://schemas.openxmlformats.org/drawingml/2006/main">
              <a:ext uri="{FF2B5EF4-FFF2-40B4-BE49-F238E27FC236}">
                <a16:creationId xmlns:a16="http://schemas.microsoft.com/office/drawing/2014/main" id="{959548C9-A3C6-4DF2-8A5D-C5BCFBF5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6697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C001</a:t>
            </a:r>
          </a:p>
        </p:txBody>
      </p:sp>
      <p:sp>
        <p:nvSpPr>
          <p:cNvPr id="1048885" name="">
            <a:extLst xmlns:a="http://schemas.openxmlformats.org/drawingml/2006/main">
              <a:ext uri="{FF2B5EF4-FFF2-40B4-BE49-F238E27FC236}">
                <a16:creationId xmlns:a16="http://schemas.microsoft.com/office/drawing/2014/main" id="{AA037944-4D98-4AFF-AE48-719E571A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33362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886" name="">
            <a:extLst xmlns:a="http://schemas.openxmlformats.org/drawingml/2006/main">
              <a:ext uri="{FF2B5EF4-FFF2-40B4-BE49-F238E27FC236}">
                <a16:creationId xmlns:a16="http://schemas.microsoft.com/office/drawing/2014/main" id="{7F45A793-E0FE-4618-994B-32425B67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46697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J101</a:t>
            </a:r>
          </a:p>
        </p:txBody>
      </p:sp>
      <p:sp>
        <p:nvSpPr>
          <p:cNvPr id="1048887" name="">
            <a:extLst xmlns:a="http://schemas.openxmlformats.org/drawingml/2006/main">
              <a:ext uri="{FF2B5EF4-FFF2-40B4-BE49-F238E27FC236}">
                <a16:creationId xmlns:a16="http://schemas.microsoft.com/office/drawing/2014/main" id="{2D8839A3-8946-4DC2-8570-731E8B42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33362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888" name="">
            <a:extLst xmlns:a="http://schemas.openxmlformats.org/drawingml/2006/main">
              <a:ext uri="{FF2B5EF4-FFF2-40B4-BE49-F238E27FC236}">
                <a16:creationId xmlns:a16="http://schemas.microsoft.com/office/drawing/2014/main" id="{1D6AA8A3-9257-4B10-BD3D-B591FE0C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6697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86.5</a:t>
            </a:r>
          </a:p>
        </p:txBody>
      </p:sp>
      <p:sp>
        <p:nvSpPr>
          <p:cNvPr id="1048889" name="">
            <a:extLst xmlns:a="http://schemas.openxmlformats.org/drawingml/2006/main">
              <a:ext uri="{FF2B5EF4-FFF2-40B4-BE49-F238E27FC236}">
                <a16:creationId xmlns:a16="http://schemas.microsoft.com/office/drawing/2014/main" id="{473733FE-B2EA-4BE5-9FD7-04440717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33362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890" name="">
            <a:extLst xmlns:a="http://schemas.openxmlformats.org/drawingml/2006/main">
              <a:ext uri="{FF2B5EF4-FFF2-40B4-BE49-F238E27FC236}">
                <a16:creationId xmlns:a16="http://schemas.microsoft.com/office/drawing/2014/main" id="{D0E862BB-A790-4D59-B985-F2EFE36C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46697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Strong Match</a:t>
            </a:r>
          </a:p>
        </p:txBody>
      </p:sp>
      <p:sp>
        <p:nvSpPr>
          <p:cNvPr id="1048891" name="">
            <a:extLst xmlns:a="http://schemas.openxmlformats.org/drawingml/2006/main">
              <a:ext uri="{FF2B5EF4-FFF2-40B4-BE49-F238E27FC236}">
                <a16:creationId xmlns:a16="http://schemas.microsoft.com/office/drawing/2014/main" id="{CFCBF17E-F2B2-4C50-A4E4-38747337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33362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892" name="">
            <a:extLst xmlns:a="http://schemas.openxmlformats.org/drawingml/2006/main">
              <a:ext uri="{FF2B5EF4-FFF2-40B4-BE49-F238E27FC236}">
                <a16:creationId xmlns:a16="http://schemas.microsoft.com/office/drawing/2014/main" id="{B5A78043-AADA-4D14-9BFB-5F905CFE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6697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Recruiter A</a:t>
            </a:r>
          </a:p>
        </p:txBody>
      </p:sp>
      <p:sp>
        <p:nvSpPr>
          <p:cNvPr id="1048893" name="">
            <a:extLst xmlns:a="http://schemas.openxmlformats.org/drawingml/2006/main">
              <a:ext uri="{FF2B5EF4-FFF2-40B4-BE49-F238E27FC236}">
                <a16:creationId xmlns:a16="http://schemas.microsoft.com/office/drawing/2014/main" id="{0993183D-5CD6-4C69-A4E9-507FD296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894" name="">
            <a:extLst xmlns:a="http://schemas.openxmlformats.org/drawingml/2006/main">
              <a:ext uri="{FF2B5EF4-FFF2-40B4-BE49-F238E27FC236}">
                <a16:creationId xmlns:a16="http://schemas.microsoft.com/office/drawing/2014/main" id="{EBFB970D-5D49-4C54-BC3F-F6DF0090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1942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C002</a:t>
            </a:r>
          </a:p>
        </p:txBody>
      </p:sp>
      <p:sp>
        <p:nvSpPr>
          <p:cNvPr id="1048895" name="">
            <a:extLst xmlns:a="http://schemas.openxmlformats.org/drawingml/2006/main">
              <a:ext uri="{FF2B5EF4-FFF2-40B4-BE49-F238E27FC236}">
                <a16:creationId xmlns:a16="http://schemas.microsoft.com/office/drawing/2014/main" id="{176FCCEE-F847-4929-B6AC-1C6A91C6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88607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896" name="">
            <a:extLst xmlns:a="http://schemas.openxmlformats.org/drawingml/2006/main">
              <a:ext uri="{FF2B5EF4-FFF2-40B4-BE49-F238E27FC236}">
                <a16:creationId xmlns:a16="http://schemas.microsoft.com/office/drawing/2014/main" id="{F3D7B7FB-EBDD-44A2-A6BF-FE36A417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01942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J101</a:t>
            </a:r>
          </a:p>
        </p:txBody>
      </p:sp>
      <p:sp>
        <p:nvSpPr>
          <p:cNvPr id="1048897" name="">
            <a:extLst xmlns:a="http://schemas.openxmlformats.org/drawingml/2006/main">
              <a:ext uri="{FF2B5EF4-FFF2-40B4-BE49-F238E27FC236}">
                <a16:creationId xmlns:a16="http://schemas.microsoft.com/office/drawing/2014/main" id="{1DABA238-BC35-4E76-B937-6DAE3173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88607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898" name="">
            <a:extLst xmlns:a="http://schemas.openxmlformats.org/drawingml/2006/main">
              <a:ext uri="{FF2B5EF4-FFF2-40B4-BE49-F238E27FC236}">
                <a16:creationId xmlns:a16="http://schemas.microsoft.com/office/drawing/2014/main" id="{324F5FC2-B25B-4CC7-99FE-2D42602B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1942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72.0</a:t>
            </a:r>
          </a:p>
        </p:txBody>
      </p:sp>
      <p:sp>
        <p:nvSpPr>
          <p:cNvPr id="1048899" name="">
            <a:extLst xmlns:a="http://schemas.openxmlformats.org/drawingml/2006/main">
              <a:ext uri="{FF2B5EF4-FFF2-40B4-BE49-F238E27FC236}">
                <a16:creationId xmlns:a16="http://schemas.microsoft.com/office/drawing/2014/main" id="{53E0F4DF-0170-4065-9E21-9833E7F5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88607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900" name="">
            <a:extLst xmlns:a="http://schemas.openxmlformats.org/drawingml/2006/main">
              <a:ext uri="{FF2B5EF4-FFF2-40B4-BE49-F238E27FC236}">
                <a16:creationId xmlns:a16="http://schemas.microsoft.com/office/drawing/2014/main" id="{EA8E31A3-36B6-40B4-A19F-D00F6854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1942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Potential</a:t>
            </a:r>
          </a:p>
        </p:txBody>
      </p:sp>
      <p:sp>
        <p:nvSpPr>
          <p:cNvPr id="1048901" name="">
            <a:extLst xmlns:a="http://schemas.openxmlformats.org/drawingml/2006/main">
              <a:ext uri="{FF2B5EF4-FFF2-40B4-BE49-F238E27FC236}">
                <a16:creationId xmlns:a16="http://schemas.microsoft.com/office/drawing/2014/main" id="{2AC2A8B3-AB99-4E82-80EF-2ADAAE31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8607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902" name="">
            <a:extLst xmlns:a="http://schemas.openxmlformats.org/drawingml/2006/main">
              <a:ext uri="{FF2B5EF4-FFF2-40B4-BE49-F238E27FC236}">
                <a16:creationId xmlns:a16="http://schemas.microsoft.com/office/drawing/2014/main" id="{7053498A-8028-4D9B-BFF5-B4D03951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01942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Recruiter A</a:t>
            </a:r>
          </a:p>
        </p:txBody>
      </p:sp>
      <p:sp>
        <p:nvSpPr>
          <p:cNvPr id="1048903" name="">
            <a:extLst xmlns:a="http://schemas.openxmlformats.org/drawingml/2006/main">
              <a:ext uri="{FF2B5EF4-FFF2-40B4-BE49-F238E27FC236}">
                <a16:creationId xmlns:a16="http://schemas.microsoft.com/office/drawing/2014/main" id="{68665A20-AFDC-4483-B9CF-DE27B26E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3852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904" name="">
            <a:extLst xmlns:a="http://schemas.openxmlformats.org/drawingml/2006/main">
              <a:ext uri="{FF2B5EF4-FFF2-40B4-BE49-F238E27FC236}">
                <a16:creationId xmlns:a16="http://schemas.microsoft.com/office/drawing/2014/main" id="{140BF265-43C0-4E7D-A116-2AAD2BCE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7187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C003</a:t>
            </a:r>
          </a:p>
        </p:txBody>
      </p:sp>
      <p:sp>
        <p:nvSpPr>
          <p:cNvPr id="1048905" name="">
            <a:extLst xmlns:a="http://schemas.openxmlformats.org/drawingml/2006/main">
              <a:ext uri="{FF2B5EF4-FFF2-40B4-BE49-F238E27FC236}">
                <a16:creationId xmlns:a16="http://schemas.microsoft.com/office/drawing/2014/main" id="{DE965782-BA82-4E20-A1CA-4FEA211A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43852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906" name="">
            <a:extLst xmlns:a="http://schemas.openxmlformats.org/drawingml/2006/main">
              <a:ext uri="{FF2B5EF4-FFF2-40B4-BE49-F238E27FC236}">
                <a16:creationId xmlns:a16="http://schemas.microsoft.com/office/drawing/2014/main" id="{74394AC2-4B39-43F4-8152-381D430A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57187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J101</a:t>
            </a:r>
          </a:p>
        </p:txBody>
      </p:sp>
      <p:sp>
        <p:nvSpPr>
          <p:cNvPr id="1048907" name="">
            <a:extLst xmlns:a="http://schemas.openxmlformats.org/drawingml/2006/main">
              <a:ext uri="{FF2B5EF4-FFF2-40B4-BE49-F238E27FC236}">
                <a16:creationId xmlns:a16="http://schemas.microsoft.com/office/drawing/2014/main" id="{EFE5B6D4-E864-401F-AF0E-7755C7AE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43852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908" name="">
            <a:extLst xmlns:a="http://schemas.openxmlformats.org/drawingml/2006/main">
              <a:ext uri="{FF2B5EF4-FFF2-40B4-BE49-F238E27FC236}">
                <a16:creationId xmlns:a16="http://schemas.microsoft.com/office/drawing/2014/main" id="{5D76F072-FB39-42E1-AA6B-35506F09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7187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49.5</a:t>
            </a:r>
          </a:p>
        </p:txBody>
      </p:sp>
      <p:sp>
        <p:nvSpPr>
          <p:cNvPr id="1048909" name="">
            <a:extLst xmlns:a="http://schemas.openxmlformats.org/drawingml/2006/main">
              <a:ext uri="{FF2B5EF4-FFF2-40B4-BE49-F238E27FC236}">
                <a16:creationId xmlns:a16="http://schemas.microsoft.com/office/drawing/2014/main" id="{9AEE2C16-9867-4DEC-8381-BC0DE792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43852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910" name="">
            <a:extLst xmlns:a="http://schemas.openxmlformats.org/drawingml/2006/main">
              <a:ext uri="{FF2B5EF4-FFF2-40B4-BE49-F238E27FC236}">
                <a16:creationId xmlns:a16="http://schemas.microsoft.com/office/drawing/2014/main" id="{15A8F45D-CEBA-4469-BD1A-5A3C6A61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57187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Review Needed</a:t>
            </a:r>
          </a:p>
        </p:txBody>
      </p:sp>
      <p:sp>
        <p:nvSpPr>
          <p:cNvPr id="1048911" name="">
            <a:extLst xmlns:a="http://schemas.openxmlformats.org/drawingml/2006/main">
              <a:ext uri="{FF2B5EF4-FFF2-40B4-BE49-F238E27FC236}">
                <a16:creationId xmlns:a16="http://schemas.microsoft.com/office/drawing/2014/main" id="{B6E24D71-2776-4432-A625-27825C9A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43852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912" name="">
            <a:extLst xmlns:a="http://schemas.openxmlformats.org/drawingml/2006/main">
              <a:ext uri="{FF2B5EF4-FFF2-40B4-BE49-F238E27FC236}">
                <a16:creationId xmlns:a16="http://schemas.microsoft.com/office/drawing/2014/main" id="{D644CF6D-DF05-48A9-B8F1-79962BF3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57187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Recruiter B</a:t>
            </a:r>
          </a:p>
        </p:txBody>
      </p:sp>
      <p:sp>
        <p:nvSpPr>
          <p:cNvPr id="1048913" name="">
            <a:extLst xmlns:a="http://schemas.openxmlformats.org/drawingml/2006/main">
              <a:ext uri="{FF2B5EF4-FFF2-40B4-BE49-F238E27FC236}">
                <a16:creationId xmlns:a16="http://schemas.microsoft.com/office/drawing/2014/main" id="{4EF187E5-1FD9-4E61-A3CF-8E0DB1AC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Recommended tables</a:t>
            </a:r>
          </a:p>
        </p:txBody>
      </p:sp>
      <p:sp>
        <p:nvSpPr>
          <p:cNvPr id="1048914" name="">
            <a:extLst xmlns:a="http://schemas.openxmlformats.org/drawingml/2006/main">
              <a:ext uri="{FF2B5EF4-FFF2-40B4-BE49-F238E27FC236}">
                <a16:creationId xmlns:a16="http://schemas.microsoft.com/office/drawing/2014/main" id="{427835B3-66AC-4D50-A0D3-F072590D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9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915" name="">
            <a:extLst xmlns:a="http://schemas.openxmlformats.org/drawingml/2006/main">
              <a:ext uri="{FF2B5EF4-FFF2-40B4-BE49-F238E27FC236}">
                <a16:creationId xmlns:a16="http://schemas.microsoft.com/office/drawing/2014/main" id="{4F8A5969-F12D-4C60-8B4F-1937379F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0220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candidates — extracted profile</a:t>
            </a:r>
          </a:p>
        </p:txBody>
      </p:sp>
      <p:sp>
        <p:nvSpPr>
          <p:cNvPr id="1048916" name="">
            <a:extLst xmlns:a="http://schemas.openxmlformats.org/drawingml/2006/main">
              <a:ext uri="{FF2B5EF4-FFF2-40B4-BE49-F238E27FC236}">
                <a16:creationId xmlns:a16="http://schemas.microsoft.com/office/drawing/2014/main" id="{E24833EB-C4EC-43B9-82BC-585796DF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48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917" name="">
            <a:extLst xmlns:a="http://schemas.openxmlformats.org/drawingml/2006/main">
              <a:ext uri="{FF2B5EF4-FFF2-40B4-BE49-F238E27FC236}">
                <a16:creationId xmlns:a16="http://schemas.microsoft.com/office/drawing/2014/main" id="{A0873072-A29F-4E7D-A2CC-4A952F70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10220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jobs — requirements and weights</a:t>
            </a:r>
          </a:p>
        </p:txBody>
      </p:sp>
      <p:sp>
        <p:nvSpPr>
          <p:cNvPr id="1048918" name="">
            <a:extLst xmlns:a="http://schemas.openxmlformats.org/drawingml/2006/main">
              <a:ext uri="{FF2B5EF4-FFF2-40B4-BE49-F238E27FC236}">
                <a16:creationId xmlns:a16="http://schemas.microsoft.com/office/drawing/2014/main" id="{01B06DDA-79BF-4751-8F55-92E0D9E6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76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919" name="">
            <a:extLst xmlns:a="http://schemas.openxmlformats.org/drawingml/2006/main">
              <a:ext uri="{FF2B5EF4-FFF2-40B4-BE49-F238E27FC236}">
                <a16:creationId xmlns:a16="http://schemas.microsoft.com/office/drawing/2014/main" id="{A04E8207-A530-42FB-8966-F8B03246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10220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screening_results — scores and evidence</a:t>
            </a:r>
          </a:p>
        </p:txBody>
      </p:sp>
      <p:sp>
        <p:nvSpPr>
          <p:cNvPr id="1048920" name="">
            <a:extLst xmlns:a="http://schemas.openxmlformats.org/drawingml/2006/main">
              <a:ext uri="{FF2B5EF4-FFF2-40B4-BE49-F238E27FC236}">
                <a16:creationId xmlns:a16="http://schemas.microsoft.com/office/drawing/2014/main" id="{CB4FCA5D-7FC4-442C-BF75-D5A6DC55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05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921" name="">
            <a:extLst xmlns:a="http://schemas.openxmlformats.org/drawingml/2006/main">
              <a:ext uri="{FF2B5EF4-FFF2-40B4-BE49-F238E27FC236}">
                <a16:creationId xmlns:a16="http://schemas.microsoft.com/office/drawing/2014/main" id="{199FBEBD-BDE5-4B18-A96E-D07CAB82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38875"/>
            <a:ext cx="10220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audit_log — reviewer action and time</a:t>
            </a:r>
          </a:p>
        </p:txBody>
      </p:sp>
      <p:sp>
        <p:nvSpPr>
          <p:cNvPr id="1048922" name="">
            <a:extLst xmlns:a="http://schemas.openxmlformats.org/drawingml/2006/main">
              <a:ext uri="{FF2B5EF4-FFF2-40B4-BE49-F238E27FC236}">
                <a16:creationId xmlns:a16="http://schemas.microsoft.com/office/drawing/2014/main" id="{57698657-3553-44E6-B9DF-B019BDF1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139636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926" name="">
            <a:extLst xmlns:a="http://schemas.openxmlformats.org/drawingml/2006/main">
              <a:ext uri="{FF2B5EF4-FFF2-40B4-BE49-F238E27FC236}">
                <a16:creationId xmlns:a16="http://schemas.microsoft.com/office/drawing/2014/main" id="{EFCB51CF-69FF-4F1C-98DA-A2665301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48927" name="">
            <a:extLst xmlns:a="http://schemas.openxmlformats.org/drawingml/2006/main">
              <a:ext uri="{FF2B5EF4-FFF2-40B4-BE49-F238E27FC236}">
                <a16:creationId xmlns:a16="http://schemas.microsoft.com/office/drawing/2014/main" id="{260577EB-02B4-4F22-84EC-5346A1B1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23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928" name="">
            <a:extLst xmlns:a="http://schemas.openxmlformats.org/drawingml/2006/main">
              <a:ext uri="{FF2B5EF4-FFF2-40B4-BE49-F238E27FC236}">
                <a16:creationId xmlns:a16="http://schemas.microsoft.com/office/drawing/2014/main" id="{91FF1337-EB82-4168-B5C7-50DC1902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1048929" name="">
            <a:extLst xmlns:a="http://schemas.openxmlformats.org/drawingml/2006/main">
              <a:ext uri="{FF2B5EF4-FFF2-40B4-BE49-F238E27FC236}">
                <a16:creationId xmlns:a16="http://schemas.microsoft.com/office/drawing/2014/main" id="{15F22585-295C-490E-9DEA-08093C17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Responsible AI controls reduce unfair or unsafe decisions</a:t>
            </a:r>
          </a:p>
        </p:txBody>
      </p:sp>
      <p:sp>
        <p:nvSpPr>
          <p:cNvPr id="1048930" name="">
            <a:extLst xmlns:a="http://schemas.openxmlformats.org/drawingml/2006/main">
              <a:ext uri="{FF2B5EF4-FFF2-40B4-BE49-F238E27FC236}">
                <a16:creationId xmlns:a16="http://schemas.microsoft.com/office/drawing/2014/main" id="{24DD3342-8DC3-4F6A-8A7F-E7ABB19F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1048931" name="">
            <a:extLst xmlns:a="http://schemas.openxmlformats.org/drawingml/2006/main">
              <a:ext uri="{FF2B5EF4-FFF2-40B4-BE49-F238E27FC236}">
                <a16:creationId xmlns:a16="http://schemas.microsoft.com/office/drawing/2014/main" id="{74BBF0B5-9DB5-4E9C-85D5-F017196E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809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932" name="">
            <a:extLst xmlns:a="http://schemas.openxmlformats.org/drawingml/2006/main">
              <a:ext uri="{FF2B5EF4-FFF2-40B4-BE49-F238E27FC236}">
                <a16:creationId xmlns:a16="http://schemas.microsoft.com/office/drawing/2014/main" id="{B63AAB9E-5442-4F7C-A414-C9C9FBB7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C0392B"/>
                </a:solidFill>
              </a:defRPr>
            </a:pPr>
            <a:r>
              <a:rPr sz="1575" b="1">
                <a:solidFill>
                  <a:srgbClr val="C0392B"/>
                </a:solidFill>
              </a:rPr>
              <a:t>Bias</a:t>
            </a:r>
          </a:p>
        </p:txBody>
      </p:sp>
      <p:sp>
        <p:nvSpPr>
          <p:cNvPr id="1048933" name="">
            <a:extLst xmlns:a="http://schemas.openxmlformats.org/drawingml/2006/main">
              <a:ext uri="{FF2B5EF4-FFF2-40B4-BE49-F238E27FC236}">
                <a16:creationId xmlns:a16="http://schemas.microsoft.com/office/drawing/2014/main" id="{B9C03414-C211-404E-87EB-8EAE7709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66875"/>
            <a:ext cx="823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Do not score gender, age, photo, religion or address.</a:t>
            </a:r>
          </a:p>
        </p:txBody>
      </p:sp>
      <p:sp>
        <p:nvSpPr>
          <p:cNvPr id="1048934" name="">
            <a:extLst xmlns:a="http://schemas.openxmlformats.org/drawingml/2006/main">
              <a:ext uri="{FF2B5EF4-FFF2-40B4-BE49-F238E27FC236}">
                <a16:creationId xmlns:a16="http://schemas.microsoft.com/office/drawing/2014/main" id="{93E66992-31AF-4671-9FA8-C06CB2A4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809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935" name="">
            <a:extLst xmlns:a="http://schemas.openxmlformats.org/drawingml/2006/main">
              <a:ext uri="{FF2B5EF4-FFF2-40B4-BE49-F238E27FC236}">
                <a16:creationId xmlns:a16="http://schemas.microsoft.com/office/drawing/2014/main" id="{8F16CC0E-6853-4DBA-BBCE-61EEF338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46BFD"/>
                </a:solidFill>
              </a:defRPr>
            </a:pPr>
            <a:r>
              <a:rPr sz="1575" b="1">
                <a:solidFill>
                  <a:srgbClr val="246BFD"/>
                </a:solidFill>
              </a:rPr>
              <a:t>Privacy</a:t>
            </a:r>
          </a:p>
        </p:txBody>
      </p:sp>
      <p:sp>
        <p:nvSpPr>
          <p:cNvPr id="1048936" name="">
            <a:extLst xmlns:a="http://schemas.openxmlformats.org/drawingml/2006/main">
              <a:ext uri="{FF2B5EF4-FFF2-40B4-BE49-F238E27FC236}">
                <a16:creationId xmlns:a16="http://schemas.microsoft.com/office/drawing/2014/main" id="{E93D635C-8CF8-482A-8A33-18FE8D48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43175"/>
            <a:ext cx="823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Collect only required data; encrypt files; define deletion period.</a:t>
            </a:r>
          </a:p>
        </p:txBody>
      </p:sp>
      <p:sp>
        <p:nvSpPr>
          <p:cNvPr id="1048937" name="">
            <a:extLst xmlns:a="http://schemas.openxmlformats.org/drawingml/2006/main">
              <a:ext uri="{FF2B5EF4-FFF2-40B4-BE49-F238E27FC236}">
                <a16:creationId xmlns:a16="http://schemas.microsoft.com/office/drawing/2014/main" id="{61A27441-C74C-4699-9305-2069449F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809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938" name="">
            <a:extLst xmlns:a="http://schemas.openxmlformats.org/drawingml/2006/main">
              <a:ext uri="{FF2B5EF4-FFF2-40B4-BE49-F238E27FC236}">
                <a16:creationId xmlns:a16="http://schemas.microsoft.com/office/drawing/2014/main" id="{B3BA3B36-27E7-4D4F-9974-6364C489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956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46BFD"/>
                </a:solidFill>
              </a:defRPr>
            </a:pPr>
            <a:r>
              <a:rPr sz="1575" b="1">
                <a:solidFill>
                  <a:srgbClr val="246BFD"/>
                </a:solidFill>
              </a:rPr>
              <a:t>Transparency</a:t>
            </a:r>
          </a:p>
        </p:txBody>
      </p:sp>
      <p:sp>
        <p:nvSpPr>
          <p:cNvPr id="1048939" name="">
            <a:extLst xmlns:a="http://schemas.openxmlformats.org/drawingml/2006/main">
              <a:ext uri="{FF2B5EF4-FFF2-40B4-BE49-F238E27FC236}">
                <a16:creationId xmlns:a16="http://schemas.microsoft.com/office/drawing/2014/main" id="{9A05E34C-B701-4220-9FEF-5C8ED450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19475"/>
            <a:ext cx="823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Show score breakdown and matching evidence.</a:t>
            </a:r>
          </a:p>
        </p:txBody>
      </p:sp>
      <p:sp>
        <p:nvSpPr>
          <p:cNvPr id="1048940" name="">
            <a:extLst xmlns:a="http://schemas.openxmlformats.org/drawingml/2006/main">
              <a:ext uri="{FF2B5EF4-FFF2-40B4-BE49-F238E27FC236}">
                <a16:creationId xmlns:a16="http://schemas.microsoft.com/office/drawing/2014/main" id="{38C9CBC8-B3F8-4B81-B2A0-24DDBDAB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809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941" name="">
            <a:extLst xmlns:a="http://schemas.openxmlformats.org/drawingml/2006/main">
              <a:ext uri="{FF2B5EF4-FFF2-40B4-BE49-F238E27FC236}">
                <a16:creationId xmlns:a16="http://schemas.microsoft.com/office/drawing/2014/main" id="{D8C23FE6-8BCD-4E62-9BAC-BD4015EE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46BFD"/>
                </a:solidFill>
              </a:defRPr>
            </a:pPr>
            <a:r>
              <a:rPr sz="1575" b="1">
                <a:solidFill>
                  <a:srgbClr val="246BFD"/>
                </a:solidFill>
              </a:rPr>
              <a:t>Human control</a:t>
            </a:r>
          </a:p>
        </p:txBody>
      </p:sp>
      <p:sp>
        <p:nvSpPr>
          <p:cNvPr id="1048942" name="">
            <a:extLst xmlns:a="http://schemas.openxmlformats.org/drawingml/2006/main">
              <a:ext uri="{FF2B5EF4-FFF2-40B4-BE49-F238E27FC236}">
                <a16:creationId xmlns:a16="http://schemas.microsoft.com/office/drawing/2014/main" id="{0EE0C615-488B-4105-9BCC-DDEF9867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95775"/>
            <a:ext cx="823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Recruiter reviews borderline and rejected candidates.</a:t>
            </a:r>
          </a:p>
        </p:txBody>
      </p:sp>
      <p:sp>
        <p:nvSpPr>
          <p:cNvPr id="1048943" name="">
            <a:extLst xmlns:a="http://schemas.openxmlformats.org/drawingml/2006/main">
              <a:ext uri="{FF2B5EF4-FFF2-40B4-BE49-F238E27FC236}">
                <a16:creationId xmlns:a16="http://schemas.microsoft.com/office/drawing/2014/main" id="{FAF3A9D6-1269-46BB-9A46-A08E84EB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809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944" name="">
            <a:extLst xmlns:a="http://schemas.openxmlformats.org/drawingml/2006/main">
              <a:ext uri="{FF2B5EF4-FFF2-40B4-BE49-F238E27FC236}">
                <a16:creationId xmlns:a16="http://schemas.microsoft.com/office/drawing/2014/main" id="{A63E0DA0-9F15-4B42-BBAB-591B2FB6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482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46BFD"/>
                </a:solidFill>
              </a:defRPr>
            </a:pPr>
            <a:r>
              <a:rPr sz="1575" b="1">
                <a:solidFill>
                  <a:srgbClr val="246BFD"/>
                </a:solidFill>
              </a:rPr>
              <a:t>Auditability</a:t>
            </a:r>
          </a:p>
        </p:txBody>
      </p:sp>
      <p:sp>
        <p:nvSpPr>
          <p:cNvPr id="1048945" name="">
            <a:extLst xmlns:a="http://schemas.openxmlformats.org/drawingml/2006/main">
              <a:ext uri="{FF2B5EF4-FFF2-40B4-BE49-F238E27FC236}">
                <a16:creationId xmlns:a16="http://schemas.microsoft.com/office/drawing/2014/main" id="{5C41ADBB-1471-4D61-AC9D-ABF92C51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172075"/>
            <a:ext cx="823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Store model version, weights and reviewer action.</a:t>
            </a:r>
          </a:p>
        </p:txBody>
      </p:sp>
      <p:sp>
        <p:nvSpPr>
          <p:cNvPr id="1048946" name="">
            <a:extLst xmlns:a="http://schemas.openxmlformats.org/drawingml/2006/main">
              <a:ext uri="{FF2B5EF4-FFF2-40B4-BE49-F238E27FC236}">
                <a16:creationId xmlns:a16="http://schemas.microsoft.com/office/drawing/2014/main" id="{56FF9617-F1D4-4916-A43D-0D31A28F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316095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950" name="">
            <a:extLst xmlns:a="http://schemas.openxmlformats.org/drawingml/2006/main">
              <a:ext uri="{FF2B5EF4-FFF2-40B4-BE49-F238E27FC236}">
                <a16:creationId xmlns:a16="http://schemas.microsoft.com/office/drawing/2014/main" id="{2AA5745B-F37F-4DD0-86AD-8448CC2B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48951" name="">
            <a:extLst xmlns:a="http://schemas.openxmlformats.org/drawingml/2006/main">
              <a:ext uri="{FF2B5EF4-FFF2-40B4-BE49-F238E27FC236}">
                <a16:creationId xmlns:a16="http://schemas.microsoft.com/office/drawing/2014/main" id="{AC5BB308-8CB3-43E2-B3FF-8C8592B8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23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952" name="">
            <a:extLst xmlns:a="http://schemas.openxmlformats.org/drawingml/2006/main">
              <a:ext uri="{FF2B5EF4-FFF2-40B4-BE49-F238E27FC236}">
                <a16:creationId xmlns:a16="http://schemas.microsoft.com/office/drawing/2014/main" id="{049251F3-F608-4618-B115-5A7F23CD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FACT-BASED CONTEXT</a:t>
            </a:r>
          </a:p>
        </p:txBody>
      </p:sp>
      <p:sp>
        <p:nvSpPr>
          <p:cNvPr id="1048953" name="">
            <a:extLst xmlns:a="http://schemas.openxmlformats.org/drawingml/2006/main">
              <a:ext uri="{FF2B5EF4-FFF2-40B4-BE49-F238E27FC236}">
                <a16:creationId xmlns:a16="http://schemas.microsoft.com/office/drawing/2014/main" id="{B75F9839-AAAA-473F-8A36-D270D827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Facts show why responsible AI hiring matters</a:t>
            </a:r>
          </a:p>
        </p:txBody>
      </p:sp>
      <p:sp>
        <p:nvSpPr>
          <p:cNvPr id="1048954" name="">
            <a:extLst xmlns:a="http://schemas.openxmlformats.org/drawingml/2006/main">
              <a:ext uri="{FF2B5EF4-FFF2-40B4-BE49-F238E27FC236}">
                <a16:creationId xmlns:a16="http://schemas.microsoft.com/office/drawing/2014/main" id="{7735B1EE-EA50-46DF-A0AA-B324ED9F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1048955" name="">
            <a:extLst xmlns:a="http://schemas.openxmlformats.org/drawingml/2006/main">
              <a:ext uri="{FF2B5EF4-FFF2-40B4-BE49-F238E27FC236}">
                <a16:creationId xmlns:a16="http://schemas.microsoft.com/office/drawing/2014/main" id="{C8FB26BD-1D64-4247-A730-BD3A316B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095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956" name="">
            <a:extLst xmlns:a="http://schemas.openxmlformats.org/drawingml/2006/main">
              <a:ext uri="{FF2B5EF4-FFF2-40B4-BE49-F238E27FC236}">
                <a16:creationId xmlns:a16="http://schemas.microsoft.com/office/drawing/2014/main" id="{90081F91-9AE0-4E18-8FDD-121038C1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2880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46BFD"/>
                </a:solidFill>
              </a:defRPr>
            </a:pPr>
            <a:r>
              <a:rPr sz="2550" b="1">
                <a:solidFill>
                  <a:srgbClr val="246BFD"/>
                </a:solidFill>
              </a:rPr>
              <a:t>86%</a:t>
            </a:r>
          </a:p>
        </p:txBody>
      </p:sp>
      <p:sp>
        <p:nvSpPr>
          <p:cNvPr id="1048957" name="">
            <a:extLst xmlns:a="http://schemas.openxmlformats.org/drawingml/2006/main">
              <a:ext uri="{FF2B5EF4-FFF2-40B4-BE49-F238E27FC236}">
                <a16:creationId xmlns:a16="http://schemas.microsoft.com/office/drawing/2014/main" id="{BA7FEABB-EF71-4F84-8565-850C8D69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09750"/>
            <a:ext cx="300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of surveyed employers expect AI and information processing to transform their business by 2030.</a:t>
            </a:r>
          </a:p>
        </p:txBody>
      </p:sp>
      <p:sp>
        <p:nvSpPr>
          <p:cNvPr id="1048958" name="">
            <a:extLst xmlns:a="http://schemas.openxmlformats.org/drawingml/2006/main">
              <a:ext uri="{FF2B5EF4-FFF2-40B4-BE49-F238E27FC236}">
                <a16:creationId xmlns:a16="http://schemas.microsoft.com/office/drawing/2014/main" id="{87C1FCB4-B6BF-402F-87D4-3101360B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718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World Economic Forum, Future of Jobs Report 2025</a:t>
            </a:r>
          </a:p>
        </p:txBody>
      </p:sp>
      <p:sp>
        <p:nvSpPr>
          <p:cNvPr id="1048959" name="">
            <a:extLst xmlns:a="http://schemas.openxmlformats.org/drawingml/2006/main">
              <a:ext uri="{FF2B5EF4-FFF2-40B4-BE49-F238E27FC236}">
                <a16:creationId xmlns:a16="http://schemas.microsoft.com/office/drawing/2014/main" id="{1BE9239A-CC76-49EB-8110-90BCCE85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095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960" name="">
            <a:extLst xmlns:a="http://schemas.openxmlformats.org/drawingml/2006/main">
              <a:ext uri="{FF2B5EF4-FFF2-40B4-BE49-F238E27FC236}">
                <a16:creationId xmlns:a16="http://schemas.microsoft.com/office/drawing/2014/main" id="{697E3AAE-E37B-425A-91E4-0B0D1E27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2880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46BFD"/>
                </a:solidFill>
              </a:defRPr>
            </a:pPr>
            <a:r>
              <a:rPr sz="2550" b="1">
                <a:solidFill>
                  <a:srgbClr val="246BFD"/>
                </a:solidFill>
              </a:rPr>
              <a:t>77%</a:t>
            </a:r>
          </a:p>
        </p:txBody>
      </p:sp>
      <p:sp>
        <p:nvSpPr>
          <p:cNvPr id="1048961" name="">
            <a:extLst xmlns:a="http://schemas.openxmlformats.org/drawingml/2006/main">
              <a:ext uri="{FF2B5EF4-FFF2-40B4-BE49-F238E27FC236}">
                <a16:creationId xmlns:a16="http://schemas.microsoft.com/office/drawing/2014/main" id="{87711E49-28E9-4DD8-B980-C130002A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00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plan to reskill or upskill workers in response to AI-driven change.</a:t>
            </a:r>
          </a:p>
        </p:txBody>
      </p:sp>
      <p:sp>
        <p:nvSpPr>
          <p:cNvPr id="1048962" name="">
            <a:extLst xmlns:a="http://schemas.openxmlformats.org/drawingml/2006/main">
              <a:ext uri="{FF2B5EF4-FFF2-40B4-BE49-F238E27FC236}">
                <a16:creationId xmlns:a16="http://schemas.microsoft.com/office/drawing/2014/main" id="{12490B05-9BD0-486F-A5AF-FDDCC923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718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World Economic Forum, Future of Jobs Report 2025</a:t>
            </a:r>
          </a:p>
        </p:txBody>
      </p:sp>
      <p:sp>
        <p:nvSpPr>
          <p:cNvPr id="1048963" name="">
            <a:extLst xmlns:a="http://schemas.openxmlformats.org/drawingml/2006/main">
              <a:ext uri="{FF2B5EF4-FFF2-40B4-BE49-F238E27FC236}">
                <a16:creationId xmlns:a16="http://schemas.microsoft.com/office/drawing/2014/main" id="{FABBB397-B104-467A-8F78-7D595148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5095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964" name="">
            <a:extLst xmlns:a="http://schemas.openxmlformats.org/drawingml/2006/main">
              <a:ext uri="{FF2B5EF4-FFF2-40B4-BE49-F238E27FC236}">
                <a16:creationId xmlns:a16="http://schemas.microsoft.com/office/drawing/2014/main" id="{C9577A16-6BA2-432C-8BEA-1C33F876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97192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46BFD"/>
                </a:solidFill>
              </a:defRPr>
            </a:pPr>
            <a:r>
              <a:rPr sz="2550" b="1">
                <a:solidFill>
                  <a:srgbClr val="246BFD"/>
                </a:solidFill>
              </a:rPr>
              <a:t>Bias audit</a:t>
            </a:r>
          </a:p>
        </p:txBody>
      </p:sp>
      <p:sp>
        <p:nvSpPr>
          <p:cNvPr id="1048965" name="">
            <a:extLst xmlns:a="http://schemas.openxmlformats.org/drawingml/2006/main">
              <a:ext uri="{FF2B5EF4-FFF2-40B4-BE49-F238E27FC236}">
                <a16:creationId xmlns:a16="http://schemas.microsoft.com/office/drawing/2014/main" id="{68F278BE-3574-471B-853F-E6F12B08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52875"/>
            <a:ext cx="300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New York City requires certain automated employment decision tools to receive a recent independent bias audit and candidate notice.</a:t>
            </a:r>
          </a:p>
        </p:txBody>
      </p:sp>
      <p:sp>
        <p:nvSpPr>
          <p:cNvPr id="1048966" name="">
            <a:extLst xmlns:a="http://schemas.openxmlformats.org/drawingml/2006/main">
              <a:ext uri="{FF2B5EF4-FFF2-40B4-BE49-F238E27FC236}">
                <a16:creationId xmlns:a16="http://schemas.microsoft.com/office/drawing/2014/main" id="{DE73E512-E99D-4963-8B2C-8CCB4D51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1149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NYC DCWP, Local Law 144</a:t>
            </a:r>
          </a:p>
        </p:txBody>
      </p:sp>
      <p:sp>
        <p:nvSpPr>
          <p:cNvPr id="1048967" name="">
            <a:extLst xmlns:a="http://schemas.openxmlformats.org/drawingml/2006/main">
              <a:ext uri="{FF2B5EF4-FFF2-40B4-BE49-F238E27FC236}">
                <a16:creationId xmlns:a16="http://schemas.microsoft.com/office/drawing/2014/main" id="{7FFF3D25-AE47-4D82-956E-31D10A96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5095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968" name="">
            <a:extLst xmlns:a="http://schemas.openxmlformats.org/drawingml/2006/main">
              <a:ext uri="{FF2B5EF4-FFF2-40B4-BE49-F238E27FC236}">
                <a16:creationId xmlns:a16="http://schemas.microsoft.com/office/drawing/2014/main" id="{A09C2411-27D9-4CC9-8E51-CA112D16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7192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46BFD"/>
                </a:solidFill>
              </a:defRPr>
            </a:pPr>
            <a:r>
              <a:rPr sz="2550" b="1">
                <a:solidFill>
                  <a:srgbClr val="246BFD"/>
                </a:solidFill>
              </a:rPr>
              <a:t>High-risk</a:t>
            </a:r>
          </a:p>
        </p:txBody>
      </p:sp>
      <p:sp>
        <p:nvSpPr>
          <p:cNvPr id="1048969" name="">
            <a:extLst xmlns:a="http://schemas.openxmlformats.org/drawingml/2006/main">
              <a:ext uri="{FF2B5EF4-FFF2-40B4-BE49-F238E27FC236}">
                <a16:creationId xmlns:a16="http://schemas.microsoft.com/office/drawing/2014/main" id="{F7D17252-8F9B-4122-9211-EA82211B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52875"/>
            <a:ext cx="300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The EU AI Act treats AI used to analyse and filter job applications as a high-risk employment use case.</a:t>
            </a:r>
          </a:p>
        </p:txBody>
      </p:sp>
      <p:sp>
        <p:nvSpPr>
          <p:cNvPr id="1048970" name="">
            <a:extLst xmlns:a="http://schemas.openxmlformats.org/drawingml/2006/main">
              <a:ext uri="{FF2B5EF4-FFF2-40B4-BE49-F238E27FC236}">
                <a16:creationId xmlns:a16="http://schemas.microsoft.com/office/drawing/2014/main" id="{3992CBAE-3649-4A49-905D-9C2AA69B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1149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European Commission, AI Act guidance</a:t>
            </a:r>
          </a:p>
        </p:txBody>
      </p:sp>
      <p:sp>
        <p:nvSpPr>
          <p:cNvPr id="1048971" name="">
            <a:extLst xmlns:a="http://schemas.openxmlformats.org/drawingml/2006/main">
              <a:ext uri="{FF2B5EF4-FFF2-40B4-BE49-F238E27FC236}">
                <a16:creationId xmlns:a16="http://schemas.microsoft.com/office/drawing/2014/main" id="{DAEB2575-7E5D-46B5-8FE7-369792A9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Sources: weforum.org/publications/the-future-of-jobs-report-2025 • nyc.gov/site/dca/about/automated-employment-decision-tools • digital-strategy.ec.europa.eu</a:t>
            </a:r>
          </a:p>
        </p:txBody>
      </p:sp>
      <p:sp>
        <p:nvSpPr>
          <p:cNvPr id="1048972" name="">
            <a:extLst xmlns:a="http://schemas.openxmlformats.org/drawingml/2006/main">
              <a:ext uri="{FF2B5EF4-FFF2-40B4-BE49-F238E27FC236}">
                <a16:creationId xmlns:a16="http://schemas.microsoft.com/office/drawing/2014/main" id="{73F88BDC-F303-4A3E-B823-FDB93FBA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63580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976" name="">
            <a:extLst xmlns:a="http://schemas.openxmlformats.org/drawingml/2006/main">
              <a:ext uri="{FF2B5EF4-FFF2-40B4-BE49-F238E27FC236}">
                <a16:creationId xmlns:a16="http://schemas.microsoft.com/office/drawing/2014/main" id="{FE14E125-83EB-404E-A589-26F3C4DA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48977" name="">
            <a:extLst xmlns:a="http://schemas.openxmlformats.org/drawingml/2006/main">
              <a:ext uri="{FF2B5EF4-FFF2-40B4-BE49-F238E27FC236}">
                <a16:creationId xmlns:a16="http://schemas.microsoft.com/office/drawing/2014/main" id="{5F6610BE-3B7F-4EDF-B6A8-EFB7E826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23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8978" name="">
            <a:extLst xmlns:a="http://schemas.openxmlformats.org/drawingml/2006/main">
              <a:ext uri="{FF2B5EF4-FFF2-40B4-BE49-F238E27FC236}">
                <a16:creationId xmlns:a16="http://schemas.microsoft.com/office/drawing/2014/main" id="{6EBB89C0-53B0-411B-906C-5FDE3926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1048979" name="">
            <a:extLst xmlns:a="http://schemas.openxmlformats.org/drawingml/2006/main">
              <a:ext uri="{FF2B5EF4-FFF2-40B4-BE49-F238E27FC236}">
                <a16:creationId xmlns:a16="http://schemas.microsoft.com/office/drawing/2014/main" id="{54EE3E2A-98F0-4A66-9997-F2BAEB5D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Testing proves the system is useful, stable and fair</a:t>
            </a:r>
          </a:p>
        </p:txBody>
      </p:sp>
      <p:sp>
        <p:nvSpPr>
          <p:cNvPr id="1048980" name="">
            <a:extLst xmlns:a="http://schemas.openxmlformats.org/drawingml/2006/main">
              <a:ext uri="{FF2B5EF4-FFF2-40B4-BE49-F238E27FC236}">
                <a16:creationId xmlns:a16="http://schemas.microsoft.com/office/drawing/2014/main" id="{DA9F095B-5EA0-4D1A-BB91-ACA611B4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1048981" name="">
            <a:extLst xmlns:a="http://schemas.openxmlformats.org/drawingml/2006/main">
              <a:ext uri="{FF2B5EF4-FFF2-40B4-BE49-F238E27FC236}">
                <a16:creationId xmlns:a16="http://schemas.microsoft.com/office/drawing/2014/main" id="{2C1642B7-CAC1-44AE-ACE1-5C247055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333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982" name="">
            <a:extLst xmlns:a="http://schemas.openxmlformats.org/drawingml/2006/main">
              <a:ext uri="{FF2B5EF4-FFF2-40B4-BE49-F238E27FC236}">
                <a16:creationId xmlns:a16="http://schemas.microsoft.com/office/drawing/2014/main" id="{82748668-791E-41F4-ADA5-B5E86E23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7642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6BFD"/>
                </a:solidFill>
              </a:defRPr>
            </a:pPr>
            <a:r>
              <a:rPr sz="1725" b="1">
                <a:solidFill>
                  <a:srgbClr val="246BFD"/>
                </a:solidFill>
              </a:rPr>
              <a:t>Functional</a:t>
            </a:r>
          </a:p>
        </p:txBody>
      </p:sp>
      <p:sp>
        <p:nvSpPr>
          <p:cNvPr id="1048983" name="">
            <a:extLst xmlns:a="http://schemas.openxmlformats.org/drawingml/2006/main">
              <a:ext uri="{FF2B5EF4-FFF2-40B4-BE49-F238E27FC236}">
                <a16:creationId xmlns:a16="http://schemas.microsoft.com/office/drawing/2014/main" id="{0B730DEB-682D-493E-9502-796A7782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2914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Upload, extraction, matching and report work correctly</a:t>
            </a:r>
          </a:p>
        </p:txBody>
      </p:sp>
      <p:sp>
        <p:nvSpPr>
          <p:cNvPr id="1048984" name="">
            <a:extLst xmlns:a="http://schemas.openxmlformats.org/drawingml/2006/main">
              <a:ext uri="{FF2B5EF4-FFF2-40B4-BE49-F238E27FC236}">
                <a16:creationId xmlns:a16="http://schemas.microsoft.com/office/drawing/2014/main" id="{601F2C75-E000-46ED-B5D4-7FFF1366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66875"/>
            <a:ext cx="3333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985" name="">
            <a:extLst xmlns:a="http://schemas.openxmlformats.org/drawingml/2006/main">
              <a:ext uri="{FF2B5EF4-FFF2-40B4-BE49-F238E27FC236}">
                <a16:creationId xmlns:a16="http://schemas.microsoft.com/office/drawing/2014/main" id="{788B2DF0-3C89-483E-94FE-5BB757B2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7642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6BFD"/>
                </a:solidFill>
              </a:defRPr>
            </a:pPr>
            <a:r>
              <a:rPr sz="1725" b="1">
                <a:solidFill>
                  <a:srgbClr val="246BFD"/>
                </a:solidFill>
              </a:rPr>
              <a:t>Accuracy</a:t>
            </a:r>
          </a:p>
        </p:txBody>
      </p:sp>
      <p:sp>
        <p:nvSpPr>
          <p:cNvPr id="1048986" name="">
            <a:extLst xmlns:a="http://schemas.openxmlformats.org/drawingml/2006/main">
              <a:ext uri="{FF2B5EF4-FFF2-40B4-BE49-F238E27FC236}">
                <a16:creationId xmlns:a16="http://schemas.microsoft.com/office/drawing/2014/main" id="{B93AB042-2EA9-4FA3-BB06-C2F4042F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86000"/>
            <a:ext cx="2914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Compare system ranking with expert-reviewed sample resumes</a:t>
            </a:r>
          </a:p>
        </p:txBody>
      </p:sp>
      <p:sp>
        <p:nvSpPr>
          <p:cNvPr id="1048987" name="">
            <a:extLst xmlns:a="http://schemas.openxmlformats.org/drawingml/2006/main">
              <a:ext uri="{FF2B5EF4-FFF2-40B4-BE49-F238E27FC236}">
                <a16:creationId xmlns:a16="http://schemas.microsoft.com/office/drawing/2014/main" id="{8F5F3486-FA2C-41CD-8AC6-68DDFA56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66875"/>
            <a:ext cx="3333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988" name="">
            <a:extLst xmlns:a="http://schemas.openxmlformats.org/drawingml/2006/main">
              <a:ext uri="{FF2B5EF4-FFF2-40B4-BE49-F238E27FC236}">
                <a16:creationId xmlns:a16="http://schemas.microsoft.com/office/drawing/2014/main" id="{2DFEAF71-C4D5-48E8-9FA9-3CC554C3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7642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6BFD"/>
                </a:solidFill>
              </a:defRPr>
            </a:pPr>
            <a:r>
              <a:rPr sz="1725" b="1">
                <a:solidFill>
                  <a:srgbClr val="246BFD"/>
                </a:solidFill>
              </a:rPr>
              <a:t>Performance</a:t>
            </a:r>
          </a:p>
        </p:txBody>
      </p:sp>
      <p:sp>
        <p:nvSpPr>
          <p:cNvPr id="1048989" name="">
            <a:extLst xmlns:a="http://schemas.openxmlformats.org/drawingml/2006/main">
              <a:ext uri="{FF2B5EF4-FFF2-40B4-BE49-F238E27FC236}">
                <a16:creationId xmlns:a16="http://schemas.microsoft.com/office/drawing/2014/main" id="{CE7497F1-339F-4260-AEC0-4A28FC28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0"/>
            <a:ext cx="2914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Measure processing time for 10, 50 and 100 resumes</a:t>
            </a:r>
          </a:p>
        </p:txBody>
      </p:sp>
      <p:sp>
        <p:nvSpPr>
          <p:cNvPr id="1048990" name="">
            <a:extLst xmlns:a="http://schemas.openxmlformats.org/drawingml/2006/main">
              <a:ext uri="{FF2B5EF4-FFF2-40B4-BE49-F238E27FC236}">
                <a16:creationId xmlns:a16="http://schemas.microsoft.com/office/drawing/2014/main" id="{6C02F8D9-E108-46CC-8463-13A7C05C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57625"/>
            <a:ext cx="3714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991" name="">
            <a:extLst xmlns:a="http://schemas.openxmlformats.org/drawingml/2006/main">
              <a:ext uri="{FF2B5EF4-FFF2-40B4-BE49-F238E27FC236}">
                <a16:creationId xmlns:a16="http://schemas.microsoft.com/office/drawing/2014/main" id="{5C174D69-228C-41DE-8ACE-A8C4E8C6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67175"/>
            <a:ext cx="329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6BFD"/>
                </a:solidFill>
              </a:defRPr>
            </a:pPr>
            <a:r>
              <a:rPr sz="1725" b="1">
                <a:solidFill>
                  <a:srgbClr val="246BFD"/>
                </a:solidFill>
              </a:rPr>
              <a:t>Security</a:t>
            </a:r>
          </a:p>
        </p:txBody>
      </p:sp>
      <p:sp>
        <p:nvSpPr>
          <p:cNvPr id="1048992" name="">
            <a:extLst xmlns:a="http://schemas.openxmlformats.org/drawingml/2006/main">
              <a:ext uri="{FF2B5EF4-FFF2-40B4-BE49-F238E27FC236}">
                <a16:creationId xmlns:a16="http://schemas.microsoft.com/office/drawing/2014/main" id="{B3B0AA7C-256C-4BB8-84CC-08D23022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76750"/>
            <a:ext cx="3295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Reject unsupported files; protect stored data</a:t>
            </a:r>
          </a:p>
        </p:txBody>
      </p:sp>
      <p:sp>
        <p:nvSpPr>
          <p:cNvPr id="1048993" name="">
            <a:extLst xmlns:a="http://schemas.openxmlformats.org/drawingml/2006/main">
              <a:ext uri="{FF2B5EF4-FFF2-40B4-BE49-F238E27FC236}">
                <a16:creationId xmlns:a16="http://schemas.microsoft.com/office/drawing/2014/main" id="{CCABE2FC-26C9-41D3-BB4E-69228640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3714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48994" name="">
            <a:extLst xmlns:a="http://schemas.openxmlformats.org/drawingml/2006/main">
              <a:ext uri="{FF2B5EF4-FFF2-40B4-BE49-F238E27FC236}">
                <a16:creationId xmlns:a16="http://schemas.microsoft.com/office/drawing/2014/main" id="{600288BF-18E0-461B-B6F8-E6A463F6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67175"/>
            <a:ext cx="329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6BFD"/>
                </a:solidFill>
              </a:defRPr>
            </a:pPr>
            <a:r>
              <a:rPr sz="1725" b="1">
                <a:solidFill>
                  <a:srgbClr val="246BFD"/>
                </a:solidFill>
              </a:rPr>
              <a:t>Fairness</a:t>
            </a:r>
          </a:p>
        </p:txBody>
      </p:sp>
      <p:sp>
        <p:nvSpPr>
          <p:cNvPr id="1048995" name="">
            <a:extLst xmlns:a="http://schemas.openxmlformats.org/drawingml/2006/main">
              <a:ext uri="{FF2B5EF4-FFF2-40B4-BE49-F238E27FC236}">
                <a16:creationId xmlns:a16="http://schemas.microsoft.com/office/drawing/2014/main" id="{4064B8AB-3159-40E6-9D1C-83FFE292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76750"/>
            <a:ext cx="3295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Check whether removing personal fields changes ranking</a:t>
            </a:r>
          </a:p>
        </p:txBody>
      </p:sp>
      <p:sp>
        <p:nvSpPr>
          <p:cNvPr id="1048996" name="">
            <a:extLst xmlns:a="http://schemas.openxmlformats.org/drawingml/2006/main">
              <a:ext uri="{FF2B5EF4-FFF2-40B4-BE49-F238E27FC236}">
                <a16:creationId xmlns:a16="http://schemas.microsoft.com/office/drawing/2014/main" id="{B6CFC66E-5F81-4847-989F-6E892D7E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326359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9000" name="">
            <a:extLst xmlns:a="http://schemas.openxmlformats.org/drawingml/2006/main">
              <a:ext uri="{FF2B5EF4-FFF2-40B4-BE49-F238E27FC236}">
                <a16:creationId xmlns:a16="http://schemas.microsoft.com/office/drawing/2014/main" id="{BC04E6DC-3E26-4328-9C54-67DFA92A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49001" name="">
            <a:extLst xmlns:a="http://schemas.openxmlformats.org/drawingml/2006/main">
              <a:ext uri="{FF2B5EF4-FFF2-40B4-BE49-F238E27FC236}">
                <a16:creationId xmlns:a16="http://schemas.microsoft.com/office/drawing/2014/main" id="{7C430D98-CD77-49FA-A374-C73B7B3F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23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9002" name="">
            <a:extLst xmlns:a="http://schemas.openxmlformats.org/drawingml/2006/main">
              <a:ext uri="{FF2B5EF4-FFF2-40B4-BE49-F238E27FC236}">
                <a16:creationId xmlns:a16="http://schemas.microsoft.com/office/drawing/2014/main" id="{F370D8B2-AF44-49AD-BE53-E3778FA3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1049003" name="">
            <a:extLst xmlns:a="http://schemas.openxmlformats.org/drawingml/2006/main">
              <a:ext uri="{FF2B5EF4-FFF2-40B4-BE49-F238E27FC236}">
                <a16:creationId xmlns:a16="http://schemas.microsoft.com/office/drawing/2014/main" id="{1E7EDEA2-B762-4E95-A4BC-E8959704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Expected results and future improvements</a:t>
            </a:r>
          </a:p>
        </p:txBody>
      </p:sp>
      <p:sp>
        <p:nvSpPr>
          <p:cNvPr id="1049004" name="">
            <a:extLst xmlns:a="http://schemas.openxmlformats.org/drawingml/2006/main">
              <a:ext uri="{FF2B5EF4-FFF2-40B4-BE49-F238E27FC236}">
                <a16:creationId xmlns:a16="http://schemas.microsoft.com/office/drawing/2014/main" id="{23598B25-2479-4A6F-A012-C2D5E0E4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1049005" name="">
            <a:extLst xmlns:a="http://schemas.openxmlformats.org/drawingml/2006/main">
              <a:ext uri="{FF2B5EF4-FFF2-40B4-BE49-F238E27FC236}">
                <a16:creationId xmlns:a16="http://schemas.microsoft.com/office/drawing/2014/main" id="{A585B7E9-0269-4A28-8DB8-7F8D67F8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Expected project results</a:t>
            </a:r>
          </a:p>
        </p:txBody>
      </p:sp>
      <p:sp>
        <p:nvSpPr>
          <p:cNvPr id="1049006" name="">
            <a:extLst xmlns:a="http://schemas.openxmlformats.org/drawingml/2006/main">
              <a:ext uri="{FF2B5EF4-FFF2-40B4-BE49-F238E27FC236}">
                <a16:creationId xmlns:a16="http://schemas.microsoft.com/office/drawing/2014/main" id="{76E6DB36-7D8D-4A7B-8AE6-19081B5D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9007" name="">
            <a:extLst xmlns:a="http://schemas.openxmlformats.org/drawingml/2006/main">
              <a:ext uri="{FF2B5EF4-FFF2-40B4-BE49-F238E27FC236}">
                <a16:creationId xmlns:a16="http://schemas.microsoft.com/office/drawing/2014/main" id="{69479F71-1196-42B4-85F5-02546B45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43125"/>
            <a:ext cx="4505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Faster first-stage screening</a:t>
            </a:r>
          </a:p>
        </p:txBody>
      </p:sp>
      <p:sp>
        <p:nvSpPr>
          <p:cNvPr id="1049008" name="">
            <a:extLst xmlns:a="http://schemas.openxmlformats.org/drawingml/2006/main">
              <a:ext uri="{FF2B5EF4-FFF2-40B4-BE49-F238E27FC236}">
                <a16:creationId xmlns:a16="http://schemas.microsoft.com/office/drawing/2014/main" id="{28B52650-ED08-4597-A511-3A928735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9009" name="">
            <a:extLst xmlns:a="http://schemas.openxmlformats.org/drawingml/2006/main">
              <a:ext uri="{FF2B5EF4-FFF2-40B4-BE49-F238E27FC236}">
                <a16:creationId xmlns:a16="http://schemas.microsoft.com/office/drawing/2014/main" id="{125DDAE1-5B69-4D11-BC43-FAA3085A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771775"/>
            <a:ext cx="4505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Consistent scoring rules</a:t>
            </a:r>
          </a:p>
        </p:txBody>
      </p:sp>
      <p:sp>
        <p:nvSpPr>
          <p:cNvPr id="1049010" name="">
            <a:extLst xmlns:a="http://schemas.openxmlformats.org/drawingml/2006/main">
              <a:ext uri="{FF2B5EF4-FFF2-40B4-BE49-F238E27FC236}">
                <a16:creationId xmlns:a16="http://schemas.microsoft.com/office/drawing/2014/main" id="{1758D173-56E6-4522-BD87-DC31D706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9011" name="">
            <a:extLst xmlns:a="http://schemas.openxmlformats.org/drawingml/2006/main">
              <a:ext uri="{FF2B5EF4-FFF2-40B4-BE49-F238E27FC236}">
                <a16:creationId xmlns:a16="http://schemas.microsoft.com/office/drawing/2014/main" id="{667BD581-1E91-4C4C-AA4C-C8863CB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00425"/>
            <a:ext cx="4505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Visible reasons for each score</a:t>
            </a:r>
          </a:p>
        </p:txBody>
      </p:sp>
      <p:sp>
        <p:nvSpPr>
          <p:cNvPr id="1049012" name="">
            <a:extLst xmlns:a="http://schemas.openxmlformats.org/drawingml/2006/main">
              <a:ext uri="{FF2B5EF4-FFF2-40B4-BE49-F238E27FC236}">
                <a16:creationId xmlns:a16="http://schemas.microsoft.com/office/drawing/2014/main" id="{85DCEBE3-2620-45D4-819A-A60A7B36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9013" name="">
            <a:extLst xmlns:a="http://schemas.openxmlformats.org/drawingml/2006/main">
              <a:ext uri="{FF2B5EF4-FFF2-40B4-BE49-F238E27FC236}">
                <a16:creationId xmlns:a16="http://schemas.microsoft.com/office/drawing/2014/main" id="{D19CBA03-1A2A-44E4-B399-CC2ED00B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29075"/>
            <a:ext cx="4505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Better tracking of recruiter decisions</a:t>
            </a:r>
          </a:p>
        </p:txBody>
      </p:sp>
      <p:sp>
        <p:nvSpPr>
          <p:cNvPr id="1049014" name="">
            <a:extLst xmlns:a="http://schemas.openxmlformats.org/drawingml/2006/main">
              <a:ext uri="{FF2B5EF4-FFF2-40B4-BE49-F238E27FC236}">
                <a16:creationId xmlns:a16="http://schemas.microsoft.com/office/drawing/2014/main" id="{D21C746C-3B07-41A9-900E-B8D8EA3B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Future scope</a:t>
            </a:r>
          </a:p>
        </p:txBody>
      </p:sp>
      <p:sp>
        <p:nvSpPr>
          <p:cNvPr id="1049015" name="">
            <a:extLst xmlns:a="http://schemas.openxmlformats.org/drawingml/2006/main">
              <a:ext uri="{FF2B5EF4-FFF2-40B4-BE49-F238E27FC236}">
                <a16:creationId xmlns:a16="http://schemas.microsoft.com/office/drawing/2014/main" id="{BBD3D56B-2044-4485-844A-99A2700B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9016" name="">
            <a:extLst xmlns:a="http://schemas.openxmlformats.org/drawingml/2006/main">
              <a:ext uri="{FF2B5EF4-FFF2-40B4-BE49-F238E27FC236}">
                <a16:creationId xmlns:a16="http://schemas.microsoft.com/office/drawing/2014/main" id="{07C11FEB-2542-4478-8AAA-1C835A54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143125"/>
            <a:ext cx="4505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Support DOCX and scanned resumes</a:t>
            </a:r>
          </a:p>
        </p:txBody>
      </p:sp>
      <p:sp>
        <p:nvSpPr>
          <p:cNvPr id="1049017" name="">
            <a:extLst xmlns:a="http://schemas.openxmlformats.org/drawingml/2006/main">
              <a:ext uri="{FF2B5EF4-FFF2-40B4-BE49-F238E27FC236}">
                <a16:creationId xmlns:a16="http://schemas.microsoft.com/office/drawing/2014/main" id="{FD2042F2-3CDC-4E94-9AAD-0D6687DC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9018" name="">
            <a:extLst xmlns:a="http://schemas.openxmlformats.org/drawingml/2006/main">
              <a:ext uri="{FF2B5EF4-FFF2-40B4-BE49-F238E27FC236}">
                <a16:creationId xmlns:a16="http://schemas.microsoft.com/office/drawing/2014/main" id="{191E8FDC-4708-4FAB-9CC3-2742880D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695575"/>
            <a:ext cx="4505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Use named-entity recognition</a:t>
            </a:r>
          </a:p>
        </p:txBody>
      </p:sp>
      <p:sp>
        <p:nvSpPr>
          <p:cNvPr id="1049019" name="">
            <a:extLst xmlns:a="http://schemas.openxmlformats.org/drawingml/2006/main">
              <a:ext uri="{FF2B5EF4-FFF2-40B4-BE49-F238E27FC236}">
                <a16:creationId xmlns:a16="http://schemas.microsoft.com/office/drawing/2014/main" id="{5366D404-D825-4920-BD8A-2BDBFE52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9020" name="">
            <a:extLst xmlns:a="http://schemas.openxmlformats.org/drawingml/2006/main">
              <a:ext uri="{FF2B5EF4-FFF2-40B4-BE49-F238E27FC236}">
                <a16:creationId xmlns:a16="http://schemas.microsoft.com/office/drawing/2014/main" id="{B020683E-73B8-41B1-AC97-56BB9CFE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48025"/>
            <a:ext cx="4505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Add multilingual resume analysis</a:t>
            </a:r>
          </a:p>
        </p:txBody>
      </p:sp>
      <p:sp>
        <p:nvSpPr>
          <p:cNvPr id="1049021" name="">
            <a:extLst xmlns:a="http://schemas.openxmlformats.org/drawingml/2006/main">
              <a:ext uri="{FF2B5EF4-FFF2-40B4-BE49-F238E27FC236}">
                <a16:creationId xmlns:a16="http://schemas.microsoft.com/office/drawing/2014/main" id="{B372E687-5701-4049-B5E6-4FDEC4A0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67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9022" name="">
            <a:extLst xmlns:a="http://schemas.openxmlformats.org/drawingml/2006/main">
              <a:ext uri="{FF2B5EF4-FFF2-40B4-BE49-F238E27FC236}">
                <a16:creationId xmlns:a16="http://schemas.microsoft.com/office/drawing/2014/main" id="{CAE263D0-0404-471A-B85E-F27EFFCF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800475"/>
            <a:ext cx="4505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Monitor bias and model drift</a:t>
            </a:r>
          </a:p>
        </p:txBody>
      </p:sp>
      <p:sp>
        <p:nvSpPr>
          <p:cNvPr id="1049023" name="">
            <a:extLst xmlns:a="http://schemas.openxmlformats.org/drawingml/2006/main">
              <a:ext uri="{FF2B5EF4-FFF2-40B4-BE49-F238E27FC236}">
                <a16:creationId xmlns:a16="http://schemas.microsoft.com/office/drawing/2014/main" id="{9C0C6AD8-0DDF-468D-8ADA-0CF81387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9024" name="">
            <a:extLst xmlns:a="http://schemas.openxmlformats.org/drawingml/2006/main">
              <a:ext uri="{FF2B5EF4-FFF2-40B4-BE49-F238E27FC236}">
                <a16:creationId xmlns:a16="http://schemas.microsoft.com/office/drawing/2014/main" id="{326B041E-1756-47D5-A6F1-7D8CCDB4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352925"/>
            <a:ext cx="4505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Integrate with an applicant tracking system</a:t>
            </a:r>
          </a:p>
        </p:txBody>
      </p:sp>
      <p:sp>
        <p:nvSpPr>
          <p:cNvPr id="1049025" name="">
            <a:extLst xmlns:a="http://schemas.openxmlformats.org/drawingml/2006/main">
              <a:ext uri="{FF2B5EF4-FFF2-40B4-BE49-F238E27FC236}">
                <a16:creationId xmlns:a16="http://schemas.microsoft.com/office/drawing/2014/main" id="{E7BA551C-542F-4B19-8375-3D5AAD07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668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49026" name="">
            <a:extLst xmlns:a="http://schemas.openxmlformats.org/drawingml/2006/main">
              <a:ext uri="{FF2B5EF4-FFF2-40B4-BE49-F238E27FC236}">
                <a16:creationId xmlns:a16="http://schemas.microsoft.com/office/drawing/2014/main" id="{E5325991-B433-4907-A530-77AC4C3A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Success means better decisions—not merely higher automation.</a:t>
            </a:r>
          </a:p>
        </p:txBody>
      </p:sp>
      <p:sp>
        <p:nvSpPr>
          <p:cNvPr id="1049027" name="">
            <a:extLst xmlns:a="http://schemas.openxmlformats.org/drawingml/2006/main">
              <a:ext uri="{FF2B5EF4-FFF2-40B4-BE49-F238E27FC236}">
                <a16:creationId xmlns:a16="http://schemas.microsoft.com/office/drawing/2014/main" id="{DAE6C52C-D2CE-4171-A2F5-B43285B5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27848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9031" name="">
            <a:extLst xmlns:a="http://schemas.openxmlformats.org/drawingml/2006/main">
              <a:ext uri="{FF2B5EF4-FFF2-40B4-BE49-F238E27FC236}">
                <a16:creationId xmlns:a16="http://schemas.microsoft.com/office/drawing/2014/main" id="{42E5D3FC-7019-44E9-AD64-B34457F0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49032" name="">
            <a:extLst xmlns:a="http://schemas.openxmlformats.org/drawingml/2006/main">
              <a:ext uri="{FF2B5EF4-FFF2-40B4-BE49-F238E27FC236}">
                <a16:creationId xmlns:a16="http://schemas.microsoft.com/office/drawing/2014/main" id="{5DAD9B19-3647-4BC4-BE50-A0B27FCE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23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49033" name="">
            <a:extLst xmlns:a="http://schemas.openxmlformats.org/drawingml/2006/main">
              <a:ext uri="{FF2B5EF4-FFF2-40B4-BE49-F238E27FC236}">
                <a16:creationId xmlns:a16="http://schemas.microsoft.com/office/drawing/2014/main" id="{7D7652CC-A1F1-46BE-B650-8075F3FC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1049034" name="">
            <a:extLst xmlns:a="http://schemas.openxmlformats.org/drawingml/2006/main">
              <a:ext uri="{FF2B5EF4-FFF2-40B4-BE49-F238E27FC236}">
                <a16:creationId xmlns:a16="http://schemas.microsoft.com/office/drawing/2014/main" id="{BED78C3E-A92E-417F-99AD-D7897D08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220"/>
                </a:solidFill>
              </a:defRPr>
            </a:pPr>
            <a:r>
              <a:rPr sz="2400" b="1">
                <a:solidFill>
                  <a:srgbClr val="0B1220"/>
                </a:solidFill>
              </a:rPr>
              <a:t>Literature review grounds the system in prior research</a:t>
            </a:r>
          </a:p>
        </p:txBody>
      </p:sp>
      <p:sp>
        <p:nvSpPr>
          <p:cNvPr id="1049035" name="">
            <a:extLst xmlns:a="http://schemas.openxmlformats.org/drawingml/2006/main">
              <a:ext uri="{FF2B5EF4-FFF2-40B4-BE49-F238E27FC236}">
                <a16:creationId xmlns:a16="http://schemas.microsoft.com/office/drawing/2014/main" id="{2CDC0439-5F38-48A8-9920-F8D896BE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graphicFrame>
        <p:nvGraphicFramePr>
          <p:cNvPr id="1049043" name="Literature Table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458152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1943100"/>
                <a:gridCol w="3200400"/>
                <a:gridCol w="2438400"/>
                <a:gridCol w="2628900"/>
              </a:tblGrid>
              <a:tr h="5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S. No.</a:t>
                      </a:r>
                    </a:p>
                  </a:txBody>
                  <a:tcPr marL="91440" marR="91440" marT="45720" marB="45720" anchor="ctr">
                    <a:solidFill>
                      <a:srgbClr val="246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Author &amp; Year</a:t>
                      </a:r>
                    </a:p>
                  </a:txBody>
                  <a:tcPr marL="91440" marR="91440" marT="45720" marB="45720" anchor="ctr">
                    <a:solidFill>
                      <a:srgbClr val="246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Paper Title</a:t>
                      </a:r>
                    </a:p>
                  </a:txBody>
                  <a:tcPr marL="91440" marR="91440" marT="45720" marB="45720" anchor="ctr">
                    <a:solidFill>
                      <a:srgbClr val="246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Methodology</a:t>
                      </a:r>
                    </a:p>
                  </a:txBody>
                  <a:tcPr marL="91440" marR="91440" marT="45720" marB="45720" anchor="ctr">
                    <a:solidFill>
                      <a:srgbClr val="246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Key Finding</a:t>
                      </a:r>
                    </a:p>
                  </a:txBody>
                  <a:tcPr marL="91440" marR="91440" marT="45720" marB="45720" anchor="ctr">
                    <a:solidFill>
                      <a:srgbClr val="246BFD"/>
                    </a:solidFill>
                  </a:tcPr>
                </a:tc>
              </a:tr>
              <a:tr h="8163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0B1220"/>
                          </a:solidFill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Daryani et al. (2020)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Automated Resume Screening System Using NLP and Similarity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TF-IDF vectorization with cosine similarity for CV-to-job matching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Established a similarity-based baseline for ranking resumes against job descriptions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63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0B1220"/>
                          </a:solidFill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Tejaswini et al. (2022)</a:t>
                      </a:r>
                    </a:p>
                  </a:txBody>
                  <a:tcPr marL="91440" marR="91440" marT="45720" marB="45720"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CV Matching for Recruitment Using NLP</a:t>
                      </a:r>
                    </a:p>
                  </a:txBody>
                  <a:tcPr marL="91440" marR="91440" marT="45720" marB="45720"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Cosine similarity combined with K-Nearest Neighbors (KNN)</a:t>
                      </a:r>
                    </a:p>
                  </a:txBody>
                  <a:tcPr marL="91440" marR="91440" marT="45720" marB="45720"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KNN-based matching improved alignment between resumes and job requirements over plain keyword search</a:t>
                      </a:r>
                    </a:p>
                  </a:txBody>
                  <a:tcPr marL="91440" marR="91440" marT="45720" marB="45720" anchor="ctr">
                    <a:solidFill>
                      <a:srgbClr val="EEF2FA"/>
                    </a:solidFill>
                  </a:tcPr>
                </a:tc>
              </a:tr>
              <a:tr h="8163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0B1220"/>
                          </a:solidFill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Cabrera-Diego et al. (2015)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Resume Similarity in e-Recruitment Systems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Comparison of text-similarity measures, including the Dice coefficient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Dice-based similarity best separated selected from rejected candidates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63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0B1220"/>
                          </a:solidFill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Raghavendra &amp; Vijay B. (2026)</a:t>
                      </a:r>
                    </a:p>
                  </a:txBody>
                  <a:tcPr marL="91440" marR="91440" marT="45720" marB="45720"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AI-Based Applicant Tracking System for Resume Analysis and Skill Gap Prediction</a:t>
                      </a:r>
                    </a:p>
                  </a:txBody>
                  <a:tcPr marL="91440" marR="91440" marT="45720" marB="45720"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TF-IDF vectorization with cosine similarity plus a skill-gap module</a:t>
                      </a:r>
                    </a:p>
                  </a:txBody>
                  <a:tcPr marL="91440" marR="91440" marT="45720" marB="45720"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Layered skill-gap prediction on top of similarity scoring to guide candidates</a:t>
                      </a:r>
                    </a:p>
                  </a:txBody>
                  <a:tcPr marL="91440" marR="91440" marT="45720" marB="45720" anchor="ctr">
                    <a:solidFill>
                      <a:srgbClr val="EEF2FA"/>
                    </a:solidFill>
                  </a:tcPr>
                </a:tc>
              </a:tr>
              <a:tr h="8163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0B1220"/>
                          </a:solidFill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Smart Recruitment System, IJERT (2026)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Intelligent Resume Screening and Job Matching Platform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Benchmarked TF-IDF cosine similarity against BERT embeddings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TF-IDF stayed accurate and lightweight for moderate scale; BERT added semantic depth at higher compute cost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9036" name="">
            <a:extLst xmlns:a="http://schemas.openxmlformats.org/drawingml/2006/main">
              <a:ext uri="{FF2B5EF4-FFF2-40B4-BE49-F238E27FC236}">
                <a16:creationId xmlns:a16="http://schemas.microsoft.com/office/drawing/2014/main" id="{17F2ADAC-F3E2-4033-9DE7-10A9CA35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65768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9037" name="">
            <a:extLst xmlns:a="http://schemas.openxmlformats.org/drawingml/2006/main">
              <a:ext uri="{FF2B5EF4-FFF2-40B4-BE49-F238E27FC236}">
                <a16:creationId xmlns:a16="http://schemas.microsoft.com/office/drawing/2014/main" id="{D4C7D881-2052-4839-98E7-B2516CF8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9C6E5"/>
                </a:solidFill>
              </a:defRPr>
            </a:pPr>
            <a:r>
              <a:rPr sz="1350" b="1">
                <a:solidFill>
                  <a:srgbClr val="49C6E5"/>
                </a:solidFill>
              </a:rPr>
              <a:t>PROJECT CONCLUSION</a:t>
            </a:r>
          </a:p>
        </p:txBody>
      </p:sp>
      <p:sp>
        <p:nvSpPr>
          <p:cNvPr id="1049038" name="">
            <a:extLst xmlns:a="http://schemas.openxmlformats.org/drawingml/2006/main">
              <a:ext uri="{FF2B5EF4-FFF2-40B4-BE49-F238E27FC236}">
                <a16:creationId xmlns:a16="http://schemas.microsoft.com/office/drawing/2014/main" id="{4E8A7514-6B25-4D99-82EC-21C39329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AI can organize evidence.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Humans must make the decision.</a:t>
            </a:r>
          </a:p>
        </p:txBody>
      </p:sp>
      <p:sp>
        <p:nvSpPr>
          <p:cNvPr id="1049039" name="">
            <a:extLst xmlns:a="http://schemas.openxmlformats.org/drawingml/2006/main">
              <a:ext uri="{FF2B5EF4-FFF2-40B4-BE49-F238E27FC236}">
                <a16:creationId xmlns:a16="http://schemas.microsoft.com/office/drawing/2014/main" id="{B131637B-F2A9-4562-970E-E57AC063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857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6E0F0"/>
                </a:solidFill>
              </a:defRPr>
            </a:pPr>
            <a:r>
              <a:rPr sz="1725" b="0">
                <a:solidFill>
                  <a:srgbClr val="D6E0F0"/>
                </a:solidFill>
              </a:rPr>
              <a:t>The proposed Python system extracts resume data, compares it with job requirements, provides an explainable score, and keeps the recruiter in control.</a:t>
            </a:r>
          </a:p>
        </p:txBody>
      </p:sp>
      <p:sp>
        <p:nvSpPr>
          <p:cNvPr id="1049040" name="">
            <a:extLst xmlns:a="http://schemas.openxmlformats.org/drawingml/2006/main">
              <a:ext uri="{FF2B5EF4-FFF2-40B4-BE49-F238E27FC236}">
                <a16:creationId xmlns:a16="http://schemas.microsoft.com/office/drawing/2014/main" id="{151B881C-CB03-47CA-8F50-B9FA2D6C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933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0">
            <a:solidFill>
              <a:srgbClr val="246BFD"/>
            </a:solidFill>
            <a:prstDash val="solid"/>
          </a:ln>
        </p:spPr>
      </p:sp>
      <p:sp>
        <p:nvSpPr>
          <p:cNvPr id="1049041" name="">
            <a:extLst xmlns:a="http://schemas.openxmlformats.org/drawingml/2006/main">
              <a:ext uri="{FF2B5EF4-FFF2-40B4-BE49-F238E27FC236}">
                <a16:creationId xmlns:a16="http://schemas.microsoft.com/office/drawing/2014/main" id="{EC7330CA-D43D-4753-A42F-70B15404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049042" name="">
            <a:extLst xmlns:a="http://schemas.openxmlformats.org/drawingml/2006/main">
              <a:ext uri="{FF2B5EF4-FFF2-40B4-BE49-F238E27FC236}">
                <a16:creationId xmlns:a16="http://schemas.microsoft.com/office/drawing/2014/main" id="{CDFE568C-78FA-4D3E-BC3A-46AA7242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435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950" b="1">
                <a:solidFill>
                  <a:srgbClr val="49C6E5"/>
                </a:solidFill>
              </a:defRPr>
            </a:pPr>
            <a:r>
              <a:rPr sz="1950" b="1">
                <a:solidFill>
                  <a:srgbClr val="49C6E5"/>
                </a:solidFill>
              </a:rPr>
              <a:t>Questions &amp; Demo</a:t>
            </a:r>
          </a:p>
        </p:txBody>
      </p:sp>
    </p:spTree>
    <p:extLst>
      <p:ext uri="{BB962C8B-B14F-4D97-AF65-F5344CB8AC3E}">
        <p14:creationId xmlns:p14="http://schemas.microsoft.com/office/powerpoint/2010/main" val="851302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2026-09-02T17:00:13.4170000Z</dcterms:created>
  <dcterms:modified xsi:type="dcterms:W3CDTF">2026-09-02T17:00:13.4170000Z</dcterms:modified>
</coreProperties>
</file>