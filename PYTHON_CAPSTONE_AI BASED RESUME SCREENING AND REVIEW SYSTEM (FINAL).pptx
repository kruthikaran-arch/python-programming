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629" y="-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ounded Rectangle 1048575">
            <a:extLst>
              <a:ext uri="{FF2B5EF4-FFF2-40B4-BE49-F238E27FC236}">
                <a16:creationId xmlns:a16="http://schemas.microsoft.com/office/drawing/2014/main" xmlns="" id="{D1E9AC08-94AF-4D1C-B645-34E6CC86C9E7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oundRect">
            <a:avLst>
              <a:gd name="adj" fmla="val 2308"/>
            </a:avLst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577" name="Rectangle 1048576">
            <a:extLst>
              <a:ext uri="{FF2B5EF4-FFF2-40B4-BE49-F238E27FC236}">
                <a16:creationId xmlns:a16="http://schemas.microsoft.com/office/drawing/2014/main" xmlns="" id="{8A9C5ABC-4D96-417C-BDF0-AB59ADF31F90}"/>
              </a:ext>
            </a:extLst>
          </p:cNvPr>
          <p:cNvSpPr>
            <a:spLocks noGrp="1"/>
          </p:cNvSpPr>
          <p:nvPr/>
        </p:nvSpPr>
        <p:spPr>
          <a:xfrm>
            <a:off x="738150" y="1071546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49C6E5"/>
                </a:solidFill>
              </a:defRPr>
            </a:pPr>
            <a:r>
              <a:rPr sz="1425" b="1">
                <a:solidFill>
                  <a:srgbClr val="49C6E5"/>
                </a:solidFill>
              </a:rPr>
              <a:t>AI-BASED</a:t>
            </a:r>
          </a:p>
        </p:txBody>
      </p:sp>
      <p:sp>
        <p:nvSpPr>
          <p:cNvPr id="1048578" name="Rectangle 1048577">
            <a:extLst>
              <a:ext uri="{FF2B5EF4-FFF2-40B4-BE49-F238E27FC236}">
                <a16:creationId xmlns:a16="http://schemas.microsoft.com/office/drawing/2014/main" xmlns="" id="{59F81BC6-8F39-4B69-A672-6F34E0B203D2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6477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Resume Screening</a:t>
            </a:r>
          </a:p>
          <a:p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and Review System</a:t>
            </a:r>
          </a:p>
        </p:txBody>
      </p:sp>
      <p:sp>
        <p:nvSpPr>
          <p:cNvPr id="1048579" name="Rectangle 1048578">
            <a:extLst>
              <a:ext uri="{FF2B5EF4-FFF2-40B4-BE49-F238E27FC236}">
                <a16:creationId xmlns:a16="http://schemas.microsoft.com/office/drawing/2014/main" xmlns="" id="{1A6635B4-B2AC-433D-85D3-4340436616AD}"/>
              </a:ext>
            </a:extLst>
          </p:cNvPr>
          <p:cNvSpPr>
            <a:spLocks noGrp="1"/>
          </p:cNvSpPr>
          <p:nvPr/>
        </p:nvSpPr>
        <p:spPr>
          <a:xfrm>
            <a:off x="779180" y="2809874"/>
            <a:ext cx="5715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D6E0F0"/>
                </a:solidFill>
              </a:defRPr>
            </a:pPr>
            <a:r>
              <a:rPr sz="1800" b="0">
                <a:solidFill>
                  <a:srgbClr val="D6E0F0"/>
                </a:solidFill>
              </a:rPr>
              <a:t>A fair, explainable and efficient approach to candidate shortlisting</a:t>
            </a:r>
          </a:p>
        </p:txBody>
      </p:sp>
      <p:sp>
        <p:nvSpPr>
          <p:cNvPr id="1048580" name="Rectangle 1048579">
            <a:extLst>
              <a:ext uri="{FF2B5EF4-FFF2-40B4-BE49-F238E27FC236}">
                <a16:creationId xmlns:a16="http://schemas.microsoft.com/office/drawing/2014/main" xmlns="" id="{A3F83DC6-3555-42FE-8527-6B799986C53C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5143500" cy="28575"/>
          </a:xfrm>
          <a:prstGeom prst="rect">
            <a:avLst/>
          </a:prstGeom>
          <a:solidFill>
            <a:srgbClr val="49C6E5"/>
          </a:solidFill>
          <a:ln w="0">
            <a:solidFill>
              <a:srgbClr val="49C6E5"/>
            </a:solidFill>
            <a:prstDash val="solid"/>
          </a:ln>
        </p:spPr>
      </p:sp>
      <p:sp>
        <p:nvSpPr>
          <p:cNvPr id="1048581" name="Rectangle 1048580">
            <a:extLst>
              <a:ext uri="{FF2B5EF4-FFF2-40B4-BE49-F238E27FC236}">
                <a16:creationId xmlns:a16="http://schemas.microsoft.com/office/drawing/2014/main" xmlns="" id="{8FBDF1E9-694C-4978-A81A-4919035E140A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59055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Kruthikaran  1925260038</a:t>
            </a:r>
          </a:p>
          <a:p>
            <a:pPr algn="l"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Mohammed misbahuldin  1965260109</a:t>
            </a:r>
          </a:p>
          <a:p>
            <a:pPr algn="l"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Harini  1965260055</a:t>
            </a:r>
          </a:p>
          <a:p>
            <a:pPr algn="l"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Loshitha P  1965260080</a:t>
            </a:r>
          </a:p>
          <a:p>
            <a:pPr algn="l"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Sornavarshini M  1965260025</a:t>
            </a:r>
          </a:p>
        </p:txBody>
      </p:sp>
      <p:sp>
        <p:nvSpPr>
          <p:cNvPr id="1048582" name="Rectangle 1048581">
            <a:extLst>
              <a:ext uri="{FF2B5EF4-FFF2-40B4-BE49-F238E27FC236}">
                <a16:creationId xmlns:a16="http://schemas.microsoft.com/office/drawing/2014/main" xmlns="" id="{59D8F6DE-B076-4E7A-8062-D96F21FC8753}"/>
              </a:ext>
            </a:extLst>
          </p:cNvPr>
          <p:cNvSpPr>
            <a:spLocks noGrp="1"/>
          </p:cNvSpPr>
          <p:nvPr/>
        </p:nvSpPr>
        <p:spPr>
          <a:xfrm>
            <a:off x="666750" y="5476875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AFC0D8"/>
                </a:solidFill>
              </a:defRPr>
            </a:pPr>
            <a:endParaRPr/>
          </a:p>
        </p:txBody>
      </p:sp>
      <p:sp>
        <p:nvSpPr>
          <p:cNvPr id="1048583" name="Rectangle 1048582">
            <a:extLst>
              <a:ext uri="{FF2B5EF4-FFF2-40B4-BE49-F238E27FC236}">
                <a16:creationId xmlns:a16="http://schemas.microsoft.com/office/drawing/2014/main" xmlns="" id="{93D2B3A2-874C-4AB4-A571-6A687D90C10E}"/>
              </a:ext>
            </a:extLst>
          </p:cNvPr>
          <p:cNvSpPr>
            <a:spLocks noGrp="1"/>
          </p:cNvSpPr>
          <p:nvPr/>
        </p:nvSpPr>
        <p:spPr>
          <a:xfrm>
            <a:off x="8115300" y="1762125"/>
            <a:ext cx="3143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200" b="1">
                <a:solidFill>
                  <a:srgbClr val="FFFFFF"/>
                </a:solidFill>
              </a:defRPr>
            </a:pPr>
            <a:r>
              <a:rPr sz="72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048584" name="Rectangle 1048583">
            <a:extLst>
              <a:ext uri="{FF2B5EF4-FFF2-40B4-BE49-F238E27FC236}">
                <a16:creationId xmlns:a16="http://schemas.microsoft.com/office/drawing/2014/main" xmlns="" id="{FE5F95EF-4553-4905-B5A1-65440EDAEB45}"/>
              </a:ext>
            </a:extLst>
          </p:cNvPr>
          <p:cNvSpPr>
            <a:spLocks noGrp="1"/>
          </p:cNvSpPr>
          <p:nvPr/>
        </p:nvSpPr>
        <p:spPr>
          <a:xfrm>
            <a:off x="7848600" y="3238500"/>
            <a:ext cx="3714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CV → SCORE → REVIEW</a:t>
            </a:r>
          </a:p>
        </p:txBody>
      </p:sp>
      <p:sp>
        <p:nvSpPr>
          <p:cNvPr id="1048585" name="Rectangle 1048584">
            <a:extLst>
              <a:ext uri="{FF2B5EF4-FFF2-40B4-BE49-F238E27FC236}">
                <a16:creationId xmlns:a16="http://schemas.microsoft.com/office/drawing/2014/main" xmlns="" id="{8EDE62DA-61B9-4AFA-8DE8-3D638FA3615F}"/>
              </a:ext>
            </a:extLst>
          </p:cNvPr>
          <p:cNvSpPr>
            <a:spLocks noGrp="1"/>
          </p:cNvSpPr>
          <p:nvPr/>
        </p:nvSpPr>
        <p:spPr>
          <a:xfrm>
            <a:off x="1802914" y="3667125"/>
            <a:ext cx="6879872" cy="51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sz="2800">
              <a:solidFill>
                <a:srgbClr val="000000"/>
              </a:solidFill>
            </a:endParaRPr>
          </a:p>
        </p:txBody>
      </p:sp>
      <p:sp>
        <p:nvSpPr>
          <p:cNvPr id="36866" name="AutoShape 2" descr="blob:https://web.whatsapp.com/f5ab8dd1-e2c5-4634-a042-ed2580081e1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68" name="AutoShape 4" descr="blob:https://web.whatsapp.com/f5ab8dd1-e2c5-4634-a042-ed2580081e1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70" name="AutoShape 6" descr="blob:https://web.whatsapp.com/f5ab8dd1-e2c5-4634-a042-ed2580081e1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72" name="AutoShape 8" descr="blob:https://web.whatsapp.com/f5ab8dd1-e2c5-4634-a042-ed2580081e1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74" name="AutoShape 10" descr="blob:https://web.whatsapp.com/f5ab8dd1-e2c5-4634-a042-ed2580081e1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76" name="AutoShape 12" descr="blob:https://web.whatsapp.com/f5ab8dd1-e2c5-4634-a042-ed2580081e1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6877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68098" y="0"/>
            <a:ext cx="1023902" cy="1023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878" name="Picture 1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-1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880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81290" y="0"/>
            <a:ext cx="6643734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2954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Rounded Rectangle 1048588">
            <a:extLst>
              <a:ext uri="{FF2B5EF4-FFF2-40B4-BE49-F238E27FC236}">
                <a16:creationId xmlns:a16="http://schemas.microsoft.com/office/drawing/2014/main" xmlns="" id="{22C8611B-B41C-4DA7-9339-4C9F6FC72B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591" name="Rectangle 1048590">
            <a:extLst>
              <a:ext uri="{FF2B5EF4-FFF2-40B4-BE49-F238E27FC236}">
                <a16:creationId xmlns:a16="http://schemas.microsoft.com/office/drawing/2014/main" xmlns="" id="{D25AE7B6-8720-4E48-882D-23094AD865E2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8592" name="Rectangle 1048591">
            <a:extLst>
              <a:ext uri="{FF2B5EF4-FFF2-40B4-BE49-F238E27FC236}">
                <a16:creationId xmlns:a16="http://schemas.microsoft.com/office/drawing/2014/main" xmlns="" id="{7C968FA4-4F4A-4D31-A4D8-CBFE3AE2BBC5}"/>
              </a:ext>
            </a:extLst>
          </p:cNvPr>
          <p:cNvSpPr>
            <a:spLocks noGrp="1"/>
          </p:cNvSpPr>
          <p:nvPr/>
        </p:nvSpPr>
        <p:spPr>
          <a:xfrm>
            <a:off x="595274" y="785794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Why manual resume screening needs support</a:t>
            </a:r>
          </a:p>
        </p:txBody>
      </p:sp>
      <p:sp>
        <p:nvSpPr>
          <p:cNvPr id="1048593" name="Rectangle 1048592">
            <a:extLst>
              <a:ext uri="{FF2B5EF4-FFF2-40B4-BE49-F238E27FC236}">
                <a16:creationId xmlns:a16="http://schemas.microsoft.com/office/drawing/2014/main" xmlns="" id="{568BB5DC-7270-4267-985B-AC308062B23F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594" name="Rectangle 1048593">
            <a:extLst>
              <a:ext uri="{FF2B5EF4-FFF2-40B4-BE49-F238E27FC236}">
                <a16:creationId xmlns:a16="http://schemas.microsoft.com/office/drawing/2014/main" xmlns="" id="{E8446344-E99B-4D8B-BC9F-8605A037B5FD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657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Recruiters often review many resumes under time pressure.</a:t>
            </a:r>
          </a:p>
        </p:txBody>
      </p:sp>
      <p:sp>
        <p:nvSpPr>
          <p:cNvPr id="1048595" name="Oval 1048594">
            <a:extLst>
              <a:ext uri="{FF2B5EF4-FFF2-40B4-BE49-F238E27FC236}">
                <a16:creationId xmlns:a16="http://schemas.microsoft.com/office/drawing/2014/main" xmlns="" id="{4CC41FF9-3504-4E23-B986-B3E2AD95E97D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596" name="Rectangle 1048595">
            <a:extLst>
              <a:ext uri="{FF2B5EF4-FFF2-40B4-BE49-F238E27FC236}">
                <a16:creationId xmlns:a16="http://schemas.microsoft.com/office/drawing/2014/main" xmlns="" id="{932F9B71-2401-4630-AC20-0C12432350B2}"/>
              </a:ext>
            </a:extLst>
          </p:cNvPr>
          <p:cNvSpPr>
            <a:spLocks noGrp="1"/>
          </p:cNvSpPr>
          <p:nvPr/>
        </p:nvSpPr>
        <p:spPr>
          <a:xfrm>
            <a:off x="866775" y="2238375"/>
            <a:ext cx="59340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Slow: repeated reading delays shortlisting</a:t>
            </a:r>
          </a:p>
        </p:txBody>
      </p:sp>
      <p:sp>
        <p:nvSpPr>
          <p:cNvPr id="1048597" name="Oval 1048596">
            <a:extLst>
              <a:ext uri="{FF2B5EF4-FFF2-40B4-BE49-F238E27FC236}">
                <a16:creationId xmlns:a16="http://schemas.microsoft.com/office/drawing/2014/main" xmlns="" id="{3115A17A-C780-42F6-AB23-B87F4A17A3FE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598" name="Rectangle 1048597">
            <a:extLst>
              <a:ext uri="{FF2B5EF4-FFF2-40B4-BE49-F238E27FC236}">
                <a16:creationId xmlns:a16="http://schemas.microsoft.com/office/drawing/2014/main" xmlns="" id="{883E4FC7-D89B-4803-B69A-9AAB7001F9F6}"/>
              </a:ext>
            </a:extLst>
          </p:cNvPr>
          <p:cNvSpPr>
            <a:spLocks noGrp="1"/>
          </p:cNvSpPr>
          <p:nvPr/>
        </p:nvSpPr>
        <p:spPr>
          <a:xfrm>
            <a:off x="866775" y="2905125"/>
            <a:ext cx="59340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Inconsistent: different reviewers may judge differently</a:t>
            </a:r>
          </a:p>
        </p:txBody>
      </p:sp>
      <p:sp>
        <p:nvSpPr>
          <p:cNvPr id="1048599" name="Oval 1048598">
            <a:extLst>
              <a:ext uri="{FF2B5EF4-FFF2-40B4-BE49-F238E27FC236}">
                <a16:creationId xmlns:a16="http://schemas.microsoft.com/office/drawing/2014/main" xmlns="" id="{959EFA51-0349-47E4-BFFF-0A2FF7DC54B8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600" name="Rectangle 1048599">
            <a:extLst>
              <a:ext uri="{FF2B5EF4-FFF2-40B4-BE49-F238E27FC236}">
                <a16:creationId xmlns:a16="http://schemas.microsoft.com/office/drawing/2014/main" xmlns="" id="{94E45721-A809-46C2-ADB5-2371A5BC4A21}"/>
              </a:ext>
            </a:extLst>
          </p:cNvPr>
          <p:cNvSpPr>
            <a:spLocks noGrp="1"/>
          </p:cNvSpPr>
          <p:nvPr/>
        </p:nvSpPr>
        <p:spPr>
          <a:xfrm>
            <a:off x="866775" y="3571875"/>
            <a:ext cx="59340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Keyword overload: suitable candidates may be missed</a:t>
            </a:r>
          </a:p>
        </p:txBody>
      </p:sp>
      <p:sp>
        <p:nvSpPr>
          <p:cNvPr id="1048601" name="Oval 1048600">
            <a:extLst>
              <a:ext uri="{FF2B5EF4-FFF2-40B4-BE49-F238E27FC236}">
                <a16:creationId xmlns:a16="http://schemas.microsoft.com/office/drawing/2014/main" xmlns="" id="{A2C1F3DF-6CC4-4B13-9FCA-3F411C279C06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602" name="Rectangle 1048601">
            <a:extLst>
              <a:ext uri="{FF2B5EF4-FFF2-40B4-BE49-F238E27FC236}">
                <a16:creationId xmlns:a16="http://schemas.microsoft.com/office/drawing/2014/main" xmlns="" id="{F218D6D2-483A-4308-9B84-603119DA54EC}"/>
              </a:ext>
            </a:extLst>
          </p:cNvPr>
          <p:cNvSpPr>
            <a:spLocks noGrp="1"/>
          </p:cNvSpPr>
          <p:nvPr/>
        </p:nvSpPr>
        <p:spPr>
          <a:xfrm>
            <a:off x="866775" y="4238625"/>
            <a:ext cx="59340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Hard to explain why one resume ranked above another</a:t>
            </a:r>
          </a:p>
        </p:txBody>
      </p:sp>
      <p:sp>
        <p:nvSpPr>
          <p:cNvPr id="1048603" name="Rounded Rectangle 1048602">
            <a:extLst>
              <a:ext uri="{FF2B5EF4-FFF2-40B4-BE49-F238E27FC236}">
                <a16:creationId xmlns:a16="http://schemas.microsoft.com/office/drawing/2014/main" xmlns="" id="{D2762E3D-E98F-4610-9817-493C0458D5DF}"/>
              </a:ext>
            </a:extLst>
          </p:cNvPr>
          <p:cNvSpPr>
            <a:spLocks noGrp="1"/>
          </p:cNvSpPr>
          <p:nvPr/>
        </p:nvSpPr>
        <p:spPr>
          <a:xfrm>
            <a:off x="7810500" y="1762125"/>
            <a:ext cx="3095625" cy="3429000"/>
          </a:xfrm>
          <a:prstGeom prst="roundRect">
            <a:avLst>
              <a:gd name="adj" fmla="val 3692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604" name="Rectangle 1048603">
            <a:extLst>
              <a:ext uri="{FF2B5EF4-FFF2-40B4-BE49-F238E27FC236}">
                <a16:creationId xmlns:a16="http://schemas.microsoft.com/office/drawing/2014/main" xmlns="" id="{7B849DA7-8D3A-412E-8980-FE6E6FBE0DD8}"/>
              </a:ext>
            </a:extLst>
          </p:cNvPr>
          <p:cNvSpPr>
            <a:spLocks noGrp="1"/>
          </p:cNvSpPr>
          <p:nvPr/>
        </p:nvSpPr>
        <p:spPr>
          <a:xfrm>
            <a:off x="8143875" y="2095500"/>
            <a:ext cx="2428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PROJECT GOAL</a:t>
            </a:r>
          </a:p>
        </p:txBody>
      </p:sp>
      <p:sp>
        <p:nvSpPr>
          <p:cNvPr id="1048605" name="Rectangle 1048604">
            <a:extLst>
              <a:ext uri="{FF2B5EF4-FFF2-40B4-BE49-F238E27FC236}">
                <a16:creationId xmlns:a16="http://schemas.microsoft.com/office/drawing/2014/main" xmlns="" id="{63FBCDD6-117D-4CF5-BF64-94B431BE5A93}"/>
              </a:ext>
            </a:extLst>
          </p:cNvPr>
          <p:cNvSpPr>
            <a:spLocks noGrp="1"/>
          </p:cNvSpPr>
          <p:nvPr/>
        </p:nvSpPr>
        <p:spPr>
          <a:xfrm>
            <a:off x="8143875" y="2667000"/>
            <a:ext cx="242887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Convert resumes into structured data, compare them with a job description, and generate a transparent review report.</a:t>
            </a:r>
          </a:p>
        </p:txBody>
      </p:sp>
      <p:sp>
        <p:nvSpPr>
          <p:cNvPr id="1048606" name="Rectangle 1048605">
            <a:extLst>
              <a:ext uri="{FF2B5EF4-FFF2-40B4-BE49-F238E27FC236}">
                <a16:creationId xmlns:a16="http://schemas.microsoft.com/office/drawing/2014/main" xmlns="" id="{A628FB2E-4A3E-4D05-959A-949CF72650FF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02</a:t>
            </a:r>
          </a:p>
        </p:txBody>
      </p:sp>
      <p:sp>
        <p:nvSpPr>
          <p:cNvPr id="34818" name="AutoShape 2" descr="blob:https://web.whatsapp.com/f5ab8dd1-e2c5-4634-a042-ed2580081e1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68098" y="0"/>
            <a:ext cx="1023902" cy="1023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1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74267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Rounded Rectangle 1048609">
            <a:extLst>
              <a:ext uri="{FF2B5EF4-FFF2-40B4-BE49-F238E27FC236}">
                <a16:creationId xmlns:a16="http://schemas.microsoft.com/office/drawing/2014/main" xmlns="" id="{72C8B241-61B1-4EC6-A72D-B51B4BD1F9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612" name="Rectangle 1048611">
            <a:extLst>
              <a:ext uri="{FF2B5EF4-FFF2-40B4-BE49-F238E27FC236}">
                <a16:creationId xmlns:a16="http://schemas.microsoft.com/office/drawing/2014/main" xmlns="" id="{B4CDE897-6DF4-4CB2-B96A-B79ABECE8A14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8613" name="Rectangle 1048612">
            <a:extLst>
              <a:ext uri="{FF2B5EF4-FFF2-40B4-BE49-F238E27FC236}">
                <a16:creationId xmlns:a16="http://schemas.microsoft.com/office/drawing/2014/main" xmlns="" id="{2B70AB1E-A27D-43E3-84AF-B79A28FA90F2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The proposed system supports—not replaces—the recruiter</a:t>
            </a:r>
          </a:p>
        </p:txBody>
      </p:sp>
      <p:sp>
        <p:nvSpPr>
          <p:cNvPr id="1048614" name="Rectangle 1048613">
            <a:extLst>
              <a:ext uri="{FF2B5EF4-FFF2-40B4-BE49-F238E27FC236}">
                <a16:creationId xmlns:a16="http://schemas.microsoft.com/office/drawing/2014/main" xmlns="" id="{4BCB8414-D9B9-4CD5-A694-4041A139066F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615" name="Rectangle 1048614">
            <a:extLst>
              <a:ext uri="{FF2B5EF4-FFF2-40B4-BE49-F238E27FC236}">
                <a16:creationId xmlns:a16="http://schemas.microsoft.com/office/drawing/2014/main" xmlns="" id="{7B4457D2-0607-4167-A4B8-7249BBB8E5FC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Input</a:t>
            </a:r>
          </a:p>
        </p:txBody>
      </p:sp>
      <p:sp>
        <p:nvSpPr>
          <p:cNvPr id="1048616" name="Rectangle 1048615">
            <a:extLst>
              <a:ext uri="{FF2B5EF4-FFF2-40B4-BE49-F238E27FC236}">
                <a16:creationId xmlns:a16="http://schemas.microsoft.com/office/drawing/2014/main" xmlns="" id="{E47E5821-6D04-4F98-82B1-34D9B63CD2A6}"/>
              </a:ext>
            </a:extLst>
          </p:cNvPr>
          <p:cNvSpPr>
            <a:spLocks noGrp="1"/>
          </p:cNvSpPr>
          <p:nvPr/>
        </p:nvSpPr>
        <p:spPr>
          <a:xfrm>
            <a:off x="4095750" y="17145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Processing</a:t>
            </a:r>
          </a:p>
        </p:txBody>
      </p:sp>
      <p:sp>
        <p:nvSpPr>
          <p:cNvPr id="1048617" name="Rectangle 1048616">
            <a:extLst>
              <a:ext uri="{FF2B5EF4-FFF2-40B4-BE49-F238E27FC236}">
                <a16:creationId xmlns:a16="http://schemas.microsoft.com/office/drawing/2014/main" xmlns="" id="{1CDBC7B5-A583-451A-A703-401C7A2E3C68}"/>
              </a:ext>
            </a:extLst>
          </p:cNvPr>
          <p:cNvSpPr>
            <a:spLocks noGrp="1"/>
          </p:cNvSpPr>
          <p:nvPr/>
        </p:nvSpPr>
        <p:spPr>
          <a:xfrm>
            <a:off x="8382000" y="17145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Output</a:t>
            </a:r>
          </a:p>
        </p:txBody>
      </p:sp>
      <p:sp>
        <p:nvSpPr>
          <p:cNvPr id="1048618" name="Rounded Rectangle 1048617">
            <a:extLst>
              <a:ext uri="{FF2B5EF4-FFF2-40B4-BE49-F238E27FC236}">
                <a16:creationId xmlns:a16="http://schemas.microsoft.com/office/drawing/2014/main" xmlns="" id="{7CA2E276-EFD0-4930-97EF-AC7267258E54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952625" cy="1000125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619" name="Rectangle 1048618">
            <a:extLst>
              <a:ext uri="{FF2B5EF4-FFF2-40B4-BE49-F238E27FC236}">
                <a16:creationId xmlns:a16="http://schemas.microsoft.com/office/drawing/2014/main" xmlns="" id="{BAF767FC-412A-4A53-B3BC-6413C8099AE0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01</a:t>
            </a:r>
          </a:p>
        </p:txBody>
      </p:sp>
      <p:sp>
        <p:nvSpPr>
          <p:cNvPr id="1048620" name="Rectangle 1048619">
            <a:extLst>
              <a:ext uri="{FF2B5EF4-FFF2-40B4-BE49-F238E27FC236}">
                <a16:creationId xmlns:a16="http://schemas.microsoft.com/office/drawing/2014/main" xmlns="" id="{39786E14-FB09-43E0-965D-2031FD96D41A}"/>
              </a:ext>
            </a:extLst>
          </p:cNvPr>
          <p:cNvSpPr>
            <a:spLocks noGrp="1"/>
          </p:cNvSpPr>
          <p:nvPr/>
        </p:nvSpPr>
        <p:spPr>
          <a:xfrm>
            <a:off x="762000" y="2743200"/>
            <a:ext cx="16478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Upload resume</a:t>
            </a:r>
          </a:p>
        </p:txBody>
      </p:sp>
      <p:sp>
        <p:nvSpPr>
          <p:cNvPr id="1048621" name="Rounded Rectangle 1048620">
            <a:extLst>
              <a:ext uri="{FF2B5EF4-FFF2-40B4-BE49-F238E27FC236}">
                <a16:creationId xmlns:a16="http://schemas.microsoft.com/office/drawing/2014/main" xmlns="" id="{93C6A33C-EC0A-40E8-BDD1-D1320E78B8AB}"/>
              </a:ext>
            </a:extLst>
          </p:cNvPr>
          <p:cNvSpPr>
            <a:spLocks noGrp="1"/>
          </p:cNvSpPr>
          <p:nvPr/>
        </p:nvSpPr>
        <p:spPr>
          <a:xfrm>
            <a:off x="2952750" y="2286000"/>
            <a:ext cx="1952625" cy="1000125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622" name="Rectangle 1048621">
            <a:extLst>
              <a:ext uri="{FF2B5EF4-FFF2-40B4-BE49-F238E27FC236}">
                <a16:creationId xmlns:a16="http://schemas.microsoft.com/office/drawing/2014/main" xmlns="" id="{FB827793-5855-4BB9-BACF-39E0DD4C34F8}"/>
              </a:ext>
            </a:extLst>
          </p:cNvPr>
          <p:cNvSpPr>
            <a:spLocks noGrp="1"/>
          </p:cNvSpPr>
          <p:nvPr/>
        </p:nvSpPr>
        <p:spPr>
          <a:xfrm>
            <a:off x="3105150" y="242887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02</a:t>
            </a:r>
          </a:p>
        </p:txBody>
      </p:sp>
      <p:sp>
        <p:nvSpPr>
          <p:cNvPr id="1048623" name="Rectangle 1048622">
            <a:extLst>
              <a:ext uri="{FF2B5EF4-FFF2-40B4-BE49-F238E27FC236}">
                <a16:creationId xmlns:a16="http://schemas.microsoft.com/office/drawing/2014/main" xmlns="" id="{8FC19BD4-0FF6-411D-BC97-E7B16D6FEAB2}"/>
              </a:ext>
            </a:extLst>
          </p:cNvPr>
          <p:cNvSpPr>
            <a:spLocks noGrp="1"/>
          </p:cNvSpPr>
          <p:nvPr/>
        </p:nvSpPr>
        <p:spPr>
          <a:xfrm>
            <a:off x="3105150" y="2743200"/>
            <a:ext cx="16478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Extract text</a:t>
            </a:r>
          </a:p>
        </p:txBody>
      </p:sp>
      <p:sp>
        <p:nvSpPr>
          <p:cNvPr id="1048624" name="Rounded Rectangle 1048623">
            <a:extLst>
              <a:ext uri="{FF2B5EF4-FFF2-40B4-BE49-F238E27FC236}">
                <a16:creationId xmlns:a16="http://schemas.microsoft.com/office/drawing/2014/main" xmlns="" id="{50D4EC44-18D1-44C2-879F-FF76E97D870B}"/>
              </a:ext>
            </a:extLst>
          </p:cNvPr>
          <p:cNvSpPr>
            <a:spLocks noGrp="1"/>
          </p:cNvSpPr>
          <p:nvPr/>
        </p:nvSpPr>
        <p:spPr>
          <a:xfrm>
            <a:off x="5295900" y="2286000"/>
            <a:ext cx="1952625" cy="1000125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625" name="Rectangle 1048624">
            <a:extLst>
              <a:ext uri="{FF2B5EF4-FFF2-40B4-BE49-F238E27FC236}">
                <a16:creationId xmlns:a16="http://schemas.microsoft.com/office/drawing/2014/main" xmlns="" id="{88127092-723F-42C6-8A5A-FC82C4054D33}"/>
              </a:ext>
            </a:extLst>
          </p:cNvPr>
          <p:cNvSpPr>
            <a:spLocks noGrp="1"/>
          </p:cNvSpPr>
          <p:nvPr/>
        </p:nvSpPr>
        <p:spPr>
          <a:xfrm>
            <a:off x="5448300" y="242887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03</a:t>
            </a:r>
          </a:p>
        </p:txBody>
      </p:sp>
      <p:sp>
        <p:nvSpPr>
          <p:cNvPr id="1048626" name="Rectangle 1048625">
            <a:extLst>
              <a:ext uri="{FF2B5EF4-FFF2-40B4-BE49-F238E27FC236}">
                <a16:creationId xmlns:a16="http://schemas.microsoft.com/office/drawing/2014/main" xmlns="" id="{46BDD4E5-04C5-4E43-9B13-06F153C4B0C3}"/>
              </a:ext>
            </a:extLst>
          </p:cNvPr>
          <p:cNvSpPr>
            <a:spLocks noGrp="1"/>
          </p:cNvSpPr>
          <p:nvPr/>
        </p:nvSpPr>
        <p:spPr>
          <a:xfrm>
            <a:off x="5448300" y="2743200"/>
            <a:ext cx="16478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Match skills</a:t>
            </a:r>
          </a:p>
        </p:txBody>
      </p:sp>
      <p:sp>
        <p:nvSpPr>
          <p:cNvPr id="1048627" name="Rounded Rectangle 1048626">
            <a:extLst>
              <a:ext uri="{FF2B5EF4-FFF2-40B4-BE49-F238E27FC236}">
                <a16:creationId xmlns:a16="http://schemas.microsoft.com/office/drawing/2014/main" xmlns="" id="{30EA3C7E-D9D0-4EF3-8AAC-0E52646845CC}"/>
              </a:ext>
            </a:extLst>
          </p:cNvPr>
          <p:cNvSpPr>
            <a:spLocks noGrp="1"/>
          </p:cNvSpPr>
          <p:nvPr/>
        </p:nvSpPr>
        <p:spPr>
          <a:xfrm>
            <a:off x="7639050" y="2286000"/>
            <a:ext cx="1952625" cy="1000125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628" name="Rectangle 1048627">
            <a:extLst>
              <a:ext uri="{FF2B5EF4-FFF2-40B4-BE49-F238E27FC236}">
                <a16:creationId xmlns:a16="http://schemas.microsoft.com/office/drawing/2014/main" xmlns="" id="{F68F41FF-CC97-4D5D-96A2-3F2763CC9469}"/>
              </a:ext>
            </a:extLst>
          </p:cNvPr>
          <p:cNvSpPr>
            <a:spLocks noGrp="1"/>
          </p:cNvSpPr>
          <p:nvPr/>
        </p:nvSpPr>
        <p:spPr>
          <a:xfrm>
            <a:off x="7791450" y="242887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04</a:t>
            </a:r>
          </a:p>
        </p:txBody>
      </p:sp>
      <p:sp>
        <p:nvSpPr>
          <p:cNvPr id="1048629" name="Rectangle 1048628">
            <a:extLst>
              <a:ext uri="{FF2B5EF4-FFF2-40B4-BE49-F238E27FC236}">
                <a16:creationId xmlns:a16="http://schemas.microsoft.com/office/drawing/2014/main" xmlns="" id="{461B64AE-E5F5-4B86-8921-FF30CB46F0C0}"/>
              </a:ext>
            </a:extLst>
          </p:cNvPr>
          <p:cNvSpPr>
            <a:spLocks noGrp="1"/>
          </p:cNvSpPr>
          <p:nvPr/>
        </p:nvSpPr>
        <p:spPr>
          <a:xfrm>
            <a:off x="7791450" y="2743200"/>
            <a:ext cx="16478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Rank &amp; explain</a:t>
            </a:r>
          </a:p>
        </p:txBody>
      </p:sp>
      <p:sp>
        <p:nvSpPr>
          <p:cNvPr id="1048630" name="Rounded Rectangle 1048629">
            <a:extLst>
              <a:ext uri="{FF2B5EF4-FFF2-40B4-BE49-F238E27FC236}">
                <a16:creationId xmlns:a16="http://schemas.microsoft.com/office/drawing/2014/main" xmlns="" id="{6D677FB8-29E3-4979-BBA6-03858970470A}"/>
              </a:ext>
            </a:extLst>
          </p:cNvPr>
          <p:cNvSpPr>
            <a:spLocks noGrp="1"/>
          </p:cNvSpPr>
          <p:nvPr/>
        </p:nvSpPr>
        <p:spPr>
          <a:xfrm>
            <a:off x="9982200" y="2286000"/>
            <a:ext cx="1619250" cy="1000125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631" name="Rectangle 1048630">
            <a:extLst>
              <a:ext uri="{FF2B5EF4-FFF2-40B4-BE49-F238E27FC236}">
                <a16:creationId xmlns:a16="http://schemas.microsoft.com/office/drawing/2014/main" xmlns="" id="{393580EF-5D87-4D1A-A6A5-769BE63A8478}"/>
              </a:ext>
            </a:extLst>
          </p:cNvPr>
          <p:cNvSpPr>
            <a:spLocks noGrp="1"/>
          </p:cNvSpPr>
          <p:nvPr/>
        </p:nvSpPr>
        <p:spPr>
          <a:xfrm>
            <a:off x="10134600" y="242887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05</a:t>
            </a:r>
          </a:p>
        </p:txBody>
      </p:sp>
      <p:sp>
        <p:nvSpPr>
          <p:cNvPr id="1048632" name="Rectangle 1048631">
            <a:extLst>
              <a:ext uri="{FF2B5EF4-FFF2-40B4-BE49-F238E27FC236}">
                <a16:creationId xmlns:a16="http://schemas.microsoft.com/office/drawing/2014/main" xmlns="" id="{064FD3AC-F008-40E0-AB2E-579E58E8009A}"/>
              </a:ext>
            </a:extLst>
          </p:cNvPr>
          <p:cNvSpPr>
            <a:spLocks noGrp="1"/>
          </p:cNvSpPr>
          <p:nvPr/>
        </p:nvSpPr>
        <p:spPr>
          <a:xfrm>
            <a:off x="10134600" y="2743200"/>
            <a:ext cx="1314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Human decision</a:t>
            </a:r>
          </a:p>
        </p:txBody>
      </p:sp>
      <p:sp>
        <p:nvSpPr>
          <p:cNvPr id="1048633" name="Rectangle 1048632">
            <a:extLst>
              <a:ext uri="{FF2B5EF4-FFF2-40B4-BE49-F238E27FC236}">
                <a16:creationId xmlns:a16="http://schemas.microsoft.com/office/drawing/2014/main" xmlns="" id="{607350AE-3B2E-466E-B12F-EEF712900BC5}"/>
              </a:ext>
            </a:extLst>
          </p:cNvPr>
          <p:cNvSpPr>
            <a:spLocks noGrp="1"/>
          </p:cNvSpPr>
          <p:nvPr/>
        </p:nvSpPr>
        <p:spPr>
          <a:xfrm>
            <a:off x="1524000" y="3714750"/>
            <a:ext cx="9191625" cy="28575"/>
          </a:xfrm>
          <a:prstGeom prst="rect">
            <a:avLst/>
          </a:prstGeom>
          <a:solidFill>
            <a:srgbClr val="49C6E5"/>
          </a:solidFill>
          <a:ln w="0">
            <a:solidFill>
              <a:srgbClr val="49C6E5"/>
            </a:solidFill>
            <a:prstDash val="solid"/>
          </a:ln>
        </p:spPr>
      </p:sp>
      <p:sp>
        <p:nvSpPr>
          <p:cNvPr id="1048634" name="Rectangle 1048633">
            <a:extLst>
              <a:ext uri="{FF2B5EF4-FFF2-40B4-BE49-F238E27FC236}">
                <a16:creationId xmlns:a16="http://schemas.microsoft.com/office/drawing/2014/main" xmlns="" id="{434FB8B0-81AB-4ED1-AE5E-0FC17E078925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PDF / DOCX</a:t>
            </a:r>
          </a:p>
        </p:txBody>
      </p:sp>
      <p:sp>
        <p:nvSpPr>
          <p:cNvPr id="1048635" name="Rectangle 1048634">
            <a:extLst>
              <a:ext uri="{FF2B5EF4-FFF2-40B4-BE49-F238E27FC236}">
                <a16:creationId xmlns:a16="http://schemas.microsoft.com/office/drawing/2014/main" xmlns="" id="{FEAD6956-3EB1-43A3-B598-9E6471F9495E}"/>
              </a:ext>
            </a:extLst>
          </p:cNvPr>
          <p:cNvSpPr>
            <a:spLocks noGrp="1"/>
          </p:cNvSpPr>
          <p:nvPr/>
        </p:nvSpPr>
        <p:spPr>
          <a:xfrm>
            <a:off x="3143250" y="40481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NLP cleaning</a:t>
            </a:r>
          </a:p>
        </p:txBody>
      </p:sp>
      <p:sp>
        <p:nvSpPr>
          <p:cNvPr id="1048636" name="Rectangle 1048635">
            <a:extLst>
              <a:ext uri="{FF2B5EF4-FFF2-40B4-BE49-F238E27FC236}">
                <a16:creationId xmlns:a16="http://schemas.microsoft.com/office/drawing/2014/main" xmlns="" id="{DE6377B8-C99C-491E-9640-A7D5E6DCBFCE}"/>
              </a:ext>
            </a:extLst>
          </p:cNvPr>
          <p:cNvSpPr>
            <a:spLocks noGrp="1"/>
          </p:cNvSpPr>
          <p:nvPr/>
        </p:nvSpPr>
        <p:spPr>
          <a:xfrm>
            <a:off x="5381625" y="404812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TF-IDF similarity</a:t>
            </a:r>
          </a:p>
        </p:txBody>
      </p:sp>
      <p:sp>
        <p:nvSpPr>
          <p:cNvPr id="1048637" name="Rectangle 1048636">
            <a:extLst>
              <a:ext uri="{FF2B5EF4-FFF2-40B4-BE49-F238E27FC236}">
                <a16:creationId xmlns:a16="http://schemas.microsoft.com/office/drawing/2014/main" xmlns="" id="{F21E751A-D81F-4022-AEA0-BB98DF667BC9}"/>
              </a:ext>
            </a:extLst>
          </p:cNvPr>
          <p:cNvSpPr>
            <a:spLocks noGrp="1"/>
          </p:cNvSpPr>
          <p:nvPr/>
        </p:nvSpPr>
        <p:spPr>
          <a:xfrm>
            <a:off x="7762875" y="40481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Score + review</a:t>
            </a:r>
          </a:p>
        </p:txBody>
      </p:sp>
      <p:sp>
        <p:nvSpPr>
          <p:cNvPr id="1048638" name="Rectangle 1048637">
            <a:extLst>
              <a:ext uri="{FF2B5EF4-FFF2-40B4-BE49-F238E27FC236}">
                <a16:creationId xmlns:a16="http://schemas.microsoft.com/office/drawing/2014/main" xmlns="" id="{367FBD61-E595-41FB-BD13-822257496D62}"/>
              </a:ext>
            </a:extLst>
          </p:cNvPr>
          <p:cNvSpPr>
            <a:spLocks noGrp="1"/>
          </p:cNvSpPr>
          <p:nvPr/>
        </p:nvSpPr>
        <p:spPr>
          <a:xfrm>
            <a:off x="9886950" y="40481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Approve / reject</a:t>
            </a:r>
          </a:p>
        </p:txBody>
      </p:sp>
      <p:sp>
        <p:nvSpPr>
          <p:cNvPr id="1048639" name="Rounded Rectangle 1048638">
            <a:extLst>
              <a:ext uri="{FF2B5EF4-FFF2-40B4-BE49-F238E27FC236}">
                <a16:creationId xmlns:a16="http://schemas.microsoft.com/office/drawing/2014/main" xmlns="" id="{1D5500AD-D7C2-4A23-9A90-A461388AA15E}"/>
              </a:ext>
            </a:extLst>
          </p:cNvPr>
          <p:cNvSpPr>
            <a:spLocks noGrp="1"/>
          </p:cNvSpPr>
          <p:nvPr/>
        </p:nvSpPr>
        <p:spPr>
          <a:xfrm>
            <a:off x="2381250" y="4953000"/>
            <a:ext cx="7429500" cy="685800"/>
          </a:xfrm>
          <a:prstGeom prst="roundRect">
            <a:avLst>
              <a:gd name="adj" fmla="val 16667"/>
            </a:avLst>
          </a:prstGeom>
          <a:solidFill>
            <a:srgbClr val="FFF6E5"/>
          </a:solidFill>
          <a:ln w="9525">
            <a:solidFill>
              <a:srgbClr val="F3C46A"/>
            </a:solidFill>
            <a:prstDash val="solid"/>
          </a:ln>
        </p:spPr>
      </p:sp>
      <p:sp>
        <p:nvSpPr>
          <p:cNvPr id="1048640" name="Rectangle 1048639">
            <a:extLst>
              <a:ext uri="{FF2B5EF4-FFF2-40B4-BE49-F238E27FC236}">
                <a16:creationId xmlns:a16="http://schemas.microsoft.com/office/drawing/2014/main" xmlns="" id="{CF16B69F-69C7-4D09-BCCC-5AEE2222C432}"/>
              </a:ext>
            </a:extLst>
          </p:cNvPr>
          <p:cNvSpPr>
            <a:spLocks noGrp="1"/>
          </p:cNvSpPr>
          <p:nvPr/>
        </p:nvSpPr>
        <p:spPr>
          <a:xfrm>
            <a:off x="2619375" y="5143500"/>
            <a:ext cx="695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Human oversight remains mandatory for final hiring decisions.</a:t>
            </a:r>
          </a:p>
        </p:txBody>
      </p:sp>
      <p:sp>
        <p:nvSpPr>
          <p:cNvPr id="1048641" name="Rectangle 1048640">
            <a:extLst>
              <a:ext uri="{FF2B5EF4-FFF2-40B4-BE49-F238E27FC236}">
                <a16:creationId xmlns:a16="http://schemas.microsoft.com/office/drawing/2014/main" xmlns="" id="{6A7C740A-AF7F-4F4F-B78E-1A891FD65FF4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03</a:t>
            </a:r>
          </a:p>
        </p:txBody>
      </p:sp>
      <p:pic>
        <p:nvPicPr>
          <p:cNvPr id="34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" name="Picture 1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8084" y="1"/>
            <a:ext cx="657406" cy="714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390299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Rounded Rectangle 1048644">
            <a:extLst>
              <a:ext uri="{FF2B5EF4-FFF2-40B4-BE49-F238E27FC236}">
                <a16:creationId xmlns:a16="http://schemas.microsoft.com/office/drawing/2014/main" xmlns="" id="{38A8C86C-063A-4A7F-A4F0-08A7E3ED81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647" name="Rectangle 1048646">
            <a:extLst>
              <a:ext uri="{FF2B5EF4-FFF2-40B4-BE49-F238E27FC236}">
                <a16:creationId xmlns:a16="http://schemas.microsoft.com/office/drawing/2014/main" xmlns="" id="{0CE1E445-28A6-469E-9A13-2B0A7B0B398C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8648" name="Rectangle 1048647">
            <a:extLst>
              <a:ext uri="{FF2B5EF4-FFF2-40B4-BE49-F238E27FC236}">
                <a16:creationId xmlns:a16="http://schemas.microsoft.com/office/drawing/2014/main" xmlns="" id="{CAB90395-C9E7-4E36-9B53-73FB0AF77411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Five modules turn an unstructured resume into a review</a:t>
            </a:r>
          </a:p>
        </p:txBody>
      </p:sp>
      <p:sp>
        <p:nvSpPr>
          <p:cNvPr id="1048649" name="Rectangle 1048648">
            <a:extLst>
              <a:ext uri="{FF2B5EF4-FFF2-40B4-BE49-F238E27FC236}">
                <a16:creationId xmlns:a16="http://schemas.microsoft.com/office/drawing/2014/main" xmlns="" id="{595CDC34-EA37-41E2-88D5-9B3A842E502F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650" name="Rectangle 1048649">
            <a:extLst>
              <a:ext uri="{FF2B5EF4-FFF2-40B4-BE49-F238E27FC236}">
                <a16:creationId xmlns:a16="http://schemas.microsoft.com/office/drawing/2014/main" xmlns="" id="{F8C18FF8-758A-44D1-BC87-2DC7F940BBEB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1</a:t>
            </a:r>
          </a:p>
        </p:txBody>
      </p:sp>
      <p:sp>
        <p:nvSpPr>
          <p:cNvPr id="1048651" name="Rectangle 1048650">
            <a:extLst>
              <a:ext uri="{FF2B5EF4-FFF2-40B4-BE49-F238E27FC236}">
                <a16:creationId xmlns:a16="http://schemas.microsoft.com/office/drawing/2014/main" xmlns="" id="{DAB9EF6B-73E0-456D-B2EC-3998DAA500EC}"/>
              </a:ext>
            </a:extLst>
          </p:cNvPr>
          <p:cNvSpPr>
            <a:spLocks noGrp="1"/>
          </p:cNvSpPr>
          <p:nvPr/>
        </p:nvSpPr>
        <p:spPr>
          <a:xfrm>
            <a:off x="1238250" y="1781175"/>
            <a:ext cx="762000" cy="19050"/>
          </a:xfrm>
          <a:prstGeom prst="rect">
            <a:avLst/>
          </a:prstGeom>
          <a:solidFill>
            <a:srgbClr val="49C6E5"/>
          </a:solidFill>
          <a:ln w="0">
            <a:solidFill>
              <a:srgbClr val="49C6E5"/>
            </a:solidFill>
            <a:prstDash val="solid"/>
          </a:ln>
        </p:spPr>
      </p:sp>
      <p:sp>
        <p:nvSpPr>
          <p:cNvPr id="1048652" name="Rectangle 1048651">
            <a:extLst>
              <a:ext uri="{FF2B5EF4-FFF2-40B4-BE49-F238E27FC236}">
                <a16:creationId xmlns:a16="http://schemas.microsoft.com/office/drawing/2014/main" xmlns="" id="{977D0BFA-26E5-4DEB-81FB-64A3E638B43E}"/>
              </a:ext>
            </a:extLst>
          </p:cNvPr>
          <p:cNvSpPr>
            <a:spLocks noGrp="1"/>
          </p:cNvSpPr>
          <p:nvPr/>
        </p:nvSpPr>
        <p:spPr>
          <a:xfrm>
            <a:off x="2238375" y="1571625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Resume upload</a:t>
            </a:r>
          </a:p>
        </p:txBody>
      </p:sp>
      <p:sp>
        <p:nvSpPr>
          <p:cNvPr id="1048653" name="Rectangle 1048652">
            <a:extLst>
              <a:ext uri="{FF2B5EF4-FFF2-40B4-BE49-F238E27FC236}">
                <a16:creationId xmlns:a16="http://schemas.microsoft.com/office/drawing/2014/main" xmlns="" id="{28AD49D0-D808-4732-BBAD-DFBE15C156B8}"/>
              </a:ext>
            </a:extLst>
          </p:cNvPr>
          <p:cNvSpPr>
            <a:spLocks noGrp="1"/>
          </p:cNvSpPr>
          <p:nvPr/>
        </p:nvSpPr>
        <p:spPr>
          <a:xfrm>
            <a:off x="5286375" y="1571625"/>
            <a:ext cx="581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Validates PDF/DOCX and file size</a:t>
            </a:r>
          </a:p>
        </p:txBody>
      </p:sp>
      <p:sp>
        <p:nvSpPr>
          <p:cNvPr id="1048654" name="Rectangle 1048653">
            <a:extLst>
              <a:ext uri="{FF2B5EF4-FFF2-40B4-BE49-F238E27FC236}">
                <a16:creationId xmlns:a16="http://schemas.microsoft.com/office/drawing/2014/main" xmlns="" id="{240E64AA-83E2-4D58-8537-5036229173FE}"/>
              </a:ext>
            </a:extLst>
          </p:cNvPr>
          <p:cNvSpPr>
            <a:spLocks noGrp="1"/>
          </p:cNvSpPr>
          <p:nvPr/>
        </p:nvSpPr>
        <p:spPr>
          <a:xfrm>
            <a:off x="666750" y="2447925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2</a:t>
            </a:r>
          </a:p>
        </p:txBody>
      </p:sp>
      <p:sp>
        <p:nvSpPr>
          <p:cNvPr id="1048655" name="Rectangle 1048654">
            <a:extLst>
              <a:ext uri="{FF2B5EF4-FFF2-40B4-BE49-F238E27FC236}">
                <a16:creationId xmlns:a16="http://schemas.microsoft.com/office/drawing/2014/main" xmlns="" id="{6E1E60B3-5E51-4F59-A9EE-57F75CA03403}"/>
              </a:ext>
            </a:extLst>
          </p:cNvPr>
          <p:cNvSpPr>
            <a:spLocks noGrp="1"/>
          </p:cNvSpPr>
          <p:nvPr/>
        </p:nvSpPr>
        <p:spPr>
          <a:xfrm>
            <a:off x="1238250" y="2657475"/>
            <a:ext cx="762000" cy="19050"/>
          </a:xfrm>
          <a:prstGeom prst="rect">
            <a:avLst/>
          </a:prstGeom>
          <a:solidFill>
            <a:srgbClr val="49C6E5"/>
          </a:solidFill>
          <a:ln w="0">
            <a:solidFill>
              <a:srgbClr val="49C6E5"/>
            </a:solidFill>
            <a:prstDash val="solid"/>
          </a:ln>
        </p:spPr>
      </p:sp>
      <p:sp>
        <p:nvSpPr>
          <p:cNvPr id="1048656" name="Rectangle 1048655">
            <a:extLst>
              <a:ext uri="{FF2B5EF4-FFF2-40B4-BE49-F238E27FC236}">
                <a16:creationId xmlns:a16="http://schemas.microsoft.com/office/drawing/2014/main" xmlns="" id="{340EEA64-0F3F-4460-972C-CB8AF9523F3A}"/>
              </a:ext>
            </a:extLst>
          </p:cNvPr>
          <p:cNvSpPr>
            <a:spLocks noGrp="1"/>
          </p:cNvSpPr>
          <p:nvPr/>
        </p:nvSpPr>
        <p:spPr>
          <a:xfrm>
            <a:off x="2238375" y="2447925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Text extraction</a:t>
            </a:r>
          </a:p>
        </p:txBody>
      </p:sp>
      <p:sp>
        <p:nvSpPr>
          <p:cNvPr id="1048657" name="Rectangle 1048656">
            <a:extLst>
              <a:ext uri="{FF2B5EF4-FFF2-40B4-BE49-F238E27FC236}">
                <a16:creationId xmlns:a16="http://schemas.microsoft.com/office/drawing/2014/main" xmlns="" id="{894092EC-CE74-417E-9EB2-EE20721C509F}"/>
              </a:ext>
            </a:extLst>
          </p:cNvPr>
          <p:cNvSpPr>
            <a:spLocks noGrp="1"/>
          </p:cNvSpPr>
          <p:nvPr/>
        </p:nvSpPr>
        <p:spPr>
          <a:xfrm>
            <a:off x="5286375" y="2447925"/>
            <a:ext cx="581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Reads name, skills, education and experience</a:t>
            </a:r>
          </a:p>
        </p:txBody>
      </p:sp>
      <p:sp>
        <p:nvSpPr>
          <p:cNvPr id="1048658" name="Rectangle 1048657">
            <a:extLst>
              <a:ext uri="{FF2B5EF4-FFF2-40B4-BE49-F238E27FC236}">
                <a16:creationId xmlns:a16="http://schemas.microsoft.com/office/drawing/2014/main" xmlns="" id="{18889F72-C24F-4B2D-8BD3-234921DB2859}"/>
              </a:ext>
            </a:extLst>
          </p:cNvPr>
          <p:cNvSpPr>
            <a:spLocks noGrp="1"/>
          </p:cNvSpPr>
          <p:nvPr/>
        </p:nvSpPr>
        <p:spPr>
          <a:xfrm>
            <a:off x="666750" y="3324225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3</a:t>
            </a:r>
          </a:p>
        </p:txBody>
      </p:sp>
      <p:sp>
        <p:nvSpPr>
          <p:cNvPr id="1048659" name="Rectangle 1048658">
            <a:extLst>
              <a:ext uri="{FF2B5EF4-FFF2-40B4-BE49-F238E27FC236}">
                <a16:creationId xmlns:a16="http://schemas.microsoft.com/office/drawing/2014/main" xmlns="" id="{DC1C14FE-CFE7-43A3-A665-490FACAA51E1}"/>
              </a:ext>
            </a:extLst>
          </p:cNvPr>
          <p:cNvSpPr>
            <a:spLocks noGrp="1"/>
          </p:cNvSpPr>
          <p:nvPr/>
        </p:nvSpPr>
        <p:spPr>
          <a:xfrm>
            <a:off x="1238250" y="3533775"/>
            <a:ext cx="762000" cy="19050"/>
          </a:xfrm>
          <a:prstGeom prst="rect">
            <a:avLst/>
          </a:prstGeom>
          <a:solidFill>
            <a:srgbClr val="49C6E5"/>
          </a:solidFill>
          <a:ln w="0">
            <a:solidFill>
              <a:srgbClr val="49C6E5"/>
            </a:solidFill>
            <a:prstDash val="solid"/>
          </a:ln>
        </p:spPr>
      </p:sp>
      <p:sp>
        <p:nvSpPr>
          <p:cNvPr id="1048660" name="Rectangle 1048659">
            <a:extLst>
              <a:ext uri="{FF2B5EF4-FFF2-40B4-BE49-F238E27FC236}">
                <a16:creationId xmlns:a16="http://schemas.microsoft.com/office/drawing/2014/main" xmlns="" id="{A765E6B9-4088-4FB4-AC9A-14E1D99CE59E}"/>
              </a:ext>
            </a:extLst>
          </p:cNvPr>
          <p:cNvSpPr>
            <a:spLocks noGrp="1"/>
          </p:cNvSpPr>
          <p:nvPr/>
        </p:nvSpPr>
        <p:spPr>
          <a:xfrm>
            <a:off x="2238375" y="3324225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Job analysis</a:t>
            </a:r>
          </a:p>
        </p:txBody>
      </p:sp>
      <p:sp>
        <p:nvSpPr>
          <p:cNvPr id="1048661" name="Rectangle 1048660">
            <a:extLst>
              <a:ext uri="{FF2B5EF4-FFF2-40B4-BE49-F238E27FC236}">
                <a16:creationId xmlns:a16="http://schemas.microsoft.com/office/drawing/2014/main" xmlns="" id="{8E1A1540-C506-4758-8E67-62A5D09057B1}"/>
              </a:ext>
            </a:extLst>
          </p:cNvPr>
          <p:cNvSpPr>
            <a:spLocks noGrp="1"/>
          </p:cNvSpPr>
          <p:nvPr/>
        </p:nvSpPr>
        <p:spPr>
          <a:xfrm>
            <a:off x="5286375" y="3324225"/>
            <a:ext cx="581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Identifies required and preferred keywords</a:t>
            </a:r>
          </a:p>
        </p:txBody>
      </p:sp>
      <p:sp>
        <p:nvSpPr>
          <p:cNvPr id="1048662" name="Rectangle 1048661">
            <a:extLst>
              <a:ext uri="{FF2B5EF4-FFF2-40B4-BE49-F238E27FC236}">
                <a16:creationId xmlns:a16="http://schemas.microsoft.com/office/drawing/2014/main" xmlns="" id="{E2E26F2F-4A78-44FF-B750-A21229165432}"/>
              </a:ext>
            </a:extLst>
          </p:cNvPr>
          <p:cNvSpPr>
            <a:spLocks noGrp="1"/>
          </p:cNvSpPr>
          <p:nvPr/>
        </p:nvSpPr>
        <p:spPr>
          <a:xfrm>
            <a:off x="666750" y="4200525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4</a:t>
            </a:r>
          </a:p>
        </p:txBody>
      </p:sp>
      <p:sp>
        <p:nvSpPr>
          <p:cNvPr id="1048663" name="Rectangle 1048662">
            <a:extLst>
              <a:ext uri="{FF2B5EF4-FFF2-40B4-BE49-F238E27FC236}">
                <a16:creationId xmlns:a16="http://schemas.microsoft.com/office/drawing/2014/main" xmlns="" id="{6DBCB712-468B-470A-A76E-BB74D6B6B680}"/>
              </a:ext>
            </a:extLst>
          </p:cNvPr>
          <p:cNvSpPr>
            <a:spLocks noGrp="1"/>
          </p:cNvSpPr>
          <p:nvPr/>
        </p:nvSpPr>
        <p:spPr>
          <a:xfrm>
            <a:off x="1238250" y="4410075"/>
            <a:ext cx="762000" cy="19050"/>
          </a:xfrm>
          <a:prstGeom prst="rect">
            <a:avLst/>
          </a:prstGeom>
          <a:solidFill>
            <a:srgbClr val="49C6E5"/>
          </a:solidFill>
          <a:ln w="0">
            <a:solidFill>
              <a:srgbClr val="49C6E5"/>
            </a:solidFill>
            <a:prstDash val="solid"/>
          </a:ln>
        </p:spPr>
      </p:sp>
      <p:sp>
        <p:nvSpPr>
          <p:cNvPr id="1048664" name="Rectangle 1048663">
            <a:extLst>
              <a:ext uri="{FF2B5EF4-FFF2-40B4-BE49-F238E27FC236}">
                <a16:creationId xmlns:a16="http://schemas.microsoft.com/office/drawing/2014/main" xmlns="" id="{0FE71B7A-D090-4B64-BC77-950733F456C9}"/>
              </a:ext>
            </a:extLst>
          </p:cNvPr>
          <p:cNvSpPr>
            <a:spLocks noGrp="1"/>
          </p:cNvSpPr>
          <p:nvPr/>
        </p:nvSpPr>
        <p:spPr>
          <a:xfrm>
            <a:off x="2238375" y="4200525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Matching engine</a:t>
            </a:r>
          </a:p>
        </p:txBody>
      </p:sp>
      <p:sp>
        <p:nvSpPr>
          <p:cNvPr id="1048665" name="Rectangle 1048664">
            <a:extLst>
              <a:ext uri="{FF2B5EF4-FFF2-40B4-BE49-F238E27FC236}">
                <a16:creationId xmlns:a16="http://schemas.microsoft.com/office/drawing/2014/main" xmlns="" id="{D14482DD-2C25-4FBC-89D0-7F7A1B87FA31}"/>
              </a:ext>
            </a:extLst>
          </p:cNvPr>
          <p:cNvSpPr>
            <a:spLocks noGrp="1"/>
          </p:cNvSpPr>
          <p:nvPr/>
        </p:nvSpPr>
        <p:spPr>
          <a:xfrm>
            <a:off x="5286375" y="4200525"/>
            <a:ext cx="581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Calculates skill, education and experience scores</a:t>
            </a:r>
          </a:p>
        </p:txBody>
      </p:sp>
      <p:sp>
        <p:nvSpPr>
          <p:cNvPr id="1048666" name="Rectangle 1048665">
            <a:extLst>
              <a:ext uri="{FF2B5EF4-FFF2-40B4-BE49-F238E27FC236}">
                <a16:creationId xmlns:a16="http://schemas.microsoft.com/office/drawing/2014/main" xmlns="" id="{FB6185EC-E2BF-4DF4-8121-21DA0B4F5462}"/>
              </a:ext>
            </a:extLst>
          </p:cNvPr>
          <p:cNvSpPr>
            <a:spLocks noGrp="1"/>
          </p:cNvSpPr>
          <p:nvPr/>
        </p:nvSpPr>
        <p:spPr>
          <a:xfrm>
            <a:off x="666750" y="5076825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5</a:t>
            </a:r>
          </a:p>
        </p:txBody>
      </p:sp>
      <p:sp>
        <p:nvSpPr>
          <p:cNvPr id="1048667" name="Rectangle 1048666">
            <a:extLst>
              <a:ext uri="{FF2B5EF4-FFF2-40B4-BE49-F238E27FC236}">
                <a16:creationId xmlns:a16="http://schemas.microsoft.com/office/drawing/2014/main" xmlns="" id="{313A21F1-7E6E-4D7E-94E3-C8020A702BAE}"/>
              </a:ext>
            </a:extLst>
          </p:cNvPr>
          <p:cNvSpPr>
            <a:spLocks noGrp="1"/>
          </p:cNvSpPr>
          <p:nvPr/>
        </p:nvSpPr>
        <p:spPr>
          <a:xfrm>
            <a:off x="1238250" y="5286375"/>
            <a:ext cx="762000" cy="19050"/>
          </a:xfrm>
          <a:prstGeom prst="rect">
            <a:avLst/>
          </a:prstGeom>
          <a:solidFill>
            <a:srgbClr val="49C6E5"/>
          </a:solidFill>
          <a:ln w="0">
            <a:solidFill>
              <a:srgbClr val="49C6E5"/>
            </a:solidFill>
            <a:prstDash val="solid"/>
          </a:ln>
        </p:spPr>
      </p:sp>
      <p:sp>
        <p:nvSpPr>
          <p:cNvPr id="1048668" name="Rectangle 1048667">
            <a:extLst>
              <a:ext uri="{FF2B5EF4-FFF2-40B4-BE49-F238E27FC236}">
                <a16:creationId xmlns:a16="http://schemas.microsoft.com/office/drawing/2014/main" xmlns="" id="{9B98C9B4-3E7E-4B1A-B201-B8FA0D3F03BF}"/>
              </a:ext>
            </a:extLst>
          </p:cNvPr>
          <p:cNvSpPr>
            <a:spLocks noGrp="1"/>
          </p:cNvSpPr>
          <p:nvPr/>
        </p:nvSpPr>
        <p:spPr>
          <a:xfrm>
            <a:off x="2238375" y="5076825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Review dashboard</a:t>
            </a:r>
          </a:p>
        </p:txBody>
      </p:sp>
      <p:sp>
        <p:nvSpPr>
          <p:cNvPr id="1048669" name="Rectangle 1048668">
            <a:extLst>
              <a:ext uri="{FF2B5EF4-FFF2-40B4-BE49-F238E27FC236}">
                <a16:creationId xmlns:a16="http://schemas.microsoft.com/office/drawing/2014/main" xmlns="" id="{28263D5C-4990-461B-9343-E107E3D7CCC6}"/>
              </a:ext>
            </a:extLst>
          </p:cNvPr>
          <p:cNvSpPr>
            <a:spLocks noGrp="1"/>
          </p:cNvSpPr>
          <p:nvPr/>
        </p:nvSpPr>
        <p:spPr>
          <a:xfrm>
            <a:off x="5286375" y="5076825"/>
            <a:ext cx="581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Shows ranking, evidence and recommendations</a:t>
            </a:r>
          </a:p>
        </p:txBody>
      </p:sp>
      <p:sp>
        <p:nvSpPr>
          <p:cNvPr id="1048670" name="Rectangle 1048669">
            <a:extLst>
              <a:ext uri="{FF2B5EF4-FFF2-40B4-BE49-F238E27FC236}">
                <a16:creationId xmlns:a16="http://schemas.microsoft.com/office/drawing/2014/main" xmlns="" id="{6345033F-FA7E-4E34-BE36-C75E6A622B40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04</a:t>
            </a:r>
          </a:p>
        </p:txBody>
      </p:sp>
      <p:pic>
        <p:nvPicPr>
          <p:cNvPr id="28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" name="Picture 1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66481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Rounded Rectangle 1048673">
            <a:extLst>
              <a:ext uri="{FF2B5EF4-FFF2-40B4-BE49-F238E27FC236}">
                <a16:creationId xmlns:a16="http://schemas.microsoft.com/office/drawing/2014/main" xmlns="" id="{35943C60-E4F0-48DE-8845-78835EB982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676" name="Rectangle 1048675">
            <a:extLst>
              <a:ext uri="{FF2B5EF4-FFF2-40B4-BE49-F238E27FC236}">
                <a16:creationId xmlns:a16="http://schemas.microsoft.com/office/drawing/2014/main" xmlns="" id="{5CF691C9-1407-430C-A5E7-BAADED803F5B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8677" name="Rectangle 1048676">
            <a:extLst>
              <a:ext uri="{FF2B5EF4-FFF2-40B4-BE49-F238E27FC236}">
                <a16:creationId xmlns:a16="http://schemas.microsoft.com/office/drawing/2014/main" xmlns="" id="{981CDDCB-5FC3-46F8-9E4A-09DDCFECF6D7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System architecture separates interface, intelligence and storage</a:t>
            </a:r>
          </a:p>
        </p:txBody>
      </p:sp>
      <p:sp>
        <p:nvSpPr>
          <p:cNvPr id="1048678" name="Rectangle 1048677">
            <a:extLst>
              <a:ext uri="{FF2B5EF4-FFF2-40B4-BE49-F238E27FC236}">
                <a16:creationId xmlns:a16="http://schemas.microsoft.com/office/drawing/2014/main" xmlns="" id="{FB5F57F5-F26E-4B90-B9C3-547AAD6252E5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679" name="Rounded Rectangle 1048678">
            <a:extLst>
              <a:ext uri="{FF2B5EF4-FFF2-40B4-BE49-F238E27FC236}">
                <a16:creationId xmlns:a16="http://schemas.microsoft.com/office/drawing/2014/main" xmlns="" id="{551F1CB8-897B-4959-A1CA-264553DFC80E}"/>
              </a:ext>
            </a:extLst>
          </p:cNvPr>
          <p:cNvSpPr>
            <a:spLocks noGrp="1"/>
          </p:cNvSpPr>
          <p:nvPr/>
        </p:nvSpPr>
        <p:spPr>
          <a:xfrm>
            <a:off x="1285875" y="1619250"/>
            <a:ext cx="9620250" cy="781050"/>
          </a:xfrm>
          <a:prstGeom prst="roundRect">
            <a:avLst>
              <a:gd name="adj" fmla="val 14634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680" name="Rectangle 1048679">
            <a:extLst>
              <a:ext uri="{FF2B5EF4-FFF2-40B4-BE49-F238E27FC236}">
                <a16:creationId xmlns:a16="http://schemas.microsoft.com/office/drawing/2014/main" xmlns="" id="{571D76C8-5D13-4759-A5CC-6C3644B14F95}"/>
              </a:ext>
            </a:extLst>
          </p:cNvPr>
          <p:cNvSpPr>
            <a:spLocks noGrp="1"/>
          </p:cNvSpPr>
          <p:nvPr/>
        </p:nvSpPr>
        <p:spPr>
          <a:xfrm>
            <a:off x="1571625" y="17907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46BFD"/>
                </a:solidFill>
              </a:defRPr>
            </a:pPr>
            <a:r>
              <a:rPr sz="1425" b="1">
                <a:solidFill>
                  <a:srgbClr val="246BFD"/>
                </a:solidFill>
              </a:rPr>
              <a:t>USER INTERFACE</a:t>
            </a:r>
          </a:p>
        </p:txBody>
      </p:sp>
      <p:sp>
        <p:nvSpPr>
          <p:cNvPr id="1048681" name="Rectangle 1048680">
            <a:extLst>
              <a:ext uri="{FF2B5EF4-FFF2-40B4-BE49-F238E27FC236}">
                <a16:creationId xmlns:a16="http://schemas.microsoft.com/office/drawing/2014/main" xmlns="" id="{82E9E641-862B-4784-87D6-FE5A40AFFCD9}"/>
              </a:ext>
            </a:extLst>
          </p:cNvPr>
          <p:cNvSpPr>
            <a:spLocks noGrp="1"/>
          </p:cNvSpPr>
          <p:nvPr/>
        </p:nvSpPr>
        <p:spPr>
          <a:xfrm>
            <a:off x="4095750" y="1790700"/>
            <a:ext cx="638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Upload resume • enter job description • view results</a:t>
            </a:r>
          </a:p>
        </p:txBody>
      </p:sp>
      <p:sp>
        <p:nvSpPr>
          <p:cNvPr id="1048682" name="Rounded Rectangle 1048681">
            <a:extLst>
              <a:ext uri="{FF2B5EF4-FFF2-40B4-BE49-F238E27FC236}">
                <a16:creationId xmlns:a16="http://schemas.microsoft.com/office/drawing/2014/main" xmlns="" id="{449811E6-82F0-44DB-B0FA-D3C52EE5C584}"/>
              </a:ext>
            </a:extLst>
          </p:cNvPr>
          <p:cNvSpPr>
            <a:spLocks noGrp="1"/>
          </p:cNvSpPr>
          <p:nvPr/>
        </p:nvSpPr>
        <p:spPr>
          <a:xfrm>
            <a:off x="1285875" y="2714625"/>
            <a:ext cx="9620250" cy="781050"/>
          </a:xfrm>
          <a:prstGeom prst="roundRect">
            <a:avLst>
              <a:gd name="adj" fmla="val 14634"/>
            </a:avLst>
          </a:prstGeom>
          <a:solidFill>
            <a:srgbClr val="EEF9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683" name="Rectangle 1048682">
            <a:extLst>
              <a:ext uri="{FF2B5EF4-FFF2-40B4-BE49-F238E27FC236}">
                <a16:creationId xmlns:a16="http://schemas.microsoft.com/office/drawing/2014/main" xmlns="" id="{71921253-C23B-4661-A33E-B91EEAE68AA3}"/>
              </a:ext>
            </a:extLst>
          </p:cNvPr>
          <p:cNvSpPr>
            <a:spLocks noGrp="1"/>
          </p:cNvSpPr>
          <p:nvPr/>
        </p:nvSpPr>
        <p:spPr>
          <a:xfrm>
            <a:off x="1571625" y="28860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46BFD"/>
                </a:solidFill>
              </a:defRPr>
            </a:pPr>
            <a:r>
              <a:rPr sz="1425" b="1">
                <a:solidFill>
                  <a:srgbClr val="246BFD"/>
                </a:solidFill>
              </a:rPr>
              <a:t>APPLICATION LAYER</a:t>
            </a:r>
          </a:p>
        </p:txBody>
      </p:sp>
      <p:sp>
        <p:nvSpPr>
          <p:cNvPr id="1048684" name="Rectangle 1048683">
            <a:extLst>
              <a:ext uri="{FF2B5EF4-FFF2-40B4-BE49-F238E27FC236}">
                <a16:creationId xmlns:a16="http://schemas.microsoft.com/office/drawing/2014/main" xmlns="" id="{2F6010BD-8E02-4665-B009-25B060F2FFF9}"/>
              </a:ext>
            </a:extLst>
          </p:cNvPr>
          <p:cNvSpPr>
            <a:spLocks noGrp="1"/>
          </p:cNvSpPr>
          <p:nvPr/>
        </p:nvSpPr>
        <p:spPr>
          <a:xfrm>
            <a:off x="4095750" y="2886075"/>
            <a:ext cx="638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Flask / Streamlit controls validation and workflow</a:t>
            </a:r>
          </a:p>
        </p:txBody>
      </p:sp>
      <p:sp>
        <p:nvSpPr>
          <p:cNvPr id="1048685" name="Rounded Rectangle 1048684">
            <a:extLst>
              <a:ext uri="{FF2B5EF4-FFF2-40B4-BE49-F238E27FC236}">
                <a16:creationId xmlns:a16="http://schemas.microsoft.com/office/drawing/2014/main" xmlns="" id="{ADAD90CE-995F-4CF4-9001-303D88EF27AD}"/>
              </a:ext>
            </a:extLst>
          </p:cNvPr>
          <p:cNvSpPr>
            <a:spLocks noGrp="1"/>
          </p:cNvSpPr>
          <p:nvPr/>
        </p:nvSpPr>
        <p:spPr>
          <a:xfrm>
            <a:off x="1285875" y="3810000"/>
            <a:ext cx="9620250" cy="781050"/>
          </a:xfrm>
          <a:prstGeom prst="roundRect">
            <a:avLst>
              <a:gd name="adj" fmla="val 14634"/>
            </a:avLst>
          </a:prstGeom>
          <a:solidFill>
            <a:srgbClr val="EAFBF4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686" name="Rectangle 1048685">
            <a:extLst>
              <a:ext uri="{FF2B5EF4-FFF2-40B4-BE49-F238E27FC236}">
                <a16:creationId xmlns:a16="http://schemas.microsoft.com/office/drawing/2014/main" xmlns="" id="{E82E9374-B4AA-4C23-9D93-1526156FB12E}"/>
              </a:ext>
            </a:extLst>
          </p:cNvPr>
          <p:cNvSpPr>
            <a:spLocks noGrp="1"/>
          </p:cNvSpPr>
          <p:nvPr/>
        </p:nvSpPr>
        <p:spPr>
          <a:xfrm>
            <a:off x="1571625" y="39814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46BFD"/>
                </a:solidFill>
              </a:defRPr>
            </a:pPr>
            <a:r>
              <a:rPr sz="1425" b="1">
                <a:solidFill>
                  <a:srgbClr val="246BFD"/>
                </a:solidFill>
              </a:rPr>
              <a:t>AI &amp; NLP LAYER</a:t>
            </a:r>
          </a:p>
        </p:txBody>
      </p:sp>
      <p:sp>
        <p:nvSpPr>
          <p:cNvPr id="1048687" name="Rectangle 1048686">
            <a:extLst>
              <a:ext uri="{FF2B5EF4-FFF2-40B4-BE49-F238E27FC236}">
                <a16:creationId xmlns:a16="http://schemas.microsoft.com/office/drawing/2014/main" xmlns="" id="{BC75E3A4-97C2-4391-9D98-E197A0836E3B}"/>
              </a:ext>
            </a:extLst>
          </p:cNvPr>
          <p:cNvSpPr>
            <a:spLocks noGrp="1"/>
          </p:cNvSpPr>
          <p:nvPr/>
        </p:nvSpPr>
        <p:spPr>
          <a:xfrm>
            <a:off x="4095750" y="3981450"/>
            <a:ext cx="638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Text cleaning • skill extraction • similarity • scoring</a:t>
            </a:r>
          </a:p>
        </p:txBody>
      </p:sp>
      <p:sp>
        <p:nvSpPr>
          <p:cNvPr id="1048688" name="Rounded Rectangle 1048687">
            <a:extLst>
              <a:ext uri="{FF2B5EF4-FFF2-40B4-BE49-F238E27FC236}">
                <a16:creationId xmlns:a16="http://schemas.microsoft.com/office/drawing/2014/main" xmlns="" id="{54F1822D-A8D6-493F-B1FD-B3EF3D6E53AE}"/>
              </a:ext>
            </a:extLst>
          </p:cNvPr>
          <p:cNvSpPr>
            <a:spLocks noGrp="1"/>
          </p:cNvSpPr>
          <p:nvPr/>
        </p:nvSpPr>
        <p:spPr>
          <a:xfrm>
            <a:off x="1285875" y="4905375"/>
            <a:ext cx="9620250" cy="781050"/>
          </a:xfrm>
          <a:prstGeom prst="roundRect">
            <a:avLst>
              <a:gd name="adj" fmla="val 14634"/>
            </a:avLst>
          </a:prstGeom>
          <a:solidFill>
            <a:srgbClr val="FFF6E5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689" name="Rectangle 1048688">
            <a:extLst>
              <a:ext uri="{FF2B5EF4-FFF2-40B4-BE49-F238E27FC236}">
                <a16:creationId xmlns:a16="http://schemas.microsoft.com/office/drawing/2014/main" xmlns="" id="{2D06B48A-BB4F-40CC-9A3C-029B9FE56C0A}"/>
              </a:ext>
            </a:extLst>
          </p:cNvPr>
          <p:cNvSpPr>
            <a:spLocks noGrp="1"/>
          </p:cNvSpPr>
          <p:nvPr/>
        </p:nvSpPr>
        <p:spPr>
          <a:xfrm>
            <a:off x="1571625" y="507682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46BFD"/>
                </a:solidFill>
              </a:defRPr>
            </a:pPr>
            <a:r>
              <a:rPr sz="1425" b="1">
                <a:solidFill>
                  <a:srgbClr val="246BFD"/>
                </a:solidFill>
              </a:rPr>
              <a:t>DATA LAYER</a:t>
            </a:r>
          </a:p>
        </p:txBody>
      </p:sp>
      <p:sp>
        <p:nvSpPr>
          <p:cNvPr id="1048690" name="Rectangle 1048689">
            <a:extLst>
              <a:ext uri="{FF2B5EF4-FFF2-40B4-BE49-F238E27FC236}">
                <a16:creationId xmlns:a16="http://schemas.microsoft.com/office/drawing/2014/main" xmlns="" id="{506FAD60-9D88-4634-8C89-97812128F510}"/>
              </a:ext>
            </a:extLst>
          </p:cNvPr>
          <p:cNvSpPr>
            <a:spLocks noGrp="1"/>
          </p:cNvSpPr>
          <p:nvPr/>
        </p:nvSpPr>
        <p:spPr>
          <a:xfrm>
            <a:off x="4095750" y="5076825"/>
            <a:ext cx="638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Resume files • job profiles • scores • audit log</a:t>
            </a:r>
          </a:p>
        </p:txBody>
      </p:sp>
      <p:sp>
        <p:nvSpPr>
          <p:cNvPr id="1048691" name="Rectangle 1048690">
            <a:extLst>
              <a:ext uri="{FF2B5EF4-FFF2-40B4-BE49-F238E27FC236}">
                <a16:creationId xmlns:a16="http://schemas.microsoft.com/office/drawing/2014/main" xmlns="" id="{16D9A963-DF8E-407E-8955-1FA4CBEE2F3F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05</a:t>
            </a:r>
          </a:p>
        </p:txBody>
      </p:sp>
      <p:pic>
        <p:nvPicPr>
          <p:cNvPr id="20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478271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Rounded Rectangle 1048694">
            <a:extLst>
              <a:ext uri="{FF2B5EF4-FFF2-40B4-BE49-F238E27FC236}">
                <a16:creationId xmlns:a16="http://schemas.microsoft.com/office/drawing/2014/main" xmlns="" id="{3150EB9F-A2E6-478A-A10E-DCB0C650F6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697" name="Rectangle 1048696">
            <a:extLst>
              <a:ext uri="{FF2B5EF4-FFF2-40B4-BE49-F238E27FC236}">
                <a16:creationId xmlns:a16="http://schemas.microsoft.com/office/drawing/2014/main" xmlns="" id="{93E8CF43-D92B-4C38-9F12-06883D51D75E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8698" name="Rectangle 1048697">
            <a:extLst>
              <a:ext uri="{FF2B5EF4-FFF2-40B4-BE49-F238E27FC236}">
                <a16:creationId xmlns:a16="http://schemas.microsoft.com/office/drawing/2014/main" xmlns="" id="{7E8C86B9-0F53-4200-8A5B-C08A1FA47445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Matching combines multiple signals into one explainable score</a:t>
            </a:r>
          </a:p>
        </p:txBody>
      </p:sp>
      <p:sp>
        <p:nvSpPr>
          <p:cNvPr id="1048699" name="Rectangle 1048698">
            <a:extLst>
              <a:ext uri="{FF2B5EF4-FFF2-40B4-BE49-F238E27FC236}">
                <a16:creationId xmlns:a16="http://schemas.microsoft.com/office/drawing/2014/main" xmlns="" id="{6B39401D-A692-48D7-AD69-7020220E3850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700" name="Rectangle 1048699">
            <a:extLst>
              <a:ext uri="{FF2B5EF4-FFF2-40B4-BE49-F238E27FC236}">
                <a16:creationId xmlns:a16="http://schemas.microsoft.com/office/drawing/2014/main" xmlns="" id="{FCCC8C75-3697-453F-9782-6D333FB3092F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Overall score</a:t>
            </a:r>
          </a:p>
        </p:txBody>
      </p:sp>
      <p:sp>
        <p:nvSpPr>
          <p:cNvPr id="1048701" name="Rectangle 1048700">
            <a:extLst>
              <a:ext uri="{FF2B5EF4-FFF2-40B4-BE49-F238E27FC236}">
                <a16:creationId xmlns:a16="http://schemas.microsoft.com/office/drawing/2014/main" xmlns="" id="{53123A9C-8C6E-4FFC-898E-88C0C2C88F57}"/>
              </a:ext>
            </a:extLst>
          </p:cNvPr>
          <p:cNvSpPr>
            <a:spLocks noGrp="1"/>
          </p:cNvSpPr>
          <p:nvPr/>
        </p:nvSpPr>
        <p:spPr>
          <a:xfrm>
            <a:off x="3571875" y="1666875"/>
            <a:ext cx="428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246BFD"/>
                </a:solidFill>
              </a:defRPr>
            </a:pPr>
            <a:r>
              <a:rPr sz="2100" b="1">
                <a:solidFill>
                  <a:srgbClr val="246BFD"/>
                </a:solidFill>
              </a:rPr>
              <a:t>=</a:t>
            </a:r>
          </a:p>
        </p:txBody>
      </p:sp>
      <p:sp>
        <p:nvSpPr>
          <p:cNvPr id="1048702" name="Rounded Rectangle 1048701">
            <a:extLst>
              <a:ext uri="{FF2B5EF4-FFF2-40B4-BE49-F238E27FC236}">
                <a16:creationId xmlns:a16="http://schemas.microsoft.com/office/drawing/2014/main" xmlns="" id="{98012B25-117E-46B9-9AAC-6AA54F7AC2A7}"/>
              </a:ext>
            </a:extLst>
          </p:cNvPr>
          <p:cNvSpPr>
            <a:spLocks noGrp="1"/>
          </p:cNvSpPr>
          <p:nvPr/>
        </p:nvSpPr>
        <p:spPr>
          <a:xfrm>
            <a:off x="4191000" y="1524000"/>
            <a:ext cx="1524000" cy="85725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703" name="Rectangle 1048702">
            <a:extLst>
              <a:ext uri="{FF2B5EF4-FFF2-40B4-BE49-F238E27FC236}">
                <a16:creationId xmlns:a16="http://schemas.microsoft.com/office/drawing/2014/main" xmlns="" id="{EBAE35B0-FE72-426B-A813-C764A1963983}"/>
              </a:ext>
            </a:extLst>
          </p:cNvPr>
          <p:cNvSpPr>
            <a:spLocks noGrp="1"/>
          </p:cNvSpPr>
          <p:nvPr/>
        </p:nvSpPr>
        <p:spPr>
          <a:xfrm>
            <a:off x="4305300" y="1695450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Skill match</a:t>
            </a:r>
          </a:p>
        </p:txBody>
      </p:sp>
      <p:sp>
        <p:nvSpPr>
          <p:cNvPr id="1048704" name="Rectangle 1048703">
            <a:extLst>
              <a:ext uri="{FF2B5EF4-FFF2-40B4-BE49-F238E27FC236}">
                <a16:creationId xmlns:a16="http://schemas.microsoft.com/office/drawing/2014/main" xmlns="" id="{3B36C581-EB5C-4C86-977B-FFDC5A5DFF6F}"/>
              </a:ext>
            </a:extLst>
          </p:cNvPr>
          <p:cNvSpPr>
            <a:spLocks noGrp="1"/>
          </p:cNvSpPr>
          <p:nvPr/>
        </p:nvSpPr>
        <p:spPr>
          <a:xfrm>
            <a:off x="4305300" y="2009775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50%</a:t>
            </a:r>
          </a:p>
        </p:txBody>
      </p:sp>
      <p:sp>
        <p:nvSpPr>
          <p:cNvPr id="1048705" name="Rounded Rectangle 1048704">
            <a:extLst>
              <a:ext uri="{FF2B5EF4-FFF2-40B4-BE49-F238E27FC236}">
                <a16:creationId xmlns:a16="http://schemas.microsoft.com/office/drawing/2014/main" xmlns="" id="{B582C02A-D7CF-4588-898B-5D1104E08BA7}"/>
              </a:ext>
            </a:extLst>
          </p:cNvPr>
          <p:cNvSpPr>
            <a:spLocks noGrp="1"/>
          </p:cNvSpPr>
          <p:nvPr/>
        </p:nvSpPr>
        <p:spPr>
          <a:xfrm>
            <a:off x="5953125" y="1524000"/>
            <a:ext cx="1524000" cy="857250"/>
          </a:xfrm>
          <a:prstGeom prst="roundRect">
            <a:avLst>
              <a:gd name="adj" fmla="val 13333"/>
            </a:avLst>
          </a:prstGeom>
          <a:solidFill>
            <a:srgbClr val="EEF9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706" name="Rectangle 1048705">
            <a:extLst>
              <a:ext uri="{FF2B5EF4-FFF2-40B4-BE49-F238E27FC236}">
                <a16:creationId xmlns:a16="http://schemas.microsoft.com/office/drawing/2014/main" xmlns="" id="{2188A19E-FB01-45EF-B44B-AF8DBD7C94B8}"/>
              </a:ext>
            </a:extLst>
          </p:cNvPr>
          <p:cNvSpPr>
            <a:spLocks noGrp="1"/>
          </p:cNvSpPr>
          <p:nvPr/>
        </p:nvSpPr>
        <p:spPr>
          <a:xfrm>
            <a:off x="6067425" y="1695450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Experience</a:t>
            </a:r>
          </a:p>
        </p:txBody>
      </p:sp>
      <p:sp>
        <p:nvSpPr>
          <p:cNvPr id="1048707" name="Rectangle 1048706">
            <a:extLst>
              <a:ext uri="{FF2B5EF4-FFF2-40B4-BE49-F238E27FC236}">
                <a16:creationId xmlns:a16="http://schemas.microsoft.com/office/drawing/2014/main" xmlns="" id="{5A223A28-B1AC-4909-A4D7-845BD60EDDB0}"/>
              </a:ext>
            </a:extLst>
          </p:cNvPr>
          <p:cNvSpPr>
            <a:spLocks noGrp="1"/>
          </p:cNvSpPr>
          <p:nvPr/>
        </p:nvSpPr>
        <p:spPr>
          <a:xfrm>
            <a:off x="6067425" y="2009775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25%</a:t>
            </a:r>
          </a:p>
        </p:txBody>
      </p:sp>
      <p:sp>
        <p:nvSpPr>
          <p:cNvPr id="1048708" name="Rounded Rectangle 1048707">
            <a:extLst>
              <a:ext uri="{FF2B5EF4-FFF2-40B4-BE49-F238E27FC236}">
                <a16:creationId xmlns:a16="http://schemas.microsoft.com/office/drawing/2014/main" xmlns="" id="{04C9FB69-5247-4B8B-82E2-A1546E7D4DD6}"/>
              </a:ext>
            </a:extLst>
          </p:cNvPr>
          <p:cNvSpPr>
            <a:spLocks noGrp="1"/>
          </p:cNvSpPr>
          <p:nvPr/>
        </p:nvSpPr>
        <p:spPr>
          <a:xfrm>
            <a:off x="7715250" y="1524000"/>
            <a:ext cx="1524000" cy="857250"/>
          </a:xfrm>
          <a:prstGeom prst="roundRect">
            <a:avLst>
              <a:gd name="adj" fmla="val 13333"/>
            </a:avLst>
          </a:prstGeom>
          <a:solidFill>
            <a:srgbClr val="EAFBF4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709" name="Rectangle 1048708">
            <a:extLst>
              <a:ext uri="{FF2B5EF4-FFF2-40B4-BE49-F238E27FC236}">
                <a16:creationId xmlns:a16="http://schemas.microsoft.com/office/drawing/2014/main" xmlns="" id="{4669BA73-3DE9-447F-AA86-BCFDBC73FE16}"/>
              </a:ext>
            </a:extLst>
          </p:cNvPr>
          <p:cNvSpPr>
            <a:spLocks noGrp="1"/>
          </p:cNvSpPr>
          <p:nvPr/>
        </p:nvSpPr>
        <p:spPr>
          <a:xfrm>
            <a:off x="7829550" y="1695450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Education</a:t>
            </a:r>
          </a:p>
        </p:txBody>
      </p:sp>
      <p:sp>
        <p:nvSpPr>
          <p:cNvPr id="1048710" name="Rectangle 1048709">
            <a:extLst>
              <a:ext uri="{FF2B5EF4-FFF2-40B4-BE49-F238E27FC236}">
                <a16:creationId xmlns:a16="http://schemas.microsoft.com/office/drawing/2014/main" xmlns="" id="{F645B0C1-53FF-4AFE-9E6D-A4A57C098860}"/>
              </a:ext>
            </a:extLst>
          </p:cNvPr>
          <p:cNvSpPr>
            <a:spLocks noGrp="1"/>
          </p:cNvSpPr>
          <p:nvPr/>
        </p:nvSpPr>
        <p:spPr>
          <a:xfrm>
            <a:off x="7829550" y="2009775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15%</a:t>
            </a:r>
          </a:p>
        </p:txBody>
      </p:sp>
      <p:sp>
        <p:nvSpPr>
          <p:cNvPr id="1048711" name="Rounded Rectangle 1048710">
            <a:extLst>
              <a:ext uri="{FF2B5EF4-FFF2-40B4-BE49-F238E27FC236}">
                <a16:creationId xmlns:a16="http://schemas.microsoft.com/office/drawing/2014/main" xmlns="" id="{D24607D4-FDDD-44C0-9CA2-938EBE879243}"/>
              </a:ext>
            </a:extLst>
          </p:cNvPr>
          <p:cNvSpPr>
            <a:spLocks noGrp="1"/>
          </p:cNvSpPr>
          <p:nvPr/>
        </p:nvSpPr>
        <p:spPr>
          <a:xfrm>
            <a:off x="9477375" y="1524000"/>
            <a:ext cx="1524000" cy="857250"/>
          </a:xfrm>
          <a:prstGeom prst="roundRect">
            <a:avLst>
              <a:gd name="adj" fmla="val 13333"/>
            </a:avLst>
          </a:prstGeom>
          <a:solidFill>
            <a:srgbClr val="FFF6E5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712" name="Rectangle 1048711">
            <a:extLst>
              <a:ext uri="{FF2B5EF4-FFF2-40B4-BE49-F238E27FC236}">
                <a16:creationId xmlns:a16="http://schemas.microsoft.com/office/drawing/2014/main" xmlns="" id="{43614048-D67B-4973-B446-E41E785F0D7A}"/>
              </a:ext>
            </a:extLst>
          </p:cNvPr>
          <p:cNvSpPr>
            <a:spLocks noGrp="1"/>
          </p:cNvSpPr>
          <p:nvPr/>
        </p:nvSpPr>
        <p:spPr>
          <a:xfrm>
            <a:off x="9591675" y="1695450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Resume quality</a:t>
            </a:r>
          </a:p>
        </p:txBody>
      </p:sp>
      <p:sp>
        <p:nvSpPr>
          <p:cNvPr id="1048713" name="Rectangle 1048712">
            <a:extLst>
              <a:ext uri="{FF2B5EF4-FFF2-40B4-BE49-F238E27FC236}">
                <a16:creationId xmlns:a16="http://schemas.microsoft.com/office/drawing/2014/main" xmlns="" id="{ABF503AC-3873-497D-8B51-8BA713328DAD}"/>
              </a:ext>
            </a:extLst>
          </p:cNvPr>
          <p:cNvSpPr>
            <a:spLocks noGrp="1"/>
          </p:cNvSpPr>
          <p:nvPr/>
        </p:nvSpPr>
        <p:spPr>
          <a:xfrm>
            <a:off x="9591675" y="2009775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10%</a:t>
            </a:r>
          </a:p>
        </p:txBody>
      </p:sp>
      <p:sp>
        <p:nvSpPr>
          <p:cNvPr id="1048714" name="Rectangle 1048713">
            <a:extLst>
              <a:ext uri="{FF2B5EF4-FFF2-40B4-BE49-F238E27FC236}">
                <a16:creationId xmlns:a16="http://schemas.microsoft.com/office/drawing/2014/main" xmlns="" id="{7562D11C-6DFF-4B03-8D69-D4DABDF7CAE9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Example candidate calculation</a:t>
            </a:r>
          </a:p>
        </p:txBody>
      </p:sp>
      <p:sp>
        <p:nvSpPr>
          <p:cNvPr id="1048715" name="Rounded Rectangle 1048714">
            <a:extLst>
              <a:ext uri="{FF2B5EF4-FFF2-40B4-BE49-F238E27FC236}">
                <a16:creationId xmlns:a16="http://schemas.microsoft.com/office/drawing/2014/main" xmlns="" id="{85C10297-7781-4029-B071-BEC5C7569283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7334250" cy="457200"/>
          </a:xfrm>
          <a:prstGeom prst="roundRect">
            <a:avLst>
              <a:gd name="adj" fmla="val 25000"/>
            </a:avLst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1048716" name="Rectangle 1048715">
            <a:extLst>
              <a:ext uri="{FF2B5EF4-FFF2-40B4-BE49-F238E27FC236}">
                <a16:creationId xmlns:a16="http://schemas.microsoft.com/office/drawing/2014/main" xmlns="" id="{45506794-5821-4B43-B949-00CBCC571785}"/>
              </a:ext>
            </a:extLst>
          </p:cNvPr>
          <p:cNvSpPr>
            <a:spLocks noGrp="1"/>
          </p:cNvSpPr>
          <p:nvPr/>
        </p:nvSpPr>
        <p:spPr>
          <a:xfrm>
            <a:off x="781050" y="3486150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Skills</a:t>
            </a:r>
          </a:p>
        </p:txBody>
      </p:sp>
      <p:sp>
        <p:nvSpPr>
          <p:cNvPr id="1048717" name="Rectangle 1048716">
            <a:extLst>
              <a:ext uri="{FF2B5EF4-FFF2-40B4-BE49-F238E27FC236}">
                <a16:creationId xmlns:a16="http://schemas.microsoft.com/office/drawing/2014/main" xmlns="" id="{47A54C59-FE84-4BA2-B0D3-14E14BABA372}"/>
              </a:ext>
            </a:extLst>
          </p:cNvPr>
          <p:cNvSpPr>
            <a:spLocks noGrp="1"/>
          </p:cNvSpPr>
          <p:nvPr/>
        </p:nvSpPr>
        <p:spPr>
          <a:xfrm>
            <a:off x="3429000" y="3486150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80 × 0.50</a:t>
            </a:r>
          </a:p>
        </p:txBody>
      </p:sp>
      <p:sp>
        <p:nvSpPr>
          <p:cNvPr id="1048718" name="Rectangle 1048717">
            <a:extLst>
              <a:ext uri="{FF2B5EF4-FFF2-40B4-BE49-F238E27FC236}">
                <a16:creationId xmlns:a16="http://schemas.microsoft.com/office/drawing/2014/main" xmlns="" id="{9FFEC8C5-2578-4B14-99B9-D0034E681A1D}"/>
              </a:ext>
            </a:extLst>
          </p:cNvPr>
          <p:cNvSpPr>
            <a:spLocks noGrp="1"/>
          </p:cNvSpPr>
          <p:nvPr/>
        </p:nvSpPr>
        <p:spPr>
          <a:xfrm>
            <a:off x="6667500" y="3486150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40.0</a:t>
            </a:r>
          </a:p>
        </p:txBody>
      </p:sp>
      <p:sp>
        <p:nvSpPr>
          <p:cNvPr id="1048719" name="Rectangle 1048718">
            <a:extLst>
              <a:ext uri="{FF2B5EF4-FFF2-40B4-BE49-F238E27FC236}">
                <a16:creationId xmlns:a16="http://schemas.microsoft.com/office/drawing/2014/main" xmlns="" id="{D491AAC1-347F-43CC-B5D6-8820CC8F3C12}"/>
              </a:ext>
            </a:extLst>
          </p:cNvPr>
          <p:cNvSpPr>
            <a:spLocks noGrp="1"/>
          </p:cNvSpPr>
          <p:nvPr/>
        </p:nvSpPr>
        <p:spPr>
          <a:xfrm>
            <a:off x="781050" y="4010025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Experience</a:t>
            </a:r>
          </a:p>
        </p:txBody>
      </p:sp>
      <p:sp>
        <p:nvSpPr>
          <p:cNvPr id="1048720" name="Rectangle 1048719">
            <a:extLst>
              <a:ext uri="{FF2B5EF4-FFF2-40B4-BE49-F238E27FC236}">
                <a16:creationId xmlns:a16="http://schemas.microsoft.com/office/drawing/2014/main" xmlns="" id="{7007D3B0-C640-4BFE-98D1-C57F7C0391BF}"/>
              </a:ext>
            </a:extLst>
          </p:cNvPr>
          <p:cNvSpPr>
            <a:spLocks noGrp="1"/>
          </p:cNvSpPr>
          <p:nvPr/>
        </p:nvSpPr>
        <p:spPr>
          <a:xfrm>
            <a:off x="3429000" y="4010025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70 × 0.25</a:t>
            </a:r>
          </a:p>
        </p:txBody>
      </p:sp>
      <p:sp>
        <p:nvSpPr>
          <p:cNvPr id="1048721" name="Rectangle 1048720">
            <a:extLst>
              <a:ext uri="{FF2B5EF4-FFF2-40B4-BE49-F238E27FC236}">
                <a16:creationId xmlns:a16="http://schemas.microsoft.com/office/drawing/2014/main" xmlns="" id="{8A079F9A-6D51-478C-B6CB-81B9F2196955}"/>
              </a:ext>
            </a:extLst>
          </p:cNvPr>
          <p:cNvSpPr>
            <a:spLocks noGrp="1"/>
          </p:cNvSpPr>
          <p:nvPr/>
        </p:nvSpPr>
        <p:spPr>
          <a:xfrm>
            <a:off x="6667500" y="4010025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17.5</a:t>
            </a:r>
          </a:p>
        </p:txBody>
      </p:sp>
      <p:sp>
        <p:nvSpPr>
          <p:cNvPr id="1048722" name="Rounded Rectangle 1048721">
            <a:extLst>
              <a:ext uri="{FF2B5EF4-FFF2-40B4-BE49-F238E27FC236}">
                <a16:creationId xmlns:a16="http://schemas.microsoft.com/office/drawing/2014/main" xmlns="" id="{81227FA0-E0AB-4F0D-8CC9-73D6D2F7ED01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7334250" cy="457200"/>
          </a:xfrm>
          <a:prstGeom prst="roundRect">
            <a:avLst>
              <a:gd name="adj" fmla="val 25000"/>
            </a:avLst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1048723" name="Rectangle 1048722">
            <a:extLst>
              <a:ext uri="{FF2B5EF4-FFF2-40B4-BE49-F238E27FC236}">
                <a16:creationId xmlns:a16="http://schemas.microsoft.com/office/drawing/2014/main" xmlns="" id="{45BA7A63-7DF0-44D7-93DD-69C8FB7C4F04}"/>
              </a:ext>
            </a:extLst>
          </p:cNvPr>
          <p:cNvSpPr>
            <a:spLocks noGrp="1"/>
          </p:cNvSpPr>
          <p:nvPr/>
        </p:nvSpPr>
        <p:spPr>
          <a:xfrm>
            <a:off x="781050" y="4533900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Education</a:t>
            </a:r>
          </a:p>
        </p:txBody>
      </p:sp>
      <p:sp>
        <p:nvSpPr>
          <p:cNvPr id="1048724" name="Rectangle 1048723">
            <a:extLst>
              <a:ext uri="{FF2B5EF4-FFF2-40B4-BE49-F238E27FC236}">
                <a16:creationId xmlns:a16="http://schemas.microsoft.com/office/drawing/2014/main" xmlns="" id="{89CCD4B4-4BA3-458D-AAE8-25C12A26D6B2}"/>
              </a:ext>
            </a:extLst>
          </p:cNvPr>
          <p:cNvSpPr>
            <a:spLocks noGrp="1"/>
          </p:cNvSpPr>
          <p:nvPr/>
        </p:nvSpPr>
        <p:spPr>
          <a:xfrm>
            <a:off x="3429000" y="4533900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90 × 0.15</a:t>
            </a:r>
          </a:p>
        </p:txBody>
      </p:sp>
      <p:sp>
        <p:nvSpPr>
          <p:cNvPr id="1048725" name="Rectangle 1048724">
            <a:extLst>
              <a:ext uri="{FF2B5EF4-FFF2-40B4-BE49-F238E27FC236}">
                <a16:creationId xmlns:a16="http://schemas.microsoft.com/office/drawing/2014/main" xmlns="" id="{4306EE9A-FFDC-4011-BD8B-040F75DFCFC3}"/>
              </a:ext>
            </a:extLst>
          </p:cNvPr>
          <p:cNvSpPr>
            <a:spLocks noGrp="1"/>
          </p:cNvSpPr>
          <p:nvPr/>
        </p:nvSpPr>
        <p:spPr>
          <a:xfrm>
            <a:off x="6667500" y="4533900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13.5</a:t>
            </a:r>
          </a:p>
        </p:txBody>
      </p:sp>
      <p:sp>
        <p:nvSpPr>
          <p:cNvPr id="1048726" name="Rectangle 1048725">
            <a:extLst>
              <a:ext uri="{FF2B5EF4-FFF2-40B4-BE49-F238E27FC236}">
                <a16:creationId xmlns:a16="http://schemas.microsoft.com/office/drawing/2014/main" xmlns="" id="{AF933551-996E-4FAE-A8EA-F39DDF55FA90}"/>
              </a:ext>
            </a:extLst>
          </p:cNvPr>
          <p:cNvSpPr>
            <a:spLocks noGrp="1"/>
          </p:cNvSpPr>
          <p:nvPr/>
        </p:nvSpPr>
        <p:spPr>
          <a:xfrm>
            <a:off x="781050" y="5057775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Quality</a:t>
            </a:r>
          </a:p>
        </p:txBody>
      </p:sp>
      <p:sp>
        <p:nvSpPr>
          <p:cNvPr id="1048727" name="Rectangle 1048726">
            <a:extLst>
              <a:ext uri="{FF2B5EF4-FFF2-40B4-BE49-F238E27FC236}">
                <a16:creationId xmlns:a16="http://schemas.microsoft.com/office/drawing/2014/main" xmlns="" id="{DA4DB1D3-DDC2-4A79-81C1-8ACBA7D0C0CD}"/>
              </a:ext>
            </a:extLst>
          </p:cNvPr>
          <p:cNvSpPr>
            <a:spLocks noGrp="1"/>
          </p:cNvSpPr>
          <p:nvPr/>
        </p:nvSpPr>
        <p:spPr>
          <a:xfrm>
            <a:off x="3429000" y="5057775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75 × 0.10</a:t>
            </a:r>
          </a:p>
        </p:txBody>
      </p:sp>
      <p:sp>
        <p:nvSpPr>
          <p:cNvPr id="1048728" name="Rectangle 1048727">
            <a:extLst>
              <a:ext uri="{FF2B5EF4-FFF2-40B4-BE49-F238E27FC236}">
                <a16:creationId xmlns:a16="http://schemas.microsoft.com/office/drawing/2014/main" xmlns="" id="{3681CF7F-982F-439C-B50B-B4CD8A063E07}"/>
              </a:ext>
            </a:extLst>
          </p:cNvPr>
          <p:cNvSpPr>
            <a:spLocks noGrp="1"/>
          </p:cNvSpPr>
          <p:nvPr/>
        </p:nvSpPr>
        <p:spPr>
          <a:xfrm>
            <a:off x="6667500" y="5057775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7.5</a:t>
            </a:r>
          </a:p>
        </p:txBody>
      </p:sp>
      <p:sp>
        <p:nvSpPr>
          <p:cNvPr id="1048729" name="Rounded Rectangle 1048728">
            <a:extLst>
              <a:ext uri="{FF2B5EF4-FFF2-40B4-BE49-F238E27FC236}">
                <a16:creationId xmlns:a16="http://schemas.microsoft.com/office/drawing/2014/main" xmlns="" id="{12668165-71B3-498F-8313-64B3AD891BB8}"/>
              </a:ext>
            </a:extLst>
          </p:cNvPr>
          <p:cNvSpPr>
            <a:spLocks noGrp="1"/>
          </p:cNvSpPr>
          <p:nvPr/>
        </p:nvSpPr>
        <p:spPr>
          <a:xfrm>
            <a:off x="8382000" y="3333750"/>
            <a:ext cx="2571750" cy="209550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730" name="Rectangle 1048729">
            <a:extLst>
              <a:ext uri="{FF2B5EF4-FFF2-40B4-BE49-F238E27FC236}">
                <a16:creationId xmlns:a16="http://schemas.microsoft.com/office/drawing/2014/main" xmlns="" id="{AF73D27C-4618-499F-93EE-4E2E16F588D3}"/>
              </a:ext>
            </a:extLst>
          </p:cNvPr>
          <p:cNvSpPr>
            <a:spLocks noGrp="1"/>
          </p:cNvSpPr>
          <p:nvPr/>
        </p:nvSpPr>
        <p:spPr>
          <a:xfrm>
            <a:off x="8667750" y="37147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49C6E5"/>
                </a:solidFill>
              </a:defRPr>
            </a:pPr>
            <a:r>
              <a:rPr sz="1350" b="1">
                <a:solidFill>
                  <a:srgbClr val="49C6E5"/>
                </a:solidFill>
              </a:rPr>
              <a:t>FINAL SCORE</a:t>
            </a:r>
          </a:p>
        </p:txBody>
      </p:sp>
      <p:sp>
        <p:nvSpPr>
          <p:cNvPr id="1048731" name="Rectangle 1048730">
            <a:extLst>
              <a:ext uri="{FF2B5EF4-FFF2-40B4-BE49-F238E27FC236}">
                <a16:creationId xmlns:a16="http://schemas.microsoft.com/office/drawing/2014/main" xmlns="" id="{FBDD1E32-D0AD-4973-BCAD-197A45CAB904}"/>
              </a:ext>
            </a:extLst>
          </p:cNvPr>
          <p:cNvSpPr>
            <a:spLocks noGrp="1"/>
          </p:cNvSpPr>
          <p:nvPr/>
        </p:nvSpPr>
        <p:spPr>
          <a:xfrm>
            <a:off x="8667750" y="4143375"/>
            <a:ext cx="2000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78.5</a:t>
            </a:r>
          </a:p>
        </p:txBody>
      </p:sp>
      <p:sp>
        <p:nvSpPr>
          <p:cNvPr id="1048732" name="Rectangle 1048731">
            <a:extLst>
              <a:ext uri="{FF2B5EF4-FFF2-40B4-BE49-F238E27FC236}">
                <a16:creationId xmlns:a16="http://schemas.microsoft.com/office/drawing/2014/main" xmlns="" id="{B5280368-5240-4107-A94E-E85AEADEFC6F}"/>
              </a:ext>
            </a:extLst>
          </p:cNvPr>
          <p:cNvSpPr>
            <a:spLocks noGrp="1"/>
          </p:cNvSpPr>
          <p:nvPr/>
        </p:nvSpPr>
        <p:spPr>
          <a:xfrm>
            <a:off x="8667750" y="49053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Potential Match</a:t>
            </a:r>
          </a:p>
        </p:txBody>
      </p:sp>
      <p:sp>
        <p:nvSpPr>
          <p:cNvPr id="1048733" name="Rectangle 1048732">
            <a:extLst>
              <a:ext uri="{FF2B5EF4-FFF2-40B4-BE49-F238E27FC236}">
                <a16:creationId xmlns:a16="http://schemas.microsoft.com/office/drawing/2014/main" xmlns="" id="{8EC3EF0F-9C35-4FCB-AC28-A80473C01859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06</a:t>
            </a:r>
          </a:p>
        </p:txBody>
      </p:sp>
      <p:pic>
        <p:nvPicPr>
          <p:cNvPr id="41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" name="Picture 1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51363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Rounded Rectangle 1048736">
            <a:extLst>
              <a:ext uri="{FF2B5EF4-FFF2-40B4-BE49-F238E27FC236}">
                <a16:creationId xmlns:a16="http://schemas.microsoft.com/office/drawing/2014/main" xmlns="" id="{CEBA3F69-0FB1-4F7E-AC48-8E9C2C7CF0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739" name="Rectangle 1048738">
            <a:extLst>
              <a:ext uri="{FF2B5EF4-FFF2-40B4-BE49-F238E27FC236}">
                <a16:creationId xmlns:a16="http://schemas.microsoft.com/office/drawing/2014/main" xmlns="" id="{FADE86CB-17DF-470A-96D7-CABA45B23E7E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8740" name="Rectangle 1048739">
            <a:extLst>
              <a:ext uri="{FF2B5EF4-FFF2-40B4-BE49-F238E27FC236}">
                <a16:creationId xmlns:a16="http://schemas.microsoft.com/office/drawing/2014/main" xmlns="" id="{1D4DDE32-24C5-4D01-AE06-63A435A4A50E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Advantages and disadvantages must be considered together</a:t>
            </a:r>
          </a:p>
        </p:txBody>
      </p:sp>
      <p:sp>
        <p:nvSpPr>
          <p:cNvPr id="1048741" name="Rectangle 1048740">
            <a:extLst>
              <a:ext uri="{FF2B5EF4-FFF2-40B4-BE49-F238E27FC236}">
                <a16:creationId xmlns:a16="http://schemas.microsoft.com/office/drawing/2014/main" xmlns="" id="{6E7C3C08-ED5D-4E55-A111-43A2004ACCF8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742" name="Rounded Rectangle 1048741">
            <a:extLst>
              <a:ext uri="{FF2B5EF4-FFF2-40B4-BE49-F238E27FC236}">
                <a16:creationId xmlns:a16="http://schemas.microsoft.com/office/drawing/2014/main" xmlns="" id="{9128E309-8AFD-4CEE-8A9C-A82E9C85F33A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5095875" cy="4095750"/>
          </a:xfrm>
          <a:prstGeom prst="roundRect">
            <a:avLst>
              <a:gd name="adj" fmla="val 2791"/>
            </a:avLst>
          </a:prstGeom>
          <a:solidFill>
            <a:srgbClr val="EAFBF4"/>
          </a:solidFill>
          <a:ln w="9525">
            <a:solidFill>
              <a:srgbClr val="8AD6B7"/>
            </a:solidFill>
            <a:prstDash val="solid"/>
          </a:ln>
        </p:spPr>
      </p:sp>
      <p:sp>
        <p:nvSpPr>
          <p:cNvPr id="1048743" name="Rectangle 1048742">
            <a:extLst>
              <a:ext uri="{FF2B5EF4-FFF2-40B4-BE49-F238E27FC236}">
                <a16:creationId xmlns:a16="http://schemas.microsoft.com/office/drawing/2014/main" xmlns="" id="{82FD21D5-B8D5-45A1-9DEF-BAEDADB444CE}"/>
              </a:ext>
            </a:extLst>
          </p:cNvPr>
          <p:cNvSpPr>
            <a:spLocks noGrp="1"/>
          </p:cNvSpPr>
          <p:nvPr/>
        </p:nvSpPr>
        <p:spPr>
          <a:xfrm>
            <a:off x="876300" y="1828800"/>
            <a:ext cx="447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16A36A"/>
                </a:solidFill>
              </a:defRPr>
            </a:pPr>
            <a:r>
              <a:rPr sz="1875" b="1">
                <a:solidFill>
                  <a:srgbClr val="16A36A"/>
                </a:solidFill>
              </a:rPr>
              <a:t>ADVANTAGES</a:t>
            </a:r>
          </a:p>
        </p:txBody>
      </p:sp>
      <p:sp>
        <p:nvSpPr>
          <p:cNvPr id="1048744" name="Rectangle 1048743">
            <a:extLst>
              <a:ext uri="{FF2B5EF4-FFF2-40B4-BE49-F238E27FC236}">
                <a16:creationId xmlns:a16="http://schemas.microsoft.com/office/drawing/2014/main" xmlns="" id="{0C7D39CF-6C36-40D7-9FBE-E4F87FA83C50}"/>
              </a:ext>
            </a:extLst>
          </p:cNvPr>
          <p:cNvSpPr>
            <a:spLocks noGrp="1"/>
          </p:cNvSpPr>
          <p:nvPr/>
        </p:nvSpPr>
        <p:spPr>
          <a:xfrm>
            <a:off x="876300" y="2314575"/>
            <a:ext cx="4476750" cy="19050"/>
          </a:xfrm>
          <a:prstGeom prst="rect">
            <a:avLst/>
          </a:prstGeom>
          <a:solidFill>
            <a:srgbClr val="8AD6B7"/>
          </a:solidFill>
          <a:ln w="0">
            <a:solidFill>
              <a:srgbClr val="8AD6B7"/>
            </a:solidFill>
            <a:prstDash val="solid"/>
          </a:ln>
        </p:spPr>
      </p:sp>
      <p:sp>
        <p:nvSpPr>
          <p:cNvPr id="1048745" name="Oval 1048744">
            <a:extLst>
              <a:ext uri="{FF2B5EF4-FFF2-40B4-BE49-F238E27FC236}">
                <a16:creationId xmlns:a16="http://schemas.microsoft.com/office/drawing/2014/main" xmlns="" id="{6A48F88B-4A33-4138-B138-93A2F67C6578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46" name="Rectangle 1048745">
            <a:extLst>
              <a:ext uri="{FF2B5EF4-FFF2-40B4-BE49-F238E27FC236}">
                <a16:creationId xmlns:a16="http://schemas.microsoft.com/office/drawing/2014/main" xmlns="" id="{48666DDA-20C6-4314-9475-2BCC88347CC8}"/>
              </a:ext>
            </a:extLst>
          </p:cNvPr>
          <p:cNvSpPr>
            <a:spLocks noGrp="1"/>
          </p:cNvSpPr>
          <p:nvPr/>
        </p:nvSpPr>
        <p:spPr>
          <a:xfrm>
            <a:off x="1133475" y="2619375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Screens large resume sets quickly</a:t>
            </a:r>
          </a:p>
        </p:txBody>
      </p:sp>
      <p:sp>
        <p:nvSpPr>
          <p:cNvPr id="1048747" name="Oval 1048746">
            <a:extLst>
              <a:ext uri="{FF2B5EF4-FFF2-40B4-BE49-F238E27FC236}">
                <a16:creationId xmlns:a16="http://schemas.microsoft.com/office/drawing/2014/main" xmlns="" id="{600DB8F6-7758-4789-8025-E4615AC101CE}"/>
              </a:ext>
            </a:extLst>
          </p:cNvPr>
          <p:cNvSpPr>
            <a:spLocks noGrp="1"/>
          </p:cNvSpPr>
          <p:nvPr/>
        </p:nvSpPr>
        <p:spPr>
          <a:xfrm>
            <a:off x="876300" y="32385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48" name="Rectangle 1048747">
            <a:extLst>
              <a:ext uri="{FF2B5EF4-FFF2-40B4-BE49-F238E27FC236}">
                <a16:creationId xmlns:a16="http://schemas.microsoft.com/office/drawing/2014/main" xmlns="" id="{834D8E1F-E397-4F1D-9AFE-B08824046C4B}"/>
              </a:ext>
            </a:extLst>
          </p:cNvPr>
          <p:cNvSpPr>
            <a:spLocks noGrp="1"/>
          </p:cNvSpPr>
          <p:nvPr/>
        </p:nvSpPr>
        <p:spPr>
          <a:xfrm>
            <a:off x="1133475" y="3171825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Applies the same defined scoring rules</a:t>
            </a:r>
          </a:p>
        </p:txBody>
      </p:sp>
      <p:sp>
        <p:nvSpPr>
          <p:cNvPr id="1048749" name="Oval 1048748">
            <a:extLst>
              <a:ext uri="{FF2B5EF4-FFF2-40B4-BE49-F238E27FC236}">
                <a16:creationId xmlns:a16="http://schemas.microsoft.com/office/drawing/2014/main" xmlns="" id="{D3DB8851-14E0-4AB8-ACAF-98AAA926D267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50" name="Rectangle 1048749">
            <a:extLst>
              <a:ext uri="{FF2B5EF4-FFF2-40B4-BE49-F238E27FC236}">
                <a16:creationId xmlns:a16="http://schemas.microsoft.com/office/drawing/2014/main" xmlns="" id="{B02BD1D5-DF2B-4A4D-AD4E-FA0737A7A608}"/>
              </a:ext>
            </a:extLst>
          </p:cNvPr>
          <p:cNvSpPr>
            <a:spLocks noGrp="1"/>
          </p:cNvSpPr>
          <p:nvPr/>
        </p:nvSpPr>
        <p:spPr>
          <a:xfrm>
            <a:off x="1133475" y="3724275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Highlights matching and missing skills</a:t>
            </a:r>
          </a:p>
        </p:txBody>
      </p:sp>
      <p:sp>
        <p:nvSpPr>
          <p:cNvPr id="1048751" name="Oval 1048750">
            <a:extLst>
              <a:ext uri="{FF2B5EF4-FFF2-40B4-BE49-F238E27FC236}">
                <a16:creationId xmlns:a16="http://schemas.microsoft.com/office/drawing/2014/main" xmlns="" id="{86F56847-98B3-48B5-A369-2EEB665A82DA}"/>
              </a:ext>
            </a:extLst>
          </p:cNvPr>
          <p:cNvSpPr>
            <a:spLocks noGrp="1"/>
          </p:cNvSpPr>
          <p:nvPr/>
        </p:nvSpPr>
        <p:spPr>
          <a:xfrm>
            <a:off x="876300" y="43434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52" name="Rectangle 1048751">
            <a:extLst>
              <a:ext uri="{FF2B5EF4-FFF2-40B4-BE49-F238E27FC236}">
                <a16:creationId xmlns:a16="http://schemas.microsoft.com/office/drawing/2014/main" xmlns="" id="{E187171A-6E57-4397-B636-44DD144A1F20}"/>
              </a:ext>
            </a:extLst>
          </p:cNvPr>
          <p:cNvSpPr>
            <a:spLocks noGrp="1"/>
          </p:cNvSpPr>
          <p:nvPr/>
        </p:nvSpPr>
        <p:spPr>
          <a:xfrm>
            <a:off x="1133475" y="4276725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Produces a clear ranking with evidence</a:t>
            </a:r>
          </a:p>
        </p:txBody>
      </p:sp>
      <p:sp>
        <p:nvSpPr>
          <p:cNvPr id="1048753" name="Oval 1048752">
            <a:extLst>
              <a:ext uri="{FF2B5EF4-FFF2-40B4-BE49-F238E27FC236}">
                <a16:creationId xmlns:a16="http://schemas.microsoft.com/office/drawing/2014/main" xmlns="" id="{C9EDAC38-A232-4D42-AE22-2939F48D8671}"/>
              </a:ext>
            </a:extLst>
          </p:cNvPr>
          <p:cNvSpPr>
            <a:spLocks noGrp="1"/>
          </p:cNvSpPr>
          <p:nvPr/>
        </p:nvSpPr>
        <p:spPr>
          <a:xfrm>
            <a:off x="876300" y="48958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54" name="Rectangle 1048753">
            <a:extLst>
              <a:ext uri="{FF2B5EF4-FFF2-40B4-BE49-F238E27FC236}">
                <a16:creationId xmlns:a16="http://schemas.microsoft.com/office/drawing/2014/main" xmlns="" id="{FA910F67-4771-44B5-9C49-0C3E54FE2383}"/>
              </a:ext>
            </a:extLst>
          </p:cNvPr>
          <p:cNvSpPr>
            <a:spLocks noGrp="1"/>
          </p:cNvSpPr>
          <p:nvPr/>
        </p:nvSpPr>
        <p:spPr>
          <a:xfrm>
            <a:off x="1133475" y="4829175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Reduces repetitive work for recruiters</a:t>
            </a:r>
          </a:p>
        </p:txBody>
      </p:sp>
      <p:sp>
        <p:nvSpPr>
          <p:cNvPr id="1048755" name="Rounded Rectangle 1048754">
            <a:extLst>
              <a:ext uri="{FF2B5EF4-FFF2-40B4-BE49-F238E27FC236}">
                <a16:creationId xmlns:a16="http://schemas.microsoft.com/office/drawing/2014/main" xmlns="" id="{AEF49FEC-64F4-4A7D-BE84-48BF1712BA82}"/>
              </a:ext>
            </a:extLst>
          </p:cNvPr>
          <p:cNvSpPr>
            <a:spLocks noGrp="1"/>
          </p:cNvSpPr>
          <p:nvPr/>
        </p:nvSpPr>
        <p:spPr>
          <a:xfrm>
            <a:off x="6191250" y="1571625"/>
            <a:ext cx="5095875" cy="4095750"/>
          </a:xfrm>
          <a:prstGeom prst="roundRect">
            <a:avLst>
              <a:gd name="adj" fmla="val 2791"/>
            </a:avLst>
          </a:prstGeom>
          <a:solidFill>
            <a:srgbClr val="FFF3F1"/>
          </a:solidFill>
          <a:ln w="9525">
            <a:solidFill>
              <a:srgbClr val="F2AAA2"/>
            </a:solidFill>
            <a:prstDash val="solid"/>
          </a:ln>
        </p:spPr>
      </p:sp>
      <p:sp>
        <p:nvSpPr>
          <p:cNvPr id="1048756" name="Rectangle 1048755">
            <a:extLst>
              <a:ext uri="{FF2B5EF4-FFF2-40B4-BE49-F238E27FC236}">
                <a16:creationId xmlns:a16="http://schemas.microsoft.com/office/drawing/2014/main" xmlns="" id="{08778841-CA4D-48E4-A9AA-13F769C698BC}"/>
              </a:ext>
            </a:extLst>
          </p:cNvPr>
          <p:cNvSpPr>
            <a:spLocks noGrp="1"/>
          </p:cNvSpPr>
          <p:nvPr/>
        </p:nvSpPr>
        <p:spPr>
          <a:xfrm>
            <a:off x="6457950" y="1828800"/>
            <a:ext cx="447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C0392B"/>
                </a:solidFill>
              </a:defRPr>
            </a:pPr>
            <a:r>
              <a:rPr sz="1875" b="1">
                <a:solidFill>
                  <a:srgbClr val="C0392B"/>
                </a:solidFill>
              </a:rPr>
              <a:t>DISADVANTAGES</a:t>
            </a:r>
          </a:p>
        </p:txBody>
      </p:sp>
      <p:sp>
        <p:nvSpPr>
          <p:cNvPr id="1048757" name="Rectangle 1048756">
            <a:extLst>
              <a:ext uri="{FF2B5EF4-FFF2-40B4-BE49-F238E27FC236}">
                <a16:creationId xmlns:a16="http://schemas.microsoft.com/office/drawing/2014/main" xmlns="" id="{4DC2B6CC-CDD5-4601-A1F6-C87649C31D7C}"/>
              </a:ext>
            </a:extLst>
          </p:cNvPr>
          <p:cNvSpPr>
            <a:spLocks noGrp="1"/>
          </p:cNvSpPr>
          <p:nvPr/>
        </p:nvSpPr>
        <p:spPr>
          <a:xfrm>
            <a:off x="6457950" y="2314575"/>
            <a:ext cx="4476750" cy="19050"/>
          </a:xfrm>
          <a:prstGeom prst="rect">
            <a:avLst/>
          </a:prstGeom>
          <a:solidFill>
            <a:srgbClr val="F2AAA2"/>
          </a:solidFill>
          <a:ln w="0">
            <a:solidFill>
              <a:srgbClr val="F2AAA2"/>
            </a:solidFill>
            <a:prstDash val="solid"/>
          </a:ln>
        </p:spPr>
      </p:sp>
      <p:sp>
        <p:nvSpPr>
          <p:cNvPr id="1048758" name="Oval 1048757">
            <a:extLst>
              <a:ext uri="{FF2B5EF4-FFF2-40B4-BE49-F238E27FC236}">
                <a16:creationId xmlns:a16="http://schemas.microsoft.com/office/drawing/2014/main" xmlns="" id="{2FF9E0D1-3A7C-4D4E-9773-B575CED60389}"/>
              </a:ext>
            </a:extLst>
          </p:cNvPr>
          <p:cNvSpPr>
            <a:spLocks noGrp="1"/>
          </p:cNvSpPr>
          <p:nvPr/>
        </p:nvSpPr>
        <p:spPr>
          <a:xfrm>
            <a:off x="6457950" y="26860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59" name="Rectangle 1048758">
            <a:extLst>
              <a:ext uri="{FF2B5EF4-FFF2-40B4-BE49-F238E27FC236}">
                <a16:creationId xmlns:a16="http://schemas.microsoft.com/office/drawing/2014/main" xmlns="" id="{AA476CB0-0CA8-4ED1-AACA-2FBAA75734EA}"/>
              </a:ext>
            </a:extLst>
          </p:cNvPr>
          <p:cNvSpPr>
            <a:spLocks noGrp="1"/>
          </p:cNvSpPr>
          <p:nvPr/>
        </p:nvSpPr>
        <p:spPr>
          <a:xfrm>
            <a:off x="6715125" y="2619375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May miss skills written in unusual language</a:t>
            </a:r>
          </a:p>
        </p:txBody>
      </p:sp>
      <p:sp>
        <p:nvSpPr>
          <p:cNvPr id="1048760" name="Oval 1048759">
            <a:extLst>
              <a:ext uri="{FF2B5EF4-FFF2-40B4-BE49-F238E27FC236}">
                <a16:creationId xmlns:a16="http://schemas.microsoft.com/office/drawing/2014/main" xmlns="" id="{362D8777-D62F-4C21-B065-4D4372CA778E}"/>
              </a:ext>
            </a:extLst>
          </p:cNvPr>
          <p:cNvSpPr>
            <a:spLocks noGrp="1"/>
          </p:cNvSpPr>
          <p:nvPr/>
        </p:nvSpPr>
        <p:spPr>
          <a:xfrm>
            <a:off x="6457950" y="32385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61" name="Rectangle 1048760">
            <a:extLst>
              <a:ext uri="{FF2B5EF4-FFF2-40B4-BE49-F238E27FC236}">
                <a16:creationId xmlns:a16="http://schemas.microsoft.com/office/drawing/2014/main" xmlns="" id="{185376BA-515F-4A19-B801-EA187334E443}"/>
              </a:ext>
            </a:extLst>
          </p:cNvPr>
          <p:cNvSpPr>
            <a:spLocks noGrp="1"/>
          </p:cNvSpPr>
          <p:nvPr/>
        </p:nvSpPr>
        <p:spPr>
          <a:xfrm>
            <a:off x="6715125" y="3171825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Can repeat bias in data or chosen weights</a:t>
            </a:r>
          </a:p>
        </p:txBody>
      </p:sp>
      <p:sp>
        <p:nvSpPr>
          <p:cNvPr id="1048762" name="Oval 1048761">
            <a:extLst>
              <a:ext uri="{FF2B5EF4-FFF2-40B4-BE49-F238E27FC236}">
                <a16:creationId xmlns:a16="http://schemas.microsoft.com/office/drawing/2014/main" xmlns="" id="{D30FDC91-B8E3-43AB-B51B-57BF1E774AB5}"/>
              </a:ext>
            </a:extLst>
          </p:cNvPr>
          <p:cNvSpPr>
            <a:spLocks noGrp="1"/>
          </p:cNvSpPr>
          <p:nvPr/>
        </p:nvSpPr>
        <p:spPr>
          <a:xfrm>
            <a:off x="6457950" y="37909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63" name="Rectangle 1048762">
            <a:extLst>
              <a:ext uri="{FF2B5EF4-FFF2-40B4-BE49-F238E27FC236}">
                <a16:creationId xmlns:a16="http://schemas.microsoft.com/office/drawing/2014/main" xmlns="" id="{201F97FA-D40E-45E1-A956-792FDDBE2E13}"/>
              </a:ext>
            </a:extLst>
          </p:cNvPr>
          <p:cNvSpPr>
            <a:spLocks noGrp="1"/>
          </p:cNvSpPr>
          <p:nvPr/>
        </p:nvSpPr>
        <p:spPr>
          <a:xfrm>
            <a:off x="6715125" y="3724275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Keyword matching cannot judge true ability</a:t>
            </a:r>
          </a:p>
        </p:txBody>
      </p:sp>
      <p:sp>
        <p:nvSpPr>
          <p:cNvPr id="1048764" name="Oval 1048763">
            <a:extLst>
              <a:ext uri="{FF2B5EF4-FFF2-40B4-BE49-F238E27FC236}">
                <a16:creationId xmlns:a16="http://schemas.microsoft.com/office/drawing/2014/main" xmlns="" id="{EE58E12A-AC4E-4439-9CF3-799E1634A19F}"/>
              </a:ext>
            </a:extLst>
          </p:cNvPr>
          <p:cNvSpPr>
            <a:spLocks noGrp="1"/>
          </p:cNvSpPr>
          <p:nvPr/>
        </p:nvSpPr>
        <p:spPr>
          <a:xfrm>
            <a:off x="6457950" y="43434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65" name="Rectangle 1048764">
            <a:extLst>
              <a:ext uri="{FF2B5EF4-FFF2-40B4-BE49-F238E27FC236}">
                <a16:creationId xmlns:a16="http://schemas.microsoft.com/office/drawing/2014/main" xmlns="" id="{E04F2691-5F2B-4D10-B3E7-F60333E451C8}"/>
              </a:ext>
            </a:extLst>
          </p:cNvPr>
          <p:cNvSpPr>
            <a:spLocks noGrp="1"/>
          </p:cNvSpPr>
          <p:nvPr/>
        </p:nvSpPr>
        <p:spPr>
          <a:xfrm>
            <a:off x="6715125" y="4276725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Personal data creates privacy risks</a:t>
            </a:r>
          </a:p>
        </p:txBody>
      </p:sp>
      <p:sp>
        <p:nvSpPr>
          <p:cNvPr id="1048766" name="Oval 1048765">
            <a:extLst>
              <a:ext uri="{FF2B5EF4-FFF2-40B4-BE49-F238E27FC236}">
                <a16:creationId xmlns:a16="http://schemas.microsoft.com/office/drawing/2014/main" xmlns="" id="{936B277B-84B6-4811-ABE9-4317CC692A6B}"/>
              </a:ext>
            </a:extLst>
          </p:cNvPr>
          <p:cNvSpPr>
            <a:spLocks noGrp="1"/>
          </p:cNvSpPr>
          <p:nvPr/>
        </p:nvSpPr>
        <p:spPr>
          <a:xfrm>
            <a:off x="6457950" y="48958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67" name="Rectangle 1048766">
            <a:extLst>
              <a:ext uri="{FF2B5EF4-FFF2-40B4-BE49-F238E27FC236}">
                <a16:creationId xmlns:a16="http://schemas.microsoft.com/office/drawing/2014/main" xmlns="" id="{AB367A4A-3B47-42C4-9EDB-0BE20756879E}"/>
              </a:ext>
            </a:extLst>
          </p:cNvPr>
          <p:cNvSpPr>
            <a:spLocks noGrp="1"/>
          </p:cNvSpPr>
          <p:nvPr/>
        </p:nvSpPr>
        <p:spPr>
          <a:xfrm>
            <a:off x="6715125" y="4829175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Needs human review, testing and updates</a:t>
            </a:r>
          </a:p>
        </p:txBody>
      </p:sp>
      <p:sp>
        <p:nvSpPr>
          <p:cNvPr id="1048768" name="Rectangle 1048767">
            <a:extLst>
              <a:ext uri="{FF2B5EF4-FFF2-40B4-BE49-F238E27FC236}">
                <a16:creationId xmlns:a16="http://schemas.microsoft.com/office/drawing/2014/main" xmlns="" id="{83DF9FCF-9DAD-4F36-86FD-4EAA3D64165D}"/>
              </a:ext>
            </a:extLst>
          </p:cNvPr>
          <p:cNvSpPr>
            <a:spLocks noGrp="1"/>
          </p:cNvSpPr>
          <p:nvPr/>
        </p:nvSpPr>
        <p:spPr>
          <a:xfrm>
            <a:off x="2095500" y="59531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Best practice: use AI for decision support, never as the only decision-maker.</a:t>
            </a:r>
          </a:p>
        </p:txBody>
      </p:sp>
      <p:sp>
        <p:nvSpPr>
          <p:cNvPr id="1048769" name="Rectangle 1048768">
            <a:extLst>
              <a:ext uri="{FF2B5EF4-FFF2-40B4-BE49-F238E27FC236}">
                <a16:creationId xmlns:a16="http://schemas.microsoft.com/office/drawing/2014/main" xmlns="" id="{509EE02A-47AF-42A0-9C58-5284948475D4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  <p:pic>
        <p:nvPicPr>
          <p:cNvPr id="35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683302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Rounded Rectangle 1048772">
            <a:extLst>
              <a:ext uri="{FF2B5EF4-FFF2-40B4-BE49-F238E27FC236}">
                <a16:creationId xmlns:a16="http://schemas.microsoft.com/office/drawing/2014/main" xmlns="" id="{6282B4EE-7A20-41E7-A735-99B5098915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775" name="Rectangle 1048774">
            <a:extLst>
              <a:ext uri="{FF2B5EF4-FFF2-40B4-BE49-F238E27FC236}">
                <a16:creationId xmlns:a16="http://schemas.microsoft.com/office/drawing/2014/main" xmlns="" id="{2BB62AD5-6231-4816-BB17-29C22DCCD58A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8776" name="Rectangle 1048775">
            <a:extLst>
              <a:ext uri="{FF2B5EF4-FFF2-40B4-BE49-F238E27FC236}">
                <a16:creationId xmlns:a16="http://schemas.microsoft.com/office/drawing/2014/main" xmlns="" id="{6A48447C-BEFD-4425-A7FC-B1FEC34D3BDC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Tkinter creates the resume screening application</a:t>
            </a:r>
          </a:p>
        </p:txBody>
      </p:sp>
      <p:sp>
        <p:nvSpPr>
          <p:cNvPr id="1048777" name="Rectangle 1048776">
            <a:extLst>
              <a:ext uri="{FF2B5EF4-FFF2-40B4-BE49-F238E27FC236}">
                <a16:creationId xmlns:a16="http://schemas.microsoft.com/office/drawing/2014/main" xmlns="" id="{CDD5BD9A-B471-45AF-9CF5-5A632A06165D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778" name="Rounded Rectangle 1048777">
            <a:extLst>
              <a:ext uri="{FF2B5EF4-FFF2-40B4-BE49-F238E27FC236}">
                <a16:creationId xmlns:a16="http://schemas.microsoft.com/office/drawing/2014/main" xmlns="" id="{A3D0C432-6032-4345-B542-87055E761517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6667500" cy="4238625"/>
          </a:xfrm>
          <a:prstGeom prst="roundRect">
            <a:avLst>
              <a:gd name="adj" fmla="val 2697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779" name="Rectangle 1048778">
            <a:extLst>
              <a:ext uri="{FF2B5EF4-FFF2-40B4-BE49-F238E27FC236}">
                <a16:creationId xmlns:a16="http://schemas.microsoft.com/office/drawing/2014/main" xmlns="" id="{E343F61E-EB79-4B2A-AEE6-79F1C7C06414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619125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re</a:t>
            </a:r>
          </a:p>
          <a:p>
            <a:pPr algn="l"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tkinter as tk</a:t>
            </a:r>
          </a:p>
          <a:p>
            <a:pPr>
              <a:defRPr sz="120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pathlib import Path</a:t>
            </a:r>
            <a:endParaRPr/>
          </a:p>
          <a:p>
            <a:pPr algn="l"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tkinter import filedialog, messagebox, ttk</a:t>
            </a:r>
          </a:p>
          <a:p>
            <a:pPr algn="l">
              <a:buNone/>
              <a:defRPr sz="1350" b="0">
                <a:solidFill>
                  <a:srgbClr val="E5ECF6"/>
                </a:solidFill>
              </a:defRPr>
            </a:pPr>
            <a:endParaRPr/>
          </a:p>
          <a:p>
            <a:pPr algn="l"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ROLE_KEYWORDS = {</a:t>
            </a:r>
          </a:p>
          <a:p>
            <a:pPr algn="l"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"Software Engineer": ["python", "java", "sql",</a:t>
            </a:r>
          </a:p>
          <a:p>
            <a:pPr algn="l"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"api", "git", "database", "testing", "cloud"],</a:t>
            </a:r>
          </a:p>
          <a:p>
            <a:pPr algn="l"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"Data Scientist": ["python", "statistics",</a:t>
            </a:r>
          </a:p>
          <a:p>
            <a:pPr algn="l"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"pandas", "numpy", "sql", "machine learning"]</a:t>
            </a:r>
          </a:p>
          <a:p>
            <a:pPr algn="l"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buNone/>
              <a:defRPr sz="1350" b="0">
                <a:solidFill>
                  <a:srgbClr val="E5ECF6"/>
                </a:solidFill>
              </a:defRPr>
            </a:pPr>
            <a:endParaRPr/>
          </a:p>
          <a:p>
            <a:pPr algn="l"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class ResumeScreeningApp:</a:t>
            </a:r>
          </a:p>
          <a:p>
            <a:pPr algn="l"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def __init__(self, root):</a:t>
            </a:r>
          </a:p>
          <a:p>
            <a:pPr algn="l"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self.root = root</a:t>
            </a:r>
          </a:p>
          <a:p>
            <a:pPr algn="l"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self.role = tk.StringVar(value="Software Engineer")</a:t>
            </a:r>
          </a:p>
          <a:p>
            <a:pPr algn="l"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self._build_interface()</a:t>
            </a:r>
          </a:p>
        </p:txBody>
      </p:sp>
      <p:sp>
        <p:nvSpPr>
          <p:cNvPr id="1048780" name="Rectangle 1048779">
            <a:extLst>
              <a:ext uri="{FF2B5EF4-FFF2-40B4-BE49-F238E27FC236}">
                <a16:creationId xmlns:a16="http://schemas.microsoft.com/office/drawing/2014/main" xmlns="" id="{50D4DB62-6146-4E84-9BE8-B20D4EAA4623}"/>
              </a:ext>
            </a:extLst>
          </p:cNvPr>
          <p:cNvSpPr>
            <a:spLocks noGrp="1"/>
          </p:cNvSpPr>
          <p:nvPr/>
        </p:nvSpPr>
        <p:spPr>
          <a:xfrm>
            <a:off x="7810500" y="1666875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Application setup</a:t>
            </a:r>
          </a:p>
        </p:txBody>
      </p:sp>
      <p:sp>
        <p:nvSpPr>
          <p:cNvPr id="1048781" name="Oval 1048780">
            <a:extLst>
              <a:ext uri="{FF2B5EF4-FFF2-40B4-BE49-F238E27FC236}">
                <a16:creationId xmlns:a16="http://schemas.microsoft.com/office/drawing/2014/main" xmlns="" id="{FA009951-280B-45E8-988B-CD1AFE6538AC}"/>
              </a:ext>
            </a:extLst>
          </p:cNvPr>
          <p:cNvSpPr>
            <a:spLocks noGrp="1"/>
          </p:cNvSpPr>
          <p:nvPr/>
        </p:nvSpPr>
        <p:spPr>
          <a:xfrm>
            <a:off x="7810500" y="23050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82" name="Rectangle 1048781">
            <a:extLst>
              <a:ext uri="{FF2B5EF4-FFF2-40B4-BE49-F238E27FC236}">
                <a16:creationId xmlns:a16="http://schemas.microsoft.com/office/drawing/2014/main" xmlns="" id="{F386E0F4-0FD3-420C-8A21-FBA9E9CB25AF}"/>
              </a:ext>
            </a:extLst>
          </p:cNvPr>
          <p:cNvSpPr>
            <a:spLocks noGrp="1"/>
          </p:cNvSpPr>
          <p:nvPr/>
        </p:nvSpPr>
        <p:spPr>
          <a:xfrm>
            <a:off x="8067675" y="2238375"/>
            <a:ext cx="3076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Imports GUI, file and text tools</a:t>
            </a:r>
          </a:p>
        </p:txBody>
      </p:sp>
      <p:sp>
        <p:nvSpPr>
          <p:cNvPr id="1048783" name="Oval 1048782">
            <a:extLst>
              <a:ext uri="{FF2B5EF4-FFF2-40B4-BE49-F238E27FC236}">
                <a16:creationId xmlns:a16="http://schemas.microsoft.com/office/drawing/2014/main" xmlns="" id="{AEFDE7CA-FF87-4F0C-AF40-50489416D346}"/>
              </a:ext>
            </a:extLst>
          </p:cNvPr>
          <p:cNvSpPr>
            <a:spLocks noGrp="1"/>
          </p:cNvSpPr>
          <p:nvPr/>
        </p:nvSpPr>
        <p:spPr>
          <a:xfrm>
            <a:off x="7810500" y="28575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84" name="Rectangle 1048783">
            <a:extLst>
              <a:ext uri="{FF2B5EF4-FFF2-40B4-BE49-F238E27FC236}">
                <a16:creationId xmlns:a16="http://schemas.microsoft.com/office/drawing/2014/main" xmlns="" id="{5D3BA6E9-EA7F-47D9-A11E-DEAE99568699}"/>
              </a:ext>
            </a:extLst>
          </p:cNvPr>
          <p:cNvSpPr>
            <a:spLocks noGrp="1"/>
          </p:cNvSpPr>
          <p:nvPr/>
        </p:nvSpPr>
        <p:spPr>
          <a:xfrm>
            <a:off x="8067675" y="2790825"/>
            <a:ext cx="3076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Stores skills role by role</a:t>
            </a:r>
          </a:p>
        </p:txBody>
      </p:sp>
      <p:sp>
        <p:nvSpPr>
          <p:cNvPr id="1048785" name="Oval 1048784">
            <a:extLst>
              <a:ext uri="{FF2B5EF4-FFF2-40B4-BE49-F238E27FC236}">
                <a16:creationId xmlns:a16="http://schemas.microsoft.com/office/drawing/2014/main" xmlns="" id="{C86B848C-E0D8-446F-AB80-61C16BAEAC0C}"/>
              </a:ext>
            </a:extLst>
          </p:cNvPr>
          <p:cNvSpPr>
            <a:spLocks noGrp="1"/>
          </p:cNvSpPr>
          <p:nvPr/>
        </p:nvSpPr>
        <p:spPr>
          <a:xfrm>
            <a:off x="7810500" y="34099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86" name="Rectangle 1048785">
            <a:extLst>
              <a:ext uri="{FF2B5EF4-FFF2-40B4-BE49-F238E27FC236}">
                <a16:creationId xmlns:a16="http://schemas.microsoft.com/office/drawing/2014/main" xmlns="" id="{A6F57464-1BD1-4663-BB44-1E14AFCB06B2}"/>
              </a:ext>
            </a:extLst>
          </p:cNvPr>
          <p:cNvSpPr>
            <a:spLocks noGrp="1"/>
          </p:cNvSpPr>
          <p:nvPr/>
        </p:nvSpPr>
        <p:spPr>
          <a:xfrm>
            <a:off x="8067675" y="3343275"/>
            <a:ext cx="3076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Creates the main application class</a:t>
            </a:r>
          </a:p>
        </p:txBody>
      </p:sp>
      <p:sp>
        <p:nvSpPr>
          <p:cNvPr id="1048787" name="Oval 1048786">
            <a:extLst>
              <a:ext uri="{FF2B5EF4-FFF2-40B4-BE49-F238E27FC236}">
                <a16:creationId xmlns:a16="http://schemas.microsoft.com/office/drawing/2014/main" xmlns="" id="{384749FB-9FED-466B-81AC-8A839D14BC3B}"/>
              </a:ext>
            </a:extLst>
          </p:cNvPr>
          <p:cNvSpPr>
            <a:spLocks noGrp="1"/>
          </p:cNvSpPr>
          <p:nvPr/>
        </p:nvSpPr>
        <p:spPr>
          <a:xfrm>
            <a:off x="7810500" y="39624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88" name="Rectangle 1048787">
            <a:extLst>
              <a:ext uri="{FF2B5EF4-FFF2-40B4-BE49-F238E27FC236}">
                <a16:creationId xmlns:a16="http://schemas.microsoft.com/office/drawing/2014/main" xmlns="" id="{57164009-4CA8-4683-B328-5C117956D8F1}"/>
              </a:ext>
            </a:extLst>
          </p:cNvPr>
          <p:cNvSpPr>
            <a:spLocks noGrp="1"/>
          </p:cNvSpPr>
          <p:nvPr/>
        </p:nvSpPr>
        <p:spPr>
          <a:xfrm>
            <a:off x="8067675" y="3895725"/>
            <a:ext cx="3076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Sets Software Engineer as default</a:t>
            </a:r>
          </a:p>
        </p:txBody>
      </p:sp>
      <p:sp>
        <p:nvSpPr>
          <p:cNvPr id="1048789" name="Oval 1048788">
            <a:extLst>
              <a:ext uri="{FF2B5EF4-FFF2-40B4-BE49-F238E27FC236}">
                <a16:creationId xmlns:a16="http://schemas.microsoft.com/office/drawing/2014/main" xmlns="" id="{76802081-A47F-4CE8-8E83-EF3CEC7EEC75}"/>
              </a:ext>
            </a:extLst>
          </p:cNvPr>
          <p:cNvSpPr>
            <a:spLocks noGrp="1"/>
          </p:cNvSpPr>
          <p:nvPr/>
        </p:nvSpPr>
        <p:spPr>
          <a:xfrm>
            <a:off x="7810500" y="45148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790" name="Rectangle 1048789">
            <a:extLst>
              <a:ext uri="{FF2B5EF4-FFF2-40B4-BE49-F238E27FC236}">
                <a16:creationId xmlns:a16="http://schemas.microsoft.com/office/drawing/2014/main" xmlns="" id="{C6CF8D9B-5C0B-4F80-85D4-965FC0FC653D}"/>
              </a:ext>
            </a:extLst>
          </p:cNvPr>
          <p:cNvSpPr>
            <a:spLocks noGrp="1"/>
          </p:cNvSpPr>
          <p:nvPr/>
        </p:nvSpPr>
        <p:spPr>
          <a:xfrm>
            <a:off x="8067675" y="4448175"/>
            <a:ext cx="3076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Builds the interface automatically</a:t>
            </a:r>
          </a:p>
        </p:txBody>
      </p:sp>
      <p:sp>
        <p:nvSpPr>
          <p:cNvPr id="1048791" name="Rectangle 1048790">
            <a:extLst>
              <a:ext uri="{FF2B5EF4-FFF2-40B4-BE49-F238E27FC236}">
                <a16:creationId xmlns:a16="http://schemas.microsoft.com/office/drawing/2014/main" xmlns="" id="{FF7C74E7-1750-4E42-9225-90096FA6119D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  <p:pic>
        <p:nvPicPr>
          <p:cNvPr id="21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1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900072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5" name="Rounded Rectangle 1048794">
            <a:extLst>
              <a:ext uri="{FF2B5EF4-FFF2-40B4-BE49-F238E27FC236}">
                <a16:creationId xmlns:a16="http://schemas.microsoft.com/office/drawing/2014/main" xmlns="" id="{354B4768-5C2C-4853-A7D9-9D7E50EADF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797" name="Rectangle 1048796">
            <a:extLst>
              <a:ext uri="{FF2B5EF4-FFF2-40B4-BE49-F238E27FC236}">
                <a16:creationId xmlns:a16="http://schemas.microsoft.com/office/drawing/2014/main" xmlns="" id="{FC4C67E0-0B47-4DC4-9080-AC4D2BBBAAD3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8798" name="Rectangle 1048797">
            <a:extLst>
              <a:ext uri="{FF2B5EF4-FFF2-40B4-BE49-F238E27FC236}">
                <a16:creationId xmlns:a16="http://schemas.microsoft.com/office/drawing/2014/main" xmlns="" id="{02D8E188-D5E0-45FC-AC60-4138E3A8E33E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The program safely loads a TXT resume</a:t>
            </a:r>
          </a:p>
        </p:txBody>
      </p:sp>
      <p:sp>
        <p:nvSpPr>
          <p:cNvPr id="1048799" name="Rectangle 1048798">
            <a:extLst>
              <a:ext uri="{FF2B5EF4-FFF2-40B4-BE49-F238E27FC236}">
                <a16:creationId xmlns:a16="http://schemas.microsoft.com/office/drawing/2014/main" xmlns="" id="{3AC5E955-4CCC-45BB-838E-A6471E1DE56E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800" name="Rounded Rectangle 1048799">
            <a:extLst>
              <a:ext uri="{FF2B5EF4-FFF2-40B4-BE49-F238E27FC236}">
                <a16:creationId xmlns:a16="http://schemas.microsoft.com/office/drawing/2014/main" xmlns="" id="{4E0FC1CD-3D29-485C-B304-25E9E97A571E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6858000" cy="3333750"/>
          </a:xfrm>
          <a:prstGeom prst="roundRect">
            <a:avLst>
              <a:gd name="adj" fmla="val 3429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801" name="Rectangle 1048800">
            <a:extLst>
              <a:ext uri="{FF2B5EF4-FFF2-40B4-BE49-F238E27FC236}">
                <a16:creationId xmlns:a16="http://schemas.microsoft.com/office/drawing/2014/main" xmlns="" id="{D6D2B571-A209-4079-BC9A-FEF16A31C952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6429375" cy="2714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open_resume(self):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filename = filedialog.askopenfilename(</a:t>
            </a:r>
          </a:p>
          <a:p>
            <a:pPr>
              <a:defRPr sz="975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title="Select resume text file",</a:t>
            </a:r>
            <a:endParaRPr/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filetypes=[("Text files", "*.txt"),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("All files", "*.*")]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)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if not filename: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return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try: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text = Path(filename).read_text(encoding="utf-8")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except UnicodeDecodeError: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messagebox.showerror(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"Cannot open file",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"Please choose a UTF-8 text file.")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return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self.resume_text.delete("1.0", "end")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self.resume_text.insert("1.0", text)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self.resume_name.set(Path(filename).name)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self.status.set("Resume loaded and ready")</a:t>
            </a:r>
          </a:p>
        </p:txBody>
      </p:sp>
      <p:sp>
        <p:nvSpPr>
          <p:cNvPr id="1048802" name="Rounded Rectangle 1048801">
            <a:extLst>
              <a:ext uri="{FF2B5EF4-FFF2-40B4-BE49-F238E27FC236}">
                <a16:creationId xmlns:a16="http://schemas.microsoft.com/office/drawing/2014/main" xmlns="" id="{EF59F79F-B66C-434C-ADEC-6DC2AEFEDAAF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048000" cy="1238250"/>
          </a:xfrm>
          <a:prstGeom prst="roundRect">
            <a:avLst>
              <a:gd name="adj" fmla="val 9231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803" name="Rectangle 1048802">
            <a:extLst>
              <a:ext uri="{FF2B5EF4-FFF2-40B4-BE49-F238E27FC236}">
                <a16:creationId xmlns:a16="http://schemas.microsoft.com/office/drawing/2014/main" xmlns="" id="{1A1D1AF0-E40B-4C4E-8239-EA55350FCE8D}"/>
              </a:ext>
            </a:extLst>
          </p:cNvPr>
          <p:cNvSpPr>
            <a:spLocks noGrp="1"/>
          </p:cNvSpPr>
          <p:nvPr/>
        </p:nvSpPr>
        <p:spPr>
          <a:xfrm>
            <a:off x="8191500" y="2000250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52606D"/>
                </a:solidFill>
              </a:defRPr>
            </a:pPr>
            <a:r>
              <a:rPr sz="2025" b="1">
                <a:solidFill>
                  <a:srgbClr val="52606D"/>
                </a:solidFill>
              </a:rPr>
              <a:t>1</a:t>
            </a:r>
          </a:p>
        </p:txBody>
      </p:sp>
      <p:sp>
        <p:nvSpPr>
          <p:cNvPr id="1048804" name="Rectangle 1048803">
            <a:extLst>
              <a:ext uri="{FF2B5EF4-FFF2-40B4-BE49-F238E27FC236}">
                <a16:creationId xmlns:a16="http://schemas.microsoft.com/office/drawing/2014/main" xmlns="" id="{694979A4-4A32-43DC-AABA-7FC5AD3DE907}"/>
              </a:ext>
            </a:extLst>
          </p:cNvPr>
          <p:cNvSpPr>
            <a:spLocks noGrp="1"/>
          </p:cNvSpPr>
          <p:nvPr/>
        </p:nvSpPr>
        <p:spPr>
          <a:xfrm>
            <a:off x="8810625" y="204787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246BFD"/>
                </a:solidFill>
              </a:defRPr>
            </a:pPr>
            <a:r>
              <a:rPr sz="1275" b="1">
                <a:solidFill>
                  <a:srgbClr val="246BFD"/>
                </a:solidFill>
              </a:rPr>
              <a:t>FILE SELECTION</a:t>
            </a:r>
          </a:p>
        </p:txBody>
      </p:sp>
      <p:sp>
        <p:nvSpPr>
          <p:cNvPr id="1048805" name="Rectangle 1048804">
            <a:extLst>
              <a:ext uri="{FF2B5EF4-FFF2-40B4-BE49-F238E27FC236}">
                <a16:creationId xmlns:a16="http://schemas.microsoft.com/office/drawing/2014/main" xmlns="" id="{D05F2E38-6204-49A8-AF9D-4DA49138DC6E}"/>
              </a:ext>
            </a:extLst>
          </p:cNvPr>
          <p:cNvSpPr>
            <a:spLocks noGrp="1"/>
          </p:cNvSpPr>
          <p:nvPr/>
        </p:nvSpPr>
        <p:spPr>
          <a:xfrm>
            <a:off x="10144125" y="2000250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2025" b="1">
                <a:solidFill>
                  <a:srgbClr val="16A36A"/>
                </a:solidFill>
              </a:defRPr>
            </a:pPr>
            <a:r>
              <a:rPr sz="2025" b="1">
                <a:solidFill>
                  <a:srgbClr val="16A36A"/>
                </a:solidFill>
              </a:rPr>
              <a:t>2</a:t>
            </a:r>
          </a:p>
        </p:txBody>
      </p:sp>
      <p:sp>
        <p:nvSpPr>
          <p:cNvPr id="1048806" name="Rectangle 1048805">
            <a:extLst>
              <a:ext uri="{FF2B5EF4-FFF2-40B4-BE49-F238E27FC236}">
                <a16:creationId xmlns:a16="http://schemas.microsoft.com/office/drawing/2014/main" xmlns="" id="{01FCB1CB-7BC6-410E-BAD3-5E9E49107E51}"/>
              </a:ext>
            </a:extLst>
          </p:cNvPr>
          <p:cNvSpPr>
            <a:spLocks noGrp="1"/>
          </p:cNvSpPr>
          <p:nvPr/>
        </p:nvSpPr>
        <p:spPr>
          <a:xfrm>
            <a:off x="8096250" y="3333750"/>
            <a:ext cx="2714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The dialog accepts TXT files. Canceling safely returns without changing the application.</a:t>
            </a:r>
          </a:p>
        </p:txBody>
      </p:sp>
      <p:sp>
        <p:nvSpPr>
          <p:cNvPr id="1048807" name="Rectangle 1048806">
            <a:extLst>
              <a:ext uri="{FF2B5EF4-FFF2-40B4-BE49-F238E27FC236}">
                <a16:creationId xmlns:a16="http://schemas.microsoft.com/office/drawing/2014/main" xmlns="" id="{13A60266-6C9A-44ED-BCDF-0C6869713A7E}"/>
              </a:ext>
            </a:extLst>
          </p:cNvPr>
          <p:cNvSpPr>
            <a:spLocks noGrp="1"/>
          </p:cNvSpPr>
          <p:nvPr/>
        </p:nvSpPr>
        <p:spPr>
          <a:xfrm>
            <a:off x="7953375" y="4953000"/>
            <a:ext cx="304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UTF-8 errors are caught; valid text replaces the current resume and updates the filename and status.</a:t>
            </a:r>
          </a:p>
        </p:txBody>
      </p:sp>
      <p:sp>
        <p:nvSpPr>
          <p:cNvPr id="1048808" name="Rectangle 1048807">
            <a:extLst>
              <a:ext uri="{FF2B5EF4-FFF2-40B4-BE49-F238E27FC236}">
                <a16:creationId xmlns:a16="http://schemas.microsoft.com/office/drawing/2014/main" xmlns="" id="{07517C8E-7C67-499F-B9C4-8F618F597508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08</a:t>
            </a:r>
          </a:p>
        </p:txBody>
      </p:sp>
      <p:pic>
        <p:nvPicPr>
          <p:cNvPr id="16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620894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Rounded Rectangle 1048811">
            <a:extLst>
              <a:ext uri="{FF2B5EF4-FFF2-40B4-BE49-F238E27FC236}">
                <a16:creationId xmlns:a16="http://schemas.microsoft.com/office/drawing/2014/main" xmlns="" id="{BC40798F-63D1-4C21-BF3C-FBB764B418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814" name="Rectangle 1048813">
            <a:extLst>
              <a:ext uri="{FF2B5EF4-FFF2-40B4-BE49-F238E27FC236}">
                <a16:creationId xmlns:a16="http://schemas.microsoft.com/office/drawing/2014/main" xmlns="" id="{7427747C-486E-4142-8114-3CFE6D79FA21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8815" name="Rectangle 1048814">
            <a:extLst>
              <a:ext uri="{FF2B5EF4-FFF2-40B4-BE49-F238E27FC236}">
                <a16:creationId xmlns:a16="http://schemas.microsoft.com/office/drawing/2014/main" xmlns="" id="{A2260D3C-247D-4783-B6A0-4E1CA20A95C1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Keyword matching creates a transparent score</a:t>
            </a:r>
          </a:p>
        </p:txBody>
      </p:sp>
      <p:sp>
        <p:nvSpPr>
          <p:cNvPr id="1048816" name="Rectangle 1048815">
            <a:extLst>
              <a:ext uri="{FF2B5EF4-FFF2-40B4-BE49-F238E27FC236}">
                <a16:creationId xmlns:a16="http://schemas.microsoft.com/office/drawing/2014/main" xmlns="" id="{CF132415-750F-4FD7-BFE0-B6470A2F65AF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817" name="Rounded Rectangle 1048816">
            <a:extLst>
              <a:ext uri="{FF2B5EF4-FFF2-40B4-BE49-F238E27FC236}">
                <a16:creationId xmlns:a16="http://schemas.microsoft.com/office/drawing/2014/main" xmlns="" id="{4B68CB82-F90A-4705-B5C6-A94AE1D72832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6286500" cy="3905250"/>
          </a:xfrm>
          <a:prstGeom prst="roundRect">
            <a:avLst>
              <a:gd name="adj" fmla="val 2927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818" name="Rectangle 1048817">
            <a:extLst>
              <a:ext uri="{FF2B5EF4-FFF2-40B4-BE49-F238E27FC236}">
                <a16:creationId xmlns:a16="http://schemas.microsoft.com/office/drawing/2014/main" xmlns="" id="{AFC6A088-1E56-4C55-B1BC-4975D5007C87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5857875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screen_resume(self):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resume = self.resume_text.get("1.0", "end").strip()</a:t>
            </a:r>
          </a:p>
          <a:p>
            <a:pPr>
              <a:defRPr sz="975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role = self.role.get()</a:t>
            </a:r>
            <a:endParaRPr/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keywords = ROLE_KEYWORDS[role]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custom = self.requirements.get("1.0", "end").lower()</a:t>
            </a:r>
          </a:p>
          <a:p>
            <a:pPr>
              <a:defRPr sz="975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custom_words = re.findall(</a:t>
            </a:r>
            <a:endParaRPr/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r"[a-zA-Z][a-zA-Z+#.-]{2,}", custom)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all_keywords = list(dict.fromkeys(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keywords + custom_words))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normalized = re.sub(r"\s+", " ", resume.lower())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matched = [w for w in all_keywords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if w.strip() in normalized]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score = min(98, round(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35 + len(matched)/max(len(all_keywords),1)*63))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missing = [w for w in all_keywords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if w not in matched][:5]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verdict = ("STRONG MATCH" if score &gt;= 80 else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"POTENTIAL MATCH" if score &gt;= 60 else</a:t>
            </a:r>
          </a:p>
          <a:p>
            <a:pPr algn="l">
              <a:buNone/>
              <a:defRPr sz="9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"NEEDS REVIEW")</a:t>
            </a:r>
          </a:p>
        </p:txBody>
      </p:sp>
      <p:sp>
        <p:nvSpPr>
          <p:cNvPr id="1048819" name="Rectangle 1048818">
            <a:extLst>
              <a:ext uri="{FF2B5EF4-FFF2-40B4-BE49-F238E27FC236}">
                <a16:creationId xmlns:a16="http://schemas.microsoft.com/office/drawing/2014/main" xmlns="" id="{A4910F0B-ACC7-4B54-9C58-CFAF47350930}"/>
              </a:ext>
            </a:extLst>
          </p:cNvPr>
          <p:cNvSpPr>
            <a:spLocks noGrp="1"/>
          </p:cNvSpPr>
          <p:nvPr/>
        </p:nvSpPr>
        <p:spPr>
          <a:xfrm>
            <a:off x="7524750" y="166687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How the result is produced</a:t>
            </a:r>
          </a:p>
        </p:txBody>
      </p:sp>
      <p:sp>
        <p:nvSpPr>
          <p:cNvPr id="1048820" name="Rounded Rectangle 1048819">
            <a:extLst>
              <a:ext uri="{FF2B5EF4-FFF2-40B4-BE49-F238E27FC236}">
                <a16:creationId xmlns:a16="http://schemas.microsoft.com/office/drawing/2014/main" xmlns="" id="{46AB90FB-7AC3-438A-A5C3-3425CAB95EC5}"/>
              </a:ext>
            </a:extLst>
          </p:cNvPr>
          <p:cNvSpPr>
            <a:spLocks noGrp="1"/>
          </p:cNvSpPr>
          <p:nvPr/>
        </p:nvSpPr>
        <p:spPr>
          <a:xfrm>
            <a:off x="7524750" y="2190750"/>
            <a:ext cx="3429000" cy="1238250"/>
          </a:xfrm>
          <a:prstGeom prst="roundRect">
            <a:avLst>
              <a:gd name="adj" fmla="val 9231"/>
            </a:avLst>
          </a:prstGeom>
          <a:solidFill>
            <a:srgbClr val="EAFBF4"/>
          </a:solidFill>
          <a:ln w="9525">
            <a:solidFill>
              <a:srgbClr val="8AD6B7"/>
            </a:solidFill>
            <a:prstDash val="solid"/>
          </a:ln>
        </p:spPr>
      </p:sp>
      <p:sp>
        <p:nvSpPr>
          <p:cNvPr id="1048821" name="Rectangle 1048820">
            <a:extLst>
              <a:ext uri="{FF2B5EF4-FFF2-40B4-BE49-F238E27FC236}">
                <a16:creationId xmlns:a16="http://schemas.microsoft.com/office/drawing/2014/main" xmlns="" id="{97BB0AF5-7E71-4737-9AC2-858C40AE74C9}"/>
              </a:ext>
            </a:extLst>
          </p:cNvPr>
          <p:cNvSpPr>
            <a:spLocks noGrp="1"/>
          </p:cNvSpPr>
          <p:nvPr/>
        </p:nvSpPr>
        <p:spPr>
          <a:xfrm>
            <a:off x="7734300" y="2381250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16A36A"/>
                </a:solidFill>
              </a:defRPr>
            </a:pPr>
            <a:r>
              <a:rPr sz="1275" b="1">
                <a:solidFill>
                  <a:srgbClr val="16A36A"/>
                </a:solidFill>
              </a:rPr>
              <a:t>MATCHING</a:t>
            </a:r>
          </a:p>
        </p:txBody>
      </p:sp>
      <p:sp>
        <p:nvSpPr>
          <p:cNvPr id="1048822" name="Rectangle 1048821">
            <a:extLst>
              <a:ext uri="{FF2B5EF4-FFF2-40B4-BE49-F238E27FC236}">
                <a16:creationId xmlns:a16="http://schemas.microsoft.com/office/drawing/2014/main" xmlns="" id="{44808036-CA59-4816-BD11-631EC41F73F4}"/>
              </a:ext>
            </a:extLst>
          </p:cNvPr>
          <p:cNvSpPr>
            <a:spLocks noGrp="1"/>
          </p:cNvSpPr>
          <p:nvPr/>
        </p:nvSpPr>
        <p:spPr>
          <a:xfrm>
            <a:off x="7734300" y="2781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Combines role keywords and custom requirements</a:t>
            </a:r>
          </a:p>
        </p:txBody>
      </p:sp>
      <p:sp>
        <p:nvSpPr>
          <p:cNvPr id="1048823" name="Rounded Rectangle 1048822">
            <a:extLst>
              <a:ext uri="{FF2B5EF4-FFF2-40B4-BE49-F238E27FC236}">
                <a16:creationId xmlns:a16="http://schemas.microsoft.com/office/drawing/2014/main" xmlns="" id="{EBE99252-57EB-4360-A604-3D0683E2B00A}"/>
              </a:ext>
            </a:extLst>
          </p:cNvPr>
          <p:cNvSpPr>
            <a:spLocks noGrp="1"/>
          </p:cNvSpPr>
          <p:nvPr/>
        </p:nvSpPr>
        <p:spPr>
          <a:xfrm>
            <a:off x="7524750" y="3667125"/>
            <a:ext cx="3429000" cy="142875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9525">
            <a:solidFill>
              <a:srgbClr val="F3C46A"/>
            </a:solidFill>
            <a:prstDash val="solid"/>
          </a:ln>
        </p:spPr>
      </p:sp>
      <p:sp>
        <p:nvSpPr>
          <p:cNvPr id="1048824" name="Rectangle 1048823">
            <a:extLst>
              <a:ext uri="{FF2B5EF4-FFF2-40B4-BE49-F238E27FC236}">
                <a16:creationId xmlns:a16="http://schemas.microsoft.com/office/drawing/2014/main" xmlns="" id="{D5869E8F-AE7C-4996-A5A1-25A3AAF0F643}"/>
              </a:ext>
            </a:extLst>
          </p:cNvPr>
          <p:cNvSpPr>
            <a:spLocks noGrp="1"/>
          </p:cNvSpPr>
          <p:nvPr/>
        </p:nvSpPr>
        <p:spPr>
          <a:xfrm>
            <a:off x="7734300" y="3857625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F4A62A"/>
                </a:solidFill>
              </a:defRPr>
            </a:pPr>
            <a:r>
              <a:rPr sz="1275" b="1">
                <a:solidFill>
                  <a:srgbClr val="F4A62A"/>
                </a:solidFill>
              </a:rPr>
              <a:t>SCORING</a:t>
            </a:r>
          </a:p>
        </p:txBody>
      </p:sp>
      <p:sp>
        <p:nvSpPr>
          <p:cNvPr id="1048825" name="Rectangle 1048824">
            <a:extLst>
              <a:ext uri="{FF2B5EF4-FFF2-40B4-BE49-F238E27FC236}">
                <a16:creationId xmlns:a16="http://schemas.microsoft.com/office/drawing/2014/main" xmlns="" id="{B75C508C-D366-4A51-A7F3-4E690D8E61C7}"/>
              </a:ext>
            </a:extLst>
          </p:cNvPr>
          <p:cNvSpPr>
            <a:spLocks noGrp="1"/>
          </p:cNvSpPr>
          <p:nvPr/>
        </p:nvSpPr>
        <p:spPr>
          <a:xfrm>
            <a:off x="7734300" y="4257675"/>
            <a:ext cx="295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Finds matched and missing skills, calculates 35–98%, and assigns a verdict</a:t>
            </a:r>
          </a:p>
        </p:txBody>
      </p:sp>
      <p:sp>
        <p:nvSpPr>
          <p:cNvPr id="1048826" name="Rectangle 1048825">
            <a:extLst>
              <a:ext uri="{FF2B5EF4-FFF2-40B4-BE49-F238E27FC236}">
                <a16:creationId xmlns:a16="http://schemas.microsoft.com/office/drawing/2014/main" xmlns="" id="{2A48231B-8F78-42B1-91B1-D496C59A34E0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09</a:t>
            </a:r>
          </a:p>
        </p:txBody>
      </p:sp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075854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0" name="Rounded Rectangle 1048829">
            <a:extLst>
              <a:ext uri="{FF2B5EF4-FFF2-40B4-BE49-F238E27FC236}">
                <a16:creationId xmlns:a16="http://schemas.microsoft.com/office/drawing/2014/main" xmlns="" id="{CB4E156D-ACBC-4902-B2A8-227F104FB9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832" name="Rectangle 1048831">
            <a:extLst>
              <a:ext uri="{FF2B5EF4-FFF2-40B4-BE49-F238E27FC236}">
                <a16:creationId xmlns:a16="http://schemas.microsoft.com/office/drawing/2014/main" xmlns="" id="{9D84BFBD-35F3-41E7-B90F-39F16935DB2A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8833" name="Rectangle 1048832">
            <a:extLst>
              <a:ext uri="{FF2B5EF4-FFF2-40B4-BE49-F238E27FC236}">
                <a16:creationId xmlns:a16="http://schemas.microsoft.com/office/drawing/2014/main" xmlns="" id="{40242EA3-DB3E-456E-9554-C8A2054F9EE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The review report explains both strengths and gaps</a:t>
            </a:r>
          </a:p>
        </p:txBody>
      </p:sp>
      <p:sp>
        <p:nvSpPr>
          <p:cNvPr id="1048834" name="Rectangle 1048833">
            <a:extLst>
              <a:ext uri="{FF2B5EF4-FFF2-40B4-BE49-F238E27FC236}">
                <a16:creationId xmlns:a16="http://schemas.microsoft.com/office/drawing/2014/main" xmlns="" id="{94A4CB75-07B1-45B8-9643-7930C65E5E44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835" name="Rounded Rectangle 1048834">
            <a:extLst>
              <a:ext uri="{FF2B5EF4-FFF2-40B4-BE49-F238E27FC236}">
                <a16:creationId xmlns:a16="http://schemas.microsoft.com/office/drawing/2014/main" xmlns="" id="{7EACC56B-20D5-4ABA-BD92-E75C1626954F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3333750" cy="3238500"/>
          </a:xfrm>
          <a:prstGeom prst="roundRect">
            <a:avLst>
              <a:gd name="adj" fmla="val 3529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836" name="Rectangle 1048835">
            <a:extLst>
              <a:ext uri="{FF2B5EF4-FFF2-40B4-BE49-F238E27FC236}">
                <a16:creationId xmlns:a16="http://schemas.microsoft.com/office/drawing/2014/main" xmlns="" id="{54B054C9-8242-41CF-B977-01AA552802D9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Candidate summary</a:t>
            </a:r>
          </a:p>
        </p:txBody>
      </p:sp>
      <p:sp>
        <p:nvSpPr>
          <p:cNvPr id="1048837" name="Rectangle 1048836">
            <a:extLst>
              <a:ext uri="{FF2B5EF4-FFF2-40B4-BE49-F238E27FC236}">
                <a16:creationId xmlns:a16="http://schemas.microsoft.com/office/drawing/2014/main" xmlns="" id="{133E1EEE-FBC6-435B-858D-4CB9624B5B70}"/>
              </a:ext>
            </a:extLst>
          </p:cNvPr>
          <p:cNvSpPr>
            <a:spLocks noGrp="1"/>
          </p:cNvSpPr>
          <p:nvPr/>
        </p:nvSpPr>
        <p:spPr>
          <a:xfrm>
            <a:off x="838200" y="2428875"/>
            <a:ext cx="287655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838" name="Oval 1048837">
            <a:extLst>
              <a:ext uri="{FF2B5EF4-FFF2-40B4-BE49-F238E27FC236}">
                <a16:creationId xmlns:a16="http://schemas.microsoft.com/office/drawing/2014/main" xmlns="" id="{12A27C3A-4697-4487-B08E-A45CB42E6DCA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839" name="Rectangle 1048838">
            <a:extLst>
              <a:ext uri="{FF2B5EF4-FFF2-40B4-BE49-F238E27FC236}">
                <a16:creationId xmlns:a16="http://schemas.microsoft.com/office/drawing/2014/main" xmlns="" id="{CD2A3A67-D260-4B9A-935B-A07196FA5313}"/>
              </a:ext>
            </a:extLst>
          </p:cNvPr>
          <p:cNvSpPr>
            <a:spLocks noGrp="1"/>
          </p:cNvSpPr>
          <p:nvPr/>
        </p:nvSpPr>
        <p:spPr>
          <a:xfrm>
            <a:off x="1095375" y="2714625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Name and contact</a:t>
            </a:r>
          </a:p>
        </p:txBody>
      </p:sp>
      <p:sp>
        <p:nvSpPr>
          <p:cNvPr id="1048840" name="Oval 1048839">
            <a:extLst>
              <a:ext uri="{FF2B5EF4-FFF2-40B4-BE49-F238E27FC236}">
                <a16:creationId xmlns:a16="http://schemas.microsoft.com/office/drawing/2014/main" xmlns="" id="{3F9BDDAD-B4CB-4486-AA61-B5680F85EAB2}"/>
              </a:ext>
            </a:extLst>
          </p:cNvPr>
          <p:cNvSpPr>
            <a:spLocks noGrp="1"/>
          </p:cNvSpPr>
          <p:nvPr/>
        </p:nvSpPr>
        <p:spPr>
          <a:xfrm>
            <a:off x="838200" y="3419475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841" name="Rectangle 1048840">
            <a:extLst>
              <a:ext uri="{FF2B5EF4-FFF2-40B4-BE49-F238E27FC236}">
                <a16:creationId xmlns:a16="http://schemas.microsoft.com/office/drawing/2014/main" xmlns="" id="{E96F3005-DF97-478B-A646-93E9C6A1295E}"/>
              </a:ext>
            </a:extLst>
          </p:cNvPr>
          <p:cNvSpPr>
            <a:spLocks noGrp="1"/>
          </p:cNvSpPr>
          <p:nvPr/>
        </p:nvSpPr>
        <p:spPr>
          <a:xfrm>
            <a:off x="1095375" y="3352800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Education level</a:t>
            </a:r>
          </a:p>
        </p:txBody>
      </p:sp>
      <p:sp>
        <p:nvSpPr>
          <p:cNvPr id="1048842" name="Oval 1048841">
            <a:extLst>
              <a:ext uri="{FF2B5EF4-FFF2-40B4-BE49-F238E27FC236}">
                <a16:creationId xmlns:a16="http://schemas.microsoft.com/office/drawing/2014/main" xmlns="" id="{6852C670-D202-41AF-814C-9371C1C83C35}"/>
              </a:ext>
            </a:extLst>
          </p:cNvPr>
          <p:cNvSpPr>
            <a:spLocks noGrp="1"/>
          </p:cNvSpPr>
          <p:nvPr/>
        </p:nvSpPr>
        <p:spPr>
          <a:xfrm>
            <a:off x="838200" y="40576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843" name="Rectangle 1048842">
            <a:extLst>
              <a:ext uri="{FF2B5EF4-FFF2-40B4-BE49-F238E27FC236}">
                <a16:creationId xmlns:a16="http://schemas.microsoft.com/office/drawing/2014/main" xmlns="" id="{64F06CDF-A36A-43D8-BE7F-259339F3B509}"/>
              </a:ext>
            </a:extLst>
          </p:cNvPr>
          <p:cNvSpPr>
            <a:spLocks noGrp="1"/>
          </p:cNvSpPr>
          <p:nvPr/>
        </p:nvSpPr>
        <p:spPr>
          <a:xfrm>
            <a:off x="1095375" y="3990975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Years of experience</a:t>
            </a:r>
          </a:p>
        </p:txBody>
      </p:sp>
      <p:sp>
        <p:nvSpPr>
          <p:cNvPr id="1048844" name="Rounded Rectangle 1048843">
            <a:extLst>
              <a:ext uri="{FF2B5EF4-FFF2-40B4-BE49-F238E27FC236}">
                <a16:creationId xmlns:a16="http://schemas.microsoft.com/office/drawing/2014/main" xmlns="" id="{6A6C782D-90E6-4C2D-B4A4-C195C94CBD7F}"/>
              </a:ext>
            </a:extLst>
          </p:cNvPr>
          <p:cNvSpPr>
            <a:spLocks noGrp="1"/>
          </p:cNvSpPr>
          <p:nvPr/>
        </p:nvSpPr>
        <p:spPr>
          <a:xfrm>
            <a:off x="4324350" y="1666875"/>
            <a:ext cx="3333750" cy="3238500"/>
          </a:xfrm>
          <a:prstGeom prst="roundRect">
            <a:avLst>
              <a:gd name="adj" fmla="val 3529"/>
            </a:avLst>
          </a:prstGeom>
          <a:solidFill>
            <a:srgbClr val="EEF9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845" name="Rectangle 1048844">
            <a:extLst>
              <a:ext uri="{FF2B5EF4-FFF2-40B4-BE49-F238E27FC236}">
                <a16:creationId xmlns:a16="http://schemas.microsoft.com/office/drawing/2014/main" xmlns="" id="{FD15E898-9196-453D-A380-75CE63C86E45}"/>
              </a:ext>
            </a:extLst>
          </p:cNvPr>
          <p:cNvSpPr>
            <a:spLocks noGrp="1"/>
          </p:cNvSpPr>
          <p:nvPr/>
        </p:nvSpPr>
        <p:spPr>
          <a:xfrm>
            <a:off x="4552950" y="195262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Evidence</a:t>
            </a:r>
          </a:p>
        </p:txBody>
      </p:sp>
      <p:sp>
        <p:nvSpPr>
          <p:cNvPr id="1048846" name="Rectangle 1048845">
            <a:extLst>
              <a:ext uri="{FF2B5EF4-FFF2-40B4-BE49-F238E27FC236}">
                <a16:creationId xmlns:a16="http://schemas.microsoft.com/office/drawing/2014/main" xmlns="" id="{F1B9398F-04E7-42BC-B4FD-BE1F4DC0B022}"/>
              </a:ext>
            </a:extLst>
          </p:cNvPr>
          <p:cNvSpPr>
            <a:spLocks noGrp="1"/>
          </p:cNvSpPr>
          <p:nvPr/>
        </p:nvSpPr>
        <p:spPr>
          <a:xfrm>
            <a:off x="4552950" y="2428875"/>
            <a:ext cx="287655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847" name="Oval 1048846">
            <a:extLst>
              <a:ext uri="{FF2B5EF4-FFF2-40B4-BE49-F238E27FC236}">
                <a16:creationId xmlns:a16="http://schemas.microsoft.com/office/drawing/2014/main" xmlns="" id="{D3504158-AD49-4C24-BA51-FFE88A975D2B}"/>
              </a:ext>
            </a:extLst>
          </p:cNvPr>
          <p:cNvSpPr>
            <a:spLocks noGrp="1"/>
          </p:cNvSpPr>
          <p:nvPr/>
        </p:nvSpPr>
        <p:spPr>
          <a:xfrm>
            <a:off x="4552950" y="27813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848" name="Rectangle 1048847">
            <a:extLst>
              <a:ext uri="{FF2B5EF4-FFF2-40B4-BE49-F238E27FC236}">
                <a16:creationId xmlns:a16="http://schemas.microsoft.com/office/drawing/2014/main" xmlns="" id="{B2C51E8C-2311-4CF5-A81E-147C33C6110C}"/>
              </a:ext>
            </a:extLst>
          </p:cNvPr>
          <p:cNvSpPr>
            <a:spLocks noGrp="1"/>
          </p:cNvSpPr>
          <p:nvPr/>
        </p:nvSpPr>
        <p:spPr>
          <a:xfrm>
            <a:off x="4810125" y="2714625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Matched keywords</a:t>
            </a:r>
          </a:p>
        </p:txBody>
      </p:sp>
      <p:sp>
        <p:nvSpPr>
          <p:cNvPr id="1048849" name="Oval 1048848">
            <a:extLst>
              <a:ext uri="{FF2B5EF4-FFF2-40B4-BE49-F238E27FC236}">
                <a16:creationId xmlns:a16="http://schemas.microsoft.com/office/drawing/2014/main" xmlns="" id="{F01DC61C-8929-416C-8471-50845D481E4F}"/>
              </a:ext>
            </a:extLst>
          </p:cNvPr>
          <p:cNvSpPr>
            <a:spLocks noGrp="1"/>
          </p:cNvSpPr>
          <p:nvPr/>
        </p:nvSpPr>
        <p:spPr>
          <a:xfrm>
            <a:off x="4552950" y="3419475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850" name="Rectangle 1048849">
            <a:extLst>
              <a:ext uri="{FF2B5EF4-FFF2-40B4-BE49-F238E27FC236}">
                <a16:creationId xmlns:a16="http://schemas.microsoft.com/office/drawing/2014/main" xmlns="" id="{7069174C-9916-4FD9-9E25-39181C7B5ED5}"/>
              </a:ext>
            </a:extLst>
          </p:cNvPr>
          <p:cNvSpPr>
            <a:spLocks noGrp="1"/>
          </p:cNvSpPr>
          <p:nvPr/>
        </p:nvSpPr>
        <p:spPr>
          <a:xfrm>
            <a:off x="4810125" y="3352800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Relevant projects</a:t>
            </a:r>
          </a:p>
        </p:txBody>
      </p:sp>
      <p:sp>
        <p:nvSpPr>
          <p:cNvPr id="1048851" name="Oval 1048850">
            <a:extLst>
              <a:ext uri="{FF2B5EF4-FFF2-40B4-BE49-F238E27FC236}">
                <a16:creationId xmlns:a16="http://schemas.microsoft.com/office/drawing/2014/main" xmlns="" id="{1F0B1A82-5ECD-46CC-BAE7-4D4BC9ABD85D}"/>
              </a:ext>
            </a:extLst>
          </p:cNvPr>
          <p:cNvSpPr>
            <a:spLocks noGrp="1"/>
          </p:cNvSpPr>
          <p:nvPr/>
        </p:nvSpPr>
        <p:spPr>
          <a:xfrm>
            <a:off x="4552950" y="40576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852" name="Rectangle 1048851">
            <a:extLst>
              <a:ext uri="{FF2B5EF4-FFF2-40B4-BE49-F238E27FC236}">
                <a16:creationId xmlns:a16="http://schemas.microsoft.com/office/drawing/2014/main" xmlns="" id="{4811FFA8-6407-4C2D-AE9C-B8F6DC594E86}"/>
              </a:ext>
            </a:extLst>
          </p:cNvPr>
          <p:cNvSpPr>
            <a:spLocks noGrp="1"/>
          </p:cNvSpPr>
          <p:nvPr/>
        </p:nvSpPr>
        <p:spPr>
          <a:xfrm>
            <a:off x="4810125" y="3990975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Required skills found</a:t>
            </a:r>
          </a:p>
        </p:txBody>
      </p:sp>
      <p:sp>
        <p:nvSpPr>
          <p:cNvPr id="1048853" name="Rounded Rectangle 1048852">
            <a:extLst>
              <a:ext uri="{FF2B5EF4-FFF2-40B4-BE49-F238E27FC236}">
                <a16:creationId xmlns:a16="http://schemas.microsoft.com/office/drawing/2014/main" xmlns="" id="{331A7C73-F650-495A-A76D-EF721F4F68DC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3333750" cy="3238500"/>
          </a:xfrm>
          <a:prstGeom prst="roundRect">
            <a:avLst>
              <a:gd name="adj" fmla="val 3529"/>
            </a:avLst>
          </a:prstGeom>
          <a:solidFill>
            <a:srgbClr val="EAFBF4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854" name="Rectangle 1048853">
            <a:extLst>
              <a:ext uri="{FF2B5EF4-FFF2-40B4-BE49-F238E27FC236}">
                <a16:creationId xmlns:a16="http://schemas.microsoft.com/office/drawing/2014/main" xmlns="" id="{C3AFDF78-9AD3-4A61-B18A-8AB46B5DDF69}"/>
              </a:ext>
            </a:extLst>
          </p:cNvPr>
          <p:cNvSpPr>
            <a:spLocks noGrp="1"/>
          </p:cNvSpPr>
          <p:nvPr/>
        </p:nvSpPr>
        <p:spPr>
          <a:xfrm>
            <a:off x="8267700" y="195262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Decision support</a:t>
            </a:r>
          </a:p>
        </p:txBody>
      </p:sp>
      <p:sp>
        <p:nvSpPr>
          <p:cNvPr id="1048855" name="Rectangle 1048854">
            <a:extLst>
              <a:ext uri="{FF2B5EF4-FFF2-40B4-BE49-F238E27FC236}">
                <a16:creationId xmlns:a16="http://schemas.microsoft.com/office/drawing/2014/main" xmlns="" id="{A1F7E72D-A3CA-40B2-98B4-B2F7AA96D1B7}"/>
              </a:ext>
            </a:extLst>
          </p:cNvPr>
          <p:cNvSpPr>
            <a:spLocks noGrp="1"/>
          </p:cNvSpPr>
          <p:nvPr/>
        </p:nvSpPr>
        <p:spPr>
          <a:xfrm>
            <a:off x="8267700" y="2428875"/>
            <a:ext cx="287655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856" name="Oval 1048855">
            <a:extLst>
              <a:ext uri="{FF2B5EF4-FFF2-40B4-BE49-F238E27FC236}">
                <a16:creationId xmlns:a16="http://schemas.microsoft.com/office/drawing/2014/main" xmlns="" id="{07A12A37-9173-489D-A754-1C9F99D693EC}"/>
              </a:ext>
            </a:extLst>
          </p:cNvPr>
          <p:cNvSpPr>
            <a:spLocks noGrp="1"/>
          </p:cNvSpPr>
          <p:nvPr/>
        </p:nvSpPr>
        <p:spPr>
          <a:xfrm>
            <a:off x="8267700" y="27813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857" name="Rectangle 1048856">
            <a:extLst>
              <a:ext uri="{FF2B5EF4-FFF2-40B4-BE49-F238E27FC236}">
                <a16:creationId xmlns:a16="http://schemas.microsoft.com/office/drawing/2014/main" xmlns="" id="{D50440B1-2A7B-4CFA-8EF3-F16108B32B33}"/>
              </a:ext>
            </a:extLst>
          </p:cNvPr>
          <p:cNvSpPr>
            <a:spLocks noGrp="1"/>
          </p:cNvSpPr>
          <p:nvPr/>
        </p:nvSpPr>
        <p:spPr>
          <a:xfrm>
            <a:off x="8524875" y="2714625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Match score</a:t>
            </a:r>
          </a:p>
        </p:txBody>
      </p:sp>
      <p:sp>
        <p:nvSpPr>
          <p:cNvPr id="1048858" name="Oval 1048857">
            <a:extLst>
              <a:ext uri="{FF2B5EF4-FFF2-40B4-BE49-F238E27FC236}">
                <a16:creationId xmlns:a16="http://schemas.microsoft.com/office/drawing/2014/main" xmlns="" id="{0DBA0A7F-EF4C-421C-A58F-C730E180E0F1}"/>
              </a:ext>
            </a:extLst>
          </p:cNvPr>
          <p:cNvSpPr>
            <a:spLocks noGrp="1"/>
          </p:cNvSpPr>
          <p:nvPr/>
        </p:nvSpPr>
        <p:spPr>
          <a:xfrm>
            <a:off x="8267700" y="3419475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859" name="Rectangle 1048858">
            <a:extLst>
              <a:ext uri="{FF2B5EF4-FFF2-40B4-BE49-F238E27FC236}">
                <a16:creationId xmlns:a16="http://schemas.microsoft.com/office/drawing/2014/main" xmlns="" id="{3777DD98-2A06-4FBF-AEF2-1D4140270D5B}"/>
              </a:ext>
            </a:extLst>
          </p:cNvPr>
          <p:cNvSpPr>
            <a:spLocks noGrp="1"/>
          </p:cNvSpPr>
          <p:nvPr/>
        </p:nvSpPr>
        <p:spPr>
          <a:xfrm>
            <a:off x="8524875" y="3352800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Missing skills</a:t>
            </a:r>
          </a:p>
        </p:txBody>
      </p:sp>
      <p:sp>
        <p:nvSpPr>
          <p:cNvPr id="1048860" name="Oval 1048859">
            <a:extLst>
              <a:ext uri="{FF2B5EF4-FFF2-40B4-BE49-F238E27FC236}">
                <a16:creationId xmlns:a16="http://schemas.microsoft.com/office/drawing/2014/main" xmlns="" id="{F95DE0ED-11C6-4804-B2A5-D161498790FE}"/>
              </a:ext>
            </a:extLst>
          </p:cNvPr>
          <p:cNvSpPr>
            <a:spLocks noGrp="1"/>
          </p:cNvSpPr>
          <p:nvPr/>
        </p:nvSpPr>
        <p:spPr>
          <a:xfrm>
            <a:off x="8267700" y="40576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861" name="Rectangle 1048860">
            <a:extLst>
              <a:ext uri="{FF2B5EF4-FFF2-40B4-BE49-F238E27FC236}">
                <a16:creationId xmlns:a16="http://schemas.microsoft.com/office/drawing/2014/main" xmlns="" id="{76417DBC-E837-49FA-95AA-C5F8F1FD8CD2}"/>
              </a:ext>
            </a:extLst>
          </p:cNvPr>
          <p:cNvSpPr>
            <a:spLocks noGrp="1"/>
          </p:cNvSpPr>
          <p:nvPr/>
        </p:nvSpPr>
        <p:spPr>
          <a:xfrm>
            <a:off x="8524875" y="3990975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Improvement suggestions</a:t>
            </a:r>
          </a:p>
        </p:txBody>
      </p:sp>
      <p:sp>
        <p:nvSpPr>
          <p:cNvPr id="1048862" name="Rounded Rectangle 1048861">
            <a:extLst>
              <a:ext uri="{FF2B5EF4-FFF2-40B4-BE49-F238E27FC236}">
                <a16:creationId xmlns:a16="http://schemas.microsoft.com/office/drawing/2014/main" xmlns="" id="{5D52E74E-485E-4032-ACAF-8B96C16397B0}"/>
              </a:ext>
            </a:extLst>
          </p:cNvPr>
          <p:cNvSpPr>
            <a:spLocks noGrp="1"/>
          </p:cNvSpPr>
          <p:nvPr/>
        </p:nvSpPr>
        <p:spPr>
          <a:xfrm>
            <a:off x="1714500" y="5286375"/>
            <a:ext cx="8763000" cy="619125"/>
          </a:xfrm>
          <a:prstGeom prst="roundRect">
            <a:avLst>
              <a:gd name="adj" fmla="val 18462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863" name="Rectangle 1048862">
            <a:extLst>
              <a:ext uri="{FF2B5EF4-FFF2-40B4-BE49-F238E27FC236}">
                <a16:creationId xmlns:a16="http://schemas.microsoft.com/office/drawing/2014/main" xmlns="" id="{2E497538-1BE1-4E13-B793-5E21F2415090}"/>
              </a:ext>
            </a:extLst>
          </p:cNvPr>
          <p:cNvSpPr>
            <a:spLocks noGrp="1"/>
          </p:cNvSpPr>
          <p:nvPr/>
        </p:nvSpPr>
        <p:spPr>
          <a:xfrm>
            <a:off x="1952625" y="5457825"/>
            <a:ext cx="828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Output: Strong Match  •  Potential Match  •  Not Recommended</a:t>
            </a:r>
          </a:p>
        </p:txBody>
      </p:sp>
      <p:sp>
        <p:nvSpPr>
          <p:cNvPr id="1048864" name="Rectangle 1048863">
            <a:extLst>
              <a:ext uri="{FF2B5EF4-FFF2-40B4-BE49-F238E27FC236}">
                <a16:creationId xmlns:a16="http://schemas.microsoft.com/office/drawing/2014/main" xmlns="" id="{CE961B01-FE5D-4742-8CF7-4ED3CB393D51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10</a:t>
            </a:r>
          </a:p>
        </p:txBody>
      </p:sp>
      <p:pic>
        <p:nvPicPr>
          <p:cNvPr id="37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824190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Rounded Rectangle 1048867">
            <a:extLst>
              <a:ext uri="{FF2B5EF4-FFF2-40B4-BE49-F238E27FC236}">
                <a16:creationId xmlns:a16="http://schemas.microsoft.com/office/drawing/2014/main" xmlns="" id="{FB6171F2-98A7-4B95-8C3F-53DA2D37A2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870" name="Rectangle 1048869">
            <a:extLst>
              <a:ext uri="{FF2B5EF4-FFF2-40B4-BE49-F238E27FC236}">
                <a16:creationId xmlns:a16="http://schemas.microsoft.com/office/drawing/2014/main" xmlns="" id="{9B485405-CC43-407F-BA2B-9E1D7CFF96B2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8871" name="Rectangle 1048870">
            <a:extLst>
              <a:ext uri="{FF2B5EF4-FFF2-40B4-BE49-F238E27FC236}">
                <a16:creationId xmlns:a16="http://schemas.microsoft.com/office/drawing/2014/main" xmlns="" id="{38639660-0C7C-42F4-9789-84101CB424BC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Database design keeps decisions traceable</a:t>
            </a:r>
          </a:p>
        </p:txBody>
      </p:sp>
      <p:sp>
        <p:nvSpPr>
          <p:cNvPr id="1048872" name="Rectangle 1048871">
            <a:extLst>
              <a:ext uri="{FF2B5EF4-FFF2-40B4-BE49-F238E27FC236}">
                <a16:creationId xmlns:a16="http://schemas.microsoft.com/office/drawing/2014/main" xmlns="" id="{0DD6F720-9DFB-4D95-A5C5-380BECFC7ED0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873" name="Rounded Rectangle 1048872">
            <a:extLst>
              <a:ext uri="{FF2B5EF4-FFF2-40B4-BE49-F238E27FC236}">
                <a16:creationId xmlns:a16="http://schemas.microsoft.com/office/drawing/2014/main" xmlns="" id="{90E8EA6B-7540-4BCA-9E77-3ABE5F53FF62}"/>
              </a:ext>
            </a:extLst>
          </p:cNvPr>
          <p:cNvSpPr>
            <a:spLocks noGrp="1"/>
          </p:cNvSpPr>
          <p:nvPr/>
        </p:nvSpPr>
        <p:spPr>
          <a:xfrm>
            <a:off x="619125" y="1714500"/>
            <a:ext cx="1952625" cy="523875"/>
          </a:xfrm>
          <a:prstGeom prst="roundRect">
            <a:avLst>
              <a:gd name="adj" fmla="val 21818"/>
            </a:avLst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874" name="Rectangle 1048873">
            <a:extLst>
              <a:ext uri="{FF2B5EF4-FFF2-40B4-BE49-F238E27FC236}">
                <a16:creationId xmlns:a16="http://schemas.microsoft.com/office/drawing/2014/main" xmlns="" id="{97B8DE6F-001A-435E-A2B1-6348AF197934}"/>
              </a:ext>
            </a:extLst>
          </p:cNvPr>
          <p:cNvSpPr>
            <a:spLocks noGrp="1"/>
          </p:cNvSpPr>
          <p:nvPr/>
        </p:nvSpPr>
        <p:spPr>
          <a:xfrm>
            <a:off x="695325" y="1876425"/>
            <a:ext cx="18002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candidate_id</a:t>
            </a:r>
          </a:p>
        </p:txBody>
      </p:sp>
      <p:sp>
        <p:nvSpPr>
          <p:cNvPr id="1048875" name="Rounded Rectangle 1048874">
            <a:extLst>
              <a:ext uri="{FF2B5EF4-FFF2-40B4-BE49-F238E27FC236}">
                <a16:creationId xmlns:a16="http://schemas.microsoft.com/office/drawing/2014/main" xmlns="" id="{5944451F-8030-406A-A59D-2FC6E5914A30}"/>
              </a:ext>
            </a:extLst>
          </p:cNvPr>
          <p:cNvSpPr>
            <a:spLocks noGrp="1"/>
          </p:cNvSpPr>
          <p:nvPr/>
        </p:nvSpPr>
        <p:spPr>
          <a:xfrm>
            <a:off x="2771775" y="1714500"/>
            <a:ext cx="1952625" cy="523875"/>
          </a:xfrm>
          <a:prstGeom prst="roundRect">
            <a:avLst>
              <a:gd name="adj" fmla="val 21818"/>
            </a:avLst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876" name="Rectangle 1048875">
            <a:extLst>
              <a:ext uri="{FF2B5EF4-FFF2-40B4-BE49-F238E27FC236}">
                <a16:creationId xmlns:a16="http://schemas.microsoft.com/office/drawing/2014/main" xmlns="" id="{C1656D00-B691-4842-8474-27CCB7469BCB}"/>
              </a:ext>
            </a:extLst>
          </p:cNvPr>
          <p:cNvSpPr>
            <a:spLocks noGrp="1"/>
          </p:cNvSpPr>
          <p:nvPr/>
        </p:nvSpPr>
        <p:spPr>
          <a:xfrm>
            <a:off x="2847975" y="1876425"/>
            <a:ext cx="18002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job_id</a:t>
            </a:r>
          </a:p>
        </p:txBody>
      </p:sp>
      <p:sp>
        <p:nvSpPr>
          <p:cNvPr id="1048877" name="Rounded Rectangle 1048876">
            <a:extLst>
              <a:ext uri="{FF2B5EF4-FFF2-40B4-BE49-F238E27FC236}">
                <a16:creationId xmlns:a16="http://schemas.microsoft.com/office/drawing/2014/main" xmlns="" id="{2C8FA102-2010-4D17-AA88-EF8B8A7F0277}"/>
              </a:ext>
            </a:extLst>
          </p:cNvPr>
          <p:cNvSpPr>
            <a:spLocks noGrp="1"/>
          </p:cNvSpPr>
          <p:nvPr/>
        </p:nvSpPr>
        <p:spPr>
          <a:xfrm>
            <a:off x="4924425" y="1714500"/>
            <a:ext cx="1952625" cy="523875"/>
          </a:xfrm>
          <a:prstGeom prst="roundRect">
            <a:avLst>
              <a:gd name="adj" fmla="val 21818"/>
            </a:avLst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878" name="Rectangle 1048877">
            <a:extLst>
              <a:ext uri="{FF2B5EF4-FFF2-40B4-BE49-F238E27FC236}">
                <a16:creationId xmlns:a16="http://schemas.microsoft.com/office/drawing/2014/main" xmlns="" id="{2E5D5648-AA4C-445F-B4E9-C95083E132A2}"/>
              </a:ext>
            </a:extLst>
          </p:cNvPr>
          <p:cNvSpPr>
            <a:spLocks noGrp="1"/>
          </p:cNvSpPr>
          <p:nvPr/>
        </p:nvSpPr>
        <p:spPr>
          <a:xfrm>
            <a:off x="5000625" y="1876425"/>
            <a:ext cx="18002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match_score</a:t>
            </a:r>
          </a:p>
        </p:txBody>
      </p:sp>
      <p:sp>
        <p:nvSpPr>
          <p:cNvPr id="1048879" name="Rounded Rectangle 1048878">
            <a:extLst>
              <a:ext uri="{FF2B5EF4-FFF2-40B4-BE49-F238E27FC236}">
                <a16:creationId xmlns:a16="http://schemas.microsoft.com/office/drawing/2014/main" xmlns="" id="{E92DE72F-A0E8-49CF-A3F5-44C0EA273FB5}"/>
              </a:ext>
            </a:extLst>
          </p:cNvPr>
          <p:cNvSpPr>
            <a:spLocks noGrp="1"/>
          </p:cNvSpPr>
          <p:nvPr/>
        </p:nvSpPr>
        <p:spPr>
          <a:xfrm>
            <a:off x="7077075" y="1714500"/>
            <a:ext cx="1952625" cy="523875"/>
          </a:xfrm>
          <a:prstGeom prst="roundRect">
            <a:avLst>
              <a:gd name="adj" fmla="val 21818"/>
            </a:avLst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880" name="Rectangle 1048879">
            <a:extLst>
              <a:ext uri="{FF2B5EF4-FFF2-40B4-BE49-F238E27FC236}">
                <a16:creationId xmlns:a16="http://schemas.microsoft.com/office/drawing/2014/main" xmlns="" id="{0C921196-F733-4DF7-B71F-CC6DED1AF213}"/>
              </a:ext>
            </a:extLst>
          </p:cNvPr>
          <p:cNvSpPr>
            <a:spLocks noGrp="1"/>
          </p:cNvSpPr>
          <p:nvPr/>
        </p:nvSpPr>
        <p:spPr>
          <a:xfrm>
            <a:off x="7153275" y="1876425"/>
            <a:ext cx="18002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8881" name="Rounded Rectangle 1048880">
            <a:extLst>
              <a:ext uri="{FF2B5EF4-FFF2-40B4-BE49-F238E27FC236}">
                <a16:creationId xmlns:a16="http://schemas.microsoft.com/office/drawing/2014/main" xmlns="" id="{84606436-6378-4CFA-BE18-C79EC9AD2356}"/>
              </a:ext>
            </a:extLst>
          </p:cNvPr>
          <p:cNvSpPr>
            <a:spLocks noGrp="1"/>
          </p:cNvSpPr>
          <p:nvPr/>
        </p:nvSpPr>
        <p:spPr>
          <a:xfrm>
            <a:off x="9229725" y="1714500"/>
            <a:ext cx="1952625" cy="523875"/>
          </a:xfrm>
          <a:prstGeom prst="roundRect">
            <a:avLst>
              <a:gd name="adj" fmla="val 21818"/>
            </a:avLst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882" name="Rectangle 1048881">
            <a:extLst>
              <a:ext uri="{FF2B5EF4-FFF2-40B4-BE49-F238E27FC236}">
                <a16:creationId xmlns:a16="http://schemas.microsoft.com/office/drawing/2014/main" xmlns="" id="{F8D9BD1D-5FFB-43A8-88AC-F108F7DAD987}"/>
              </a:ext>
            </a:extLst>
          </p:cNvPr>
          <p:cNvSpPr>
            <a:spLocks noGrp="1"/>
          </p:cNvSpPr>
          <p:nvPr/>
        </p:nvSpPr>
        <p:spPr>
          <a:xfrm>
            <a:off x="9305925" y="1876425"/>
            <a:ext cx="18002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reviewed_by</a:t>
            </a:r>
          </a:p>
        </p:txBody>
      </p:sp>
      <p:sp>
        <p:nvSpPr>
          <p:cNvPr id="1048883" name="Rounded Rectangle 1048882">
            <a:extLst>
              <a:ext uri="{FF2B5EF4-FFF2-40B4-BE49-F238E27FC236}">
                <a16:creationId xmlns:a16="http://schemas.microsoft.com/office/drawing/2014/main" xmlns="" id="{52A7BFC1-1459-4245-8311-8C35809FF63D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884" name="Rectangle 1048883">
            <a:extLst>
              <a:ext uri="{FF2B5EF4-FFF2-40B4-BE49-F238E27FC236}">
                <a16:creationId xmlns:a16="http://schemas.microsoft.com/office/drawing/2014/main" xmlns="" id="{959548C9-A3C6-4DF2-8A5D-C5BCFBF58F9D}"/>
              </a:ext>
            </a:extLst>
          </p:cNvPr>
          <p:cNvSpPr>
            <a:spLocks noGrp="1"/>
          </p:cNvSpPr>
          <p:nvPr/>
        </p:nvSpPr>
        <p:spPr>
          <a:xfrm>
            <a:off x="695325" y="246697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C001</a:t>
            </a:r>
          </a:p>
        </p:txBody>
      </p:sp>
      <p:sp>
        <p:nvSpPr>
          <p:cNvPr id="1048885" name="Rounded Rectangle 1048884">
            <a:extLst>
              <a:ext uri="{FF2B5EF4-FFF2-40B4-BE49-F238E27FC236}">
                <a16:creationId xmlns:a16="http://schemas.microsoft.com/office/drawing/2014/main" xmlns="" id="{AA037944-4D98-4AFF-AE48-719E571A10D8}"/>
              </a:ext>
            </a:extLst>
          </p:cNvPr>
          <p:cNvSpPr>
            <a:spLocks noGrp="1"/>
          </p:cNvSpPr>
          <p:nvPr/>
        </p:nvSpPr>
        <p:spPr>
          <a:xfrm>
            <a:off x="2771775" y="233362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886" name="Rectangle 1048885">
            <a:extLst>
              <a:ext uri="{FF2B5EF4-FFF2-40B4-BE49-F238E27FC236}">
                <a16:creationId xmlns:a16="http://schemas.microsoft.com/office/drawing/2014/main" xmlns="" id="{7F45A793-E0FE-4618-994B-32425B678926}"/>
              </a:ext>
            </a:extLst>
          </p:cNvPr>
          <p:cNvSpPr>
            <a:spLocks noGrp="1"/>
          </p:cNvSpPr>
          <p:nvPr/>
        </p:nvSpPr>
        <p:spPr>
          <a:xfrm>
            <a:off x="2847975" y="246697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J101</a:t>
            </a:r>
          </a:p>
        </p:txBody>
      </p:sp>
      <p:sp>
        <p:nvSpPr>
          <p:cNvPr id="1048887" name="Rounded Rectangle 1048886">
            <a:extLst>
              <a:ext uri="{FF2B5EF4-FFF2-40B4-BE49-F238E27FC236}">
                <a16:creationId xmlns:a16="http://schemas.microsoft.com/office/drawing/2014/main" xmlns="" id="{2D8839A3-8946-4DC2-8570-731E8B42530B}"/>
              </a:ext>
            </a:extLst>
          </p:cNvPr>
          <p:cNvSpPr>
            <a:spLocks noGrp="1"/>
          </p:cNvSpPr>
          <p:nvPr/>
        </p:nvSpPr>
        <p:spPr>
          <a:xfrm>
            <a:off x="4924425" y="233362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888" name="Rectangle 1048887">
            <a:extLst>
              <a:ext uri="{FF2B5EF4-FFF2-40B4-BE49-F238E27FC236}">
                <a16:creationId xmlns:a16="http://schemas.microsoft.com/office/drawing/2014/main" xmlns="" id="{1D6AA8A3-9257-4B10-BD3D-B591FE0CB543}"/>
              </a:ext>
            </a:extLst>
          </p:cNvPr>
          <p:cNvSpPr>
            <a:spLocks noGrp="1"/>
          </p:cNvSpPr>
          <p:nvPr/>
        </p:nvSpPr>
        <p:spPr>
          <a:xfrm>
            <a:off x="5000625" y="246697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86.5</a:t>
            </a:r>
          </a:p>
        </p:txBody>
      </p:sp>
      <p:sp>
        <p:nvSpPr>
          <p:cNvPr id="1048889" name="Rounded Rectangle 1048888">
            <a:extLst>
              <a:ext uri="{FF2B5EF4-FFF2-40B4-BE49-F238E27FC236}">
                <a16:creationId xmlns:a16="http://schemas.microsoft.com/office/drawing/2014/main" xmlns="" id="{473733FE-B2EA-4BE5-9FD7-0444071728A2}"/>
              </a:ext>
            </a:extLst>
          </p:cNvPr>
          <p:cNvSpPr>
            <a:spLocks noGrp="1"/>
          </p:cNvSpPr>
          <p:nvPr/>
        </p:nvSpPr>
        <p:spPr>
          <a:xfrm>
            <a:off x="7077075" y="233362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890" name="Rectangle 1048889">
            <a:extLst>
              <a:ext uri="{FF2B5EF4-FFF2-40B4-BE49-F238E27FC236}">
                <a16:creationId xmlns:a16="http://schemas.microsoft.com/office/drawing/2014/main" xmlns="" id="{D0E862BB-A790-4D59-B985-F2EFE36C5994}"/>
              </a:ext>
            </a:extLst>
          </p:cNvPr>
          <p:cNvSpPr>
            <a:spLocks noGrp="1"/>
          </p:cNvSpPr>
          <p:nvPr/>
        </p:nvSpPr>
        <p:spPr>
          <a:xfrm>
            <a:off x="7153275" y="246697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Strong Match</a:t>
            </a:r>
          </a:p>
        </p:txBody>
      </p:sp>
      <p:sp>
        <p:nvSpPr>
          <p:cNvPr id="1048891" name="Rounded Rectangle 1048890">
            <a:extLst>
              <a:ext uri="{FF2B5EF4-FFF2-40B4-BE49-F238E27FC236}">
                <a16:creationId xmlns:a16="http://schemas.microsoft.com/office/drawing/2014/main" xmlns="" id="{CFCBF17E-F2B2-4C50-A4E4-38747337273B}"/>
              </a:ext>
            </a:extLst>
          </p:cNvPr>
          <p:cNvSpPr>
            <a:spLocks noGrp="1"/>
          </p:cNvSpPr>
          <p:nvPr/>
        </p:nvSpPr>
        <p:spPr>
          <a:xfrm>
            <a:off x="9229725" y="233362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892" name="Rectangle 1048891">
            <a:extLst>
              <a:ext uri="{FF2B5EF4-FFF2-40B4-BE49-F238E27FC236}">
                <a16:creationId xmlns:a16="http://schemas.microsoft.com/office/drawing/2014/main" xmlns="" id="{B5A78043-AADA-4D14-9BFB-5F905CFE005D}"/>
              </a:ext>
            </a:extLst>
          </p:cNvPr>
          <p:cNvSpPr>
            <a:spLocks noGrp="1"/>
          </p:cNvSpPr>
          <p:nvPr/>
        </p:nvSpPr>
        <p:spPr>
          <a:xfrm>
            <a:off x="9305925" y="246697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Recruiter A</a:t>
            </a:r>
          </a:p>
        </p:txBody>
      </p:sp>
      <p:sp>
        <p:nvSpPr>
          <p:cNvPr id="1048893" name="Rounded Rectangle 1048892">
            <a:extLst>
              <a:ext uri="{FF2B5EF4-FFF2-40B4-BE49-F238E27FC236}">
                <a16:creationId xmlns:a16="http://schemas.microsoft.com/office/drawing/2014/main" xmlns="" id="{0993183D-5CD6-4C69-A4E9-507FD2963040}"/>
              </a:ext>
            </a:extLst>
          </p:cNvPr>
          <p:cNvSpPr>
            <a:spLocks noGrp="1"/>
          </p:cNvSpPr>
          <p:nvPr/>
        </p:nvSpPr>
        <p:spPr>
          <a:xfrm>
            <a:off x="619125" y="288607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2F4F7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894" name="Rectangle 1048893">
            <a:extLst>
              <a:ext uri="{FF2B5EF4-FFF2-40B4-BE49-F238E27FC236}">
                <a16:creationId xmlns:a16="http://schemas.microsoft.com/office/drawing/2014/main" xmlns="" id="{EBFB970D-5D49-4C54-BC3F-F6DF0090ED25}"/>
              </a:ext>
            </a:extLst>
          </p:cNvPr>
          <p:cNvSpPr>
            <a:spLocks noGrp="1"/>
          </p:cNvSpPr>
          <p:nvPr/>
        </p:nvSpPr>
        <p:spPr>
          <a:xfrm>
            <a:off x="695325" y="301942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C002</a:t>
            </a:r>
          </a:p>
        </p:txBody>
      </p:sp>
      <p:sp>
        <p:nvSpPr>
          <p:cNvPr id="1048895" name="Rounded Rectangle 1048894">
            <a:extLst>
              <a:ext uri="{FF2B5EF4-FFF2-40B4-BE49-F238E27FC236}">
                <a16:creationId xmlns:a16="http://schemas.microsoft.com/office/drawing/2014/main" xmlns="" id="{176FCCEE-F847-4929-B6AC-1C6A91C66881}"/>
              </a:ext>
            </a:extLst>
          </p:cNvPr>
          <p:cNvSpPr>
            <a:spLocks noGrp="1"/>
          </p:cNvSpPr>
          <p:nvPr/>
        </p:nvSpPr>
        <p:spPr>
          <a:xfrm>
            <a:off x="2771775" y="288607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2F4F7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896" name="Rectangle 1048895">
            <a:extLst>
              <a:ext uri="{FF2B5EF4-FFF2-40B4-BE49-F238E27FC236}">
                <a16:creationId xmlns:a16="http://schemas.microsoft.com/office/drawing/2014/main" xmlns="" id="{F3D7B7FB-EBDD-44A2-A6BF-FE36A417849E}"/>
              </a:ext>
            </a:extLst>
          </p:cNvPr>
          <p:cNvSpPr>
            <a:spLocks noGrp="1"/>
          </p:cNvSpPr>
          <p:nvPr/>
        </p:nvSpPr>
        <p:spPr>
          <a:xfrm>
            <a:off x="2847975" y="301942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J101</a:t>
            </a:r>
          </a:p>
        </p:txBody>
      </p:sp>
      <p:sp>
        <p:nvSpPr>
          <p:cNvPr id="1048897" name="Rounded Rectangle 1048896">
            <a:extLst>
              <a:ext uri="{FF2B5EF4-FFF2-40B4-BE49-F238E27FC236}">
                <a16:creationId xmlns:a16="http://schemas.microsoft.com/office/drawing/2014/main" xmlns="" id="{1DABA238-BC35-4E76-B937-6DAE31730DAB}"/>
              </a:ext>
            </a:extLst>
          </p:cNvPr>
          <p:cNvSpPr>
            <a:spLocks noGrp="1"/>
          </p:cNvSpPr>
          <p:nvPr/>
        </p:nvSpPr>
        <p:spPr>
          <a:xfrm>
            <a:off x="4924425" y="288607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2F4F7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898" name="Rectangle 1048897">
            <a:extLst>
              <a:ext uri="{FF2B5EF4-FFF2-40B4-BE49-F238E27FC236}">
                <a16:creationId xmlns:a16="http://schemas.microsoft.com/office/drawing/2014/main" xmlns="" id="{324F5FC2-B25B-4CC7-99FE-2D42602B2037}"/>
              </a:ext>
            </a:extLst>
          </p:cNvPr>
          <p:cNvSpPr>
            <a:spLocks noGrp="1"/>
          </p:cNvSpPr>
          <p:nvPr/>
        </p:nvSpPr>
        <p:spPr>
          <a:xfrm>
            <a:off x="5000625" y="301942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72.0</a:t>
            </a:r>
          </a:p>
        </p:txBody>
      </p:sp>
      <p:sp>
        <p:nvSpPr>
          <p:cNvPr id="1048899" name="Rounded Rectangle 1048898">
            <a:extLst>
              <a:ext uri="{FF2B5EF4-FFF2-40B4-BE49-F238E27FC236}">
                <a16:creationId xmlns:a16="http://schemas.microsoft.com/office/drawing/2014/main" xmlns="" id="{53E0F4DF-0170-4065-9E21-9833E7F5CD17}"/>
              </a:ext>
            </a:extLst>
          </p:cNvPr>
          <p:cNvSpPr>
            <a:spLocks noGrp="1"/>
          </p:cNvSpPr>
          <p:nvPr/>
        </p:nvSpPr>
        <p:spPr>
          <a:xfrm>
            <a:off x="7077075" y="288607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2F4F7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00" name="Rectangle 1048899">
            <a:extLst>
              <a:ext uri="{FF2B5EF4-FFF2-40B4-BE49-F238E27FC236}">
                <a16:creationId xmlns:a16="http://schemas.microsoft.com/office/drawing/2014/main" xmlns="" id="{EA8E31A3-36B6-40B4-A19F-D00F685478FA}"/>
              </a:ext>
            </a:extLst>
          </p:cNvPr>
          <p:cNvSpPr>
            <a:spLocks noGrp="1"/>
          </p:cNvSpPr>
          <p:nvPr/>
        </p:nvSpPr>
        <p:spPr>
          <a:xfrm>
            <a:off x="7153275" y="301942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Potential</a:t>
            </a:r>
          </a:p>
        </p:txBody>
      </p:sp>
      <p:sp>
        <p:nvSpPr>
          <p:cNvPr id="1048901" name="Rounded Rectangle 1048900">
            <a:extLst>
              <a:ext uri="{FF2B5EF4-FFF2-40B4-BE49-F238E27FC236}">
                <a16:creationId xmlns:a16="http://schemas.microsoft.com/office/drawing/2014/main" xmlns="" id="{2AC2A8B3-AB99-4E82-80EF-2ADAAE31C50C}"/>
              </a:ext>
            </a:extLst>
          </p:cNvPr>
          <p:cNvSpPr>
            <a:spLocks noGrp="1"/>
          </p:cNvSpPr>
          <p:nvPr/>
        </p:nvSpPr>
        <p:spPr>
          <a:xfrm>
            <a:off x="9229725" y="288607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2F4F7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02" name="Rectangle 1048901">
            <a:extLst>
              <a:ext uri="{FF2B5EF4-FFF2-40B4-BE49-F238E27FC236}">
                <a16:creationId xmlns:a16="http://schemas.microsoft.com/office/drawing/2014/main" xmlns="" id="{7053498A-8028-4D9B-BFF5-B4D0395149BB}"/>
              </a:ext>
            </a:extLst>
          </p:cNvPr>
          <p:cNvSpPr>
            <a:spLocks noGrp="1"/>
          </p:cNvSpPr>
          <p:nvPr/>
        </p:nvSpPr>
        <p:spPr>
          <a:xfrm>
            <a:off x="9305925" y="301942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Recruiter A</a:t>
            </a:r>
          </a:p>
        </p:txBody>
      </p:sp>
      <p:sp>
        <p:nvSpPr>
          <p:cNvPr id="1048903" name="Rounded Rectangle 1048902">
            <a:extLst>
              <a:ext uri="{FF2B5EF4-FFF2-40B4-BE49-F238E27FC236}">
                <a16:creationId xmlns:a16="http://schemas.microsoft.com/office/drawing/2014/main" xmlns="" id="{68665A20-AFDC-4483-B9CF-DE27B26E5027}"/>
              </a:ext>
            </a:extLst>
          </p:cNvPr>
          <p:cNvSpPr>
            <a:spLocks noGrp="1"/>
          </p:cNvSpPr>
          <p:nvPr/>
        </p:nvSpPr>
        <p:spPr>
          <a:xfrm>
            <a:off x="619125" y="343852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04" name="Rectangle 1048903">
            <a:extLst>
              <a:ext uri="{FF2B5EF4-FFF2-40B4-BE49-F238E27FC236}">
                <a16:creationId xmlns:a16="http://schemas.microsoft.com/office/drawing/2014/main" xmlns="" id="{140BF265-43C0-4E7D-A116-2AAD2BCE7CE7}"/>
              </a:ext>
            </a:extLst>
          </p:cNvPr>
          <p:cNvSpPr>
            <a:spLocks noGrp="1"/>
          </p:cNvSpPr>
          <p:nvPr/>
        </p:nvSpPr>
        <p:spPr>
          <a:xfrm>
            <a:off x="695325" y="357187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C003</a:t>
            </a:r>
          </a:p>
        </p:txBody>
      </p:sp>
      <p:sp>
        <p:nvSpPr>
          <p:cNvPr id="1048905" name="Rounded Rectangle 1048904">
            <a:extLst>
              <a:ext uri="{FF2B5EF4-FFF2-40B4-BE49-F238E27FC236}">
                <a16:creationId xmlns:a16="http://schemas.microsoft.com/office/drawing/2014/main" xmlns="" id="{DE965782-BA82-4E20-A1CA-4FEA211A31AA}"/>
              </a:ext>
            </a:extLst>
          </p:cNvPr>
          <p:cNvSpPr>
            <a:spLocks noGrp="1"/>
          </p:cNvSpPr>
          <p:nvPr/>
        </p:nvSpPr>
        <p:spPr>
          <a:xfrm>
            <a:off x="2771775" y="343852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06" name="Rectangle 1048905">
            <a:extLst>
              <a:ext uri="{FF2B5EF4-FFF2-40B4-BE49-F238E27FC236}">
                <a16:creationId xmlns:a16="http://schemas.microsoft.com/office/drawing/2014/main" xmlns="" id="{74394AC2-4B39-43F4-8152-381D430AA478}"/>
              </a:ext>
            </a:extLst>
          </p:cNvPr>
          <p:cNvSpPr>
            <a:spLocks noGrp="1"/>
          </p:cNvSpPr>
          <p:nvPr/>
        </p:nvSpPr>
        <p:spPr>
          <a:xfrm>
            <a:off x="2847975" y="357187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J101</a:t>
            </a:r>
          </a:p>
        </p:txBody>
      </p:sp>
      <p:sp>
        <p:nvSpPr>
          <p:cNvPr id="1048907" name="Rounded Rectangle 1048906">
            <a:extLst>
              <a:ext uri="{FF2B5EF4-FFF2-40B4-BE49-F238E27FC236}">
                <a16:creationId xmlns:a16="http://schemas.microsoft.com/office/drawing/2014/main" xmlns="" id="{EFE5B6D4-E864-401F-AF0E-7755C7AE99DE}"/>
              </a:ext>
            </a:extLst>
          </p:cNvPr>
          <p:cNvSpPr>
            <a:spLocks noGrp="1"/>
          </p:cNvSpPr>
          <p:nvPr/>
        </p:nvSpPr>
        <p:spPr>
          <a:xfrm>
            <a:off x="4924425" y="343852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08" name="Rectangle 1048907">
            <a:extLst>
              <a:ext uri="{FF2B5EF4-FFF2-40B4-BE49-F238E27FC236}">
                <a16:creationId xmlns:a16="http://schemas.microsoft.com/office/drawing/2014/main" xmlns="" id="{5D76F072-FB39-42E1-AA6B-35506F095948}"/>
              </a:ext>
            </a:extLst>
          </p:cNvPr>
          <p:cNvSpPr>
            <a:spLocks noGrp="1"/>
          </p:cNvSpPr>
          <p:nvPr/>
        </p:nvSpPr>
        <p:spPr>
          <a:xfrm>
            <a:off x="5000625" y="357187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49.5</a:t>
            </a:r>
          </a:p>
        </p:txBody>
      </p:sp>
      <p:sp>
        <p:nvSpPr>
          <p:cNvPr id="1048909" name="Rounded Rectangle 1048908">
            <a:extLst>
              <a:ext uri="{FF2B5EF4-FFF2-40B4-BE49-F238E27FC236}">
                <a16:creationId xmlns:a16="http://schemas.microsoft.com/office/drawing/2014/main" xmlns="" id="{9AEE2C16-9867-4DEC-8381-BC0DE792D80D}"/>
              </a:ext>
            </a:extLst>
          </p:cNvPr>
          <p:cNvSpPr>
            <a:spLocks noGrp="1"/>
          </p:cNvSpPr>
          <p:nvPr/>
        </p:nvSpPr>
        <p:spPr>
          <a:xfrm>
            <a:off x="7077075" y="343852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10" name="Rectangle 1048909">
            <a:extLst>
              <a:ext uri="{FF2B5EF4-FFF2-40B4-BE49-F238E27FC236}">
                <a16:creationId xmlns:a16="http://schemas.microsoft.com/office/drawing/2014/main" xmlns="" id="{15A8F45D-CEBA-4469-BD1A-5A3C6A610CAA}"/>
              </a:ext>
            </a:extLst>
          </p:cNvPr>
          <p:cNvSpPr>
            <a:spLocks noGrp="1"/>
          </p:cNvSpPr>
          <p:nvPr/>
        </p:nvSpPr>
        <p:spPr>
          <a:xfrm>
            <a:off x="7153275" y="357187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Review Needed</a:t>
            </a:r>
          </a:p>
        </p:txBody>
      </p:sp>
      <p:sp>
        <p:nvSpPr>
          <p:cNvPr id="1048911" name="Rounded Rectangle 1048910">
            <a:extLst>
              <a:ext uri="{FF2B5EF4-FFF2-40B4-BE49-F238E27FC236}">
                <a16:creationId xmlns:a16="http://schemas.microsoft.com/office/drawing/2014/main" xmlns="" id="{B6E24D71-2776-4432-A625-27825C9A064E}"/>
              </a:ext>
            </a:extLst>
          </p:cNvPr>
          <p:cNvSpPr>
            <a:spLocks noGrp="1"/>
          </p:cNvSpPr>
          <p:nvPr/>
        </p:nvSpPr>
        <p:spPr>
          <a:xfrm>
            <a:off x="9229725" y="3438525"/>
            <a:ext cx="1952625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12" name="Rectangle 1048911">
            <a:extLst>
              <a:ext uri="{FF2B5EF4-FFF2-40B4-BE49-F238E27FC236}">
                <a16:creationId xmlns:a16="http://schemas.microsoft.com/office/drawing/2014/main" xmlns="" id="{D644CF6D-DF05-48A9-B8F1-79962BF3E8B4}"/>
              </a:ext>
            </a:extLst>
          </p:cNvPr>
          <p:cNvSpPr>
            <a:spLocks noGrp="1"/>
          </p:cNvSpPr>
          <p:nvPr/>
        </p:nvSpPr>
        <p:spPr>
          <a:xfrm>
            <a:off x="9305925" y="3571875"/>
            <a:ext cx="1800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Recruiter B</a:t>
            </a:r>
          </a:p>
        </p:txBody>
      </p:sp>
      <p:sp>
        <p:nvSpPr>
          <p:cNvPr id="1048913" name="Rectangle 1048912">
            <a:extLst>
              <a:ext uri="{FF2B5EF4-FFF2-40B4-BE49-F238E27FC236}">
                <a16:creationId xmlns:a16="http://schemas.microsoft.com/office/drawing/2014/main" xmlns="" id="{4EF187E5-1FD9-4E61-A3CF-8E0DB1ACA3A8}"/>
              </a:ext>
            </a:extLst>
          </p:cNvPr>
          <p:cNvSpPr>
            <a:spLocks noGrp="1"/>
          </p:cNvSpPr>
          <p:nvPr/>
        </p:nvSpPr>
        <p:spPr>
          <a:xfrm>
            <a:off x="619125" y="4429125"/>
            <a:ext cx="3048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Recommended tables</a:t>
            </a:r>
          </a:p>
        </p:txBody>
      </p:sp>
      <p:sp>
        <p:nvSpPr>
          <p:cNvPr id="1048914" name="Oval 1048913">
            <a:extLst>
              <a:ext uri="{FF2B5EF4-FFF2-40B4-BE49-F238E27FC236}">
                <a16:creationId xmlns:a16="http://schemas.microsoft.com/office/drawing/2014/main" xmlns="" id="{427835B3-66AC-4D50-A0D3-F072590DC70B}"/>
              </a:ext>
            </a:extLst>
          </p:cNvPr>
          <p:cNvSpPr>
            <a:spLocks noGrp="1"/>
          </p:cNvSpPr>
          <p:nvPr/>
        </p:nvSpPr>
        <p:spPr>
          <a:xfrm>
            <a:off x="619125" y="5019675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915" name="Rectangle 1048914">
            <a:extLst>
              <a:ext uri="{FF2B5EF4-FFF2-40B4-BE49-F238E27FC236}">
                <a16:creationId xmlns:a16="http://schemas.microsoft.com/office/drawing/2014/main" xmlns="" id="{4F8A5969-F12D-4C60-8B4F-1937379F0915}"/>
              </a:ext>
            </a:extLst>
          </p:cNvPr>
          <p:cNvSpPr>
            <a:spLocks noGrp="1"/>
          </p:cNvSpPr>
          <p:nvPr/>
        </p:nvSpPr>
        <p:spPr>
          <a:xfrm>
            <a:off x="876300" y="4953000"/>
            <a:ext cx="10220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candidates — extracted profile</a:t>
            </a:r>
          </a:p>
        </p:txBody>
      </p:sp>
      <p:sp>
        <p:nvSpPr>
          <p:cNvPr id="1048916" name="Oval 1048915">
            <a:extLst>
              <a:ext uri="{FF2B5EF4-FFF2-40B4-BE49-F238E27FC236}">
                <a16:creationId xmlns:a16="http://schemas.microsoft.com/office/drawing/2014/main" xmlns="" id="{E24833EB-C4EC-43B9-82BC-585796DF3115}"/>
              </a:ext>
            </a:extLst>
          </p:cNvPr>
          <p:cNvSpPr>
            <a:spLocks noGrp="1"/>
          </p:cNvSpPr>
          <p:nvPr/>
        </p:nvSpPr>
        <p:spPr>
          <a:xfrm>
            <a:off x="619125" y="54483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917" name="Rectangle 1048916">
            <a:extLst>
              <a:ext uri="{FF2B5EF4-FFF2-40B4-BE49-F238E27FC236}">
                <a16:creationId xmlns:a16="http://schemas.microsoft.com/office/drawing/2014/main" xmlns="" id="{A0873072-A29F-4E7D-A2CC-4A952F7005E2}"/>
              </a:ext>
            </a:extLst>
          </p:cNvPr>
          <p:cNvSpPr>
            <a:spLocks noGrp="1"/>
          </p:cNvSpPr>
          <p:nvPr/>
        </p:nvSpPr>
        <p:spPr>
          <a:xfrm>
            <a:off x="876300" y="5381625"/>
            <a:ext cx="10220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jobs — requirements and weights</a:t>
            </a:r>
          </a:p>
        </p:txBody>
      </p:sp>
      <p:sp>
        <p:nvSpPr>
          <p:cNvPr id="1048918" name="Oval 1048917">
            <a:extLst>
              <a:ext uri="{FF2B5EF4-FFF2-40B4-BE49-F238E27FC236}">
                <a16:creationId xmlns:a16="http://schemas.microsoft.com/office/drawing/2014/main" xmlns="" id="{01B06DDA-79BF-4751-8F55-92E0D9E65C4F}"/>
              </a:ext>
            </a:extLst>
          </p:cNvPr>
          <p:cNvSpPr>
            <a:spLocks noGrp="1"/>
          </p:cNvSpPr>
          <p:nvPr/>
        </p:nvSpPr>
        <p:spPr>
          <a:xfrm>
            <a:off x="619125" y="5876925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919" name="Rectangle 1048918">
            <a:extLst>
              <a:ext uri="{FF2B5EF4-FFF2-40B4-BE49-F238E27FC236}">
                <a16:creationId xmlns:a16="http://schemas.microsoft.com/office/drawing/2014/main" xmlns="" id="{A04E8207-A530-42FB-8966-F8B03246196E}"/>
              </a:ext>
            </a:extLst>
          </p:cNvPr>
          <p:cNvSpPr>
            <a:spLocks noGrp="1"/>
          </p:cNvSpPr>
          <p:nvPr/>
        </p:nvSpPr>
        <p:spPr>
          <a:xfrm>
            <a:off x="876300" y="5810250"/>
            <a:ext cx="10220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screening_results — scores and evidence</a:t>
            </a:r>
          </a:p>
        </p:txBody>
      </p:sp>
      <p:sp>
        <p:nvSpPr>
          <p:cNvPr id="1048920" name="Oval 1048919">
            <a:extLst>
              <a:ext uri="{FF2B5EF4-FFF2-40B4-BE49-F238E27FC236}">
                <a16:creationId xmlns:a16="http://schemas.microsoft.com/office/drawing/2014/main" xmlns="" id="{CB4FCA5D-7FC4-442C-BF75-D5A6DC55A736}"/>
              </a:ext>
            </a:extLst>
          </p:cNvPr>
          <p:cNvSpPr>
            <a:spLocks noGrp="1"/>
          </p:cNvSpPr>
          <p:nvPr/>
        </p:nvSpPr>
        <p:spPr>
          <a:xfrm>
            <a:off x="619125" y="63055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8921" name="Rectangle 1048920">
            <a:extLst>
              <a:ext uri="{FF2B5EF4-FFF2-40B4-BE49-F238E27FC236}">
                <a16:creationId xmlns:a16="http://schemas.microsoft.com/office/drawing/2014/main" xmlns="" id="{199FBEBD-BDE5-4B18-A96E-D07CAB8210AC}"/>
              </a:ext>
            </a:extLst>
          </p:cNvPr>
          <p:cNvSpPr>
            <a:spLocks noGrp="1"/>
          </p:cNvSpPr>
          <p:nvPr/>
        </p:nvSpPr>
        <p:spPr>
          <a:xfrm>
            <a:off x="876300" y="6238875"/>
            <a:ext cx="10220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audit_log — reviewer action and time</a:t>
            </a:r>
          </a:p>
        </p:txBody>
      </p:sp>
      <p:sp>
        <p:nvSpPr>
          <p:cNvPr id="1048922" name="Rectangle 1048921">
            <a:extLst>
              <a:ext uri="{FF2B5EF4-FFF2-40B4-BE49-F238E27FC236}">
                <a16:creationId xmlns:a16="http://schemas.microsoft.com/office/drawing/2014/main" xmlns="" id="{57698657-3553-44E6-B9DF-B019BDF1E191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11</a:t>
            </a:r>
          </a:p>
        </p:txBody>
      </p:sp>
      <p:pic>
        <p:nvPicPr>
          <p:cNvPr id="57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8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113963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6" name="Rounded Rectangle 1048925">
            <a:extLst>
              <a:ext uri="{FF2B5EF4-FFF2-40B4-BE49-F238E27FC236}">
                <a16:creationId xmlns:a16="http://schemas.microsoft.com/office/drawing/2014/main" xmlns="" id="{EFCB51CF-69FF-4F1C-98DA-A2665301A3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928" name="Rectangle 1048927">
            <a:extLst>
              <a:ext uri="{FF2B5EF4-FFF2-40B4-BE49-F238E27FC236}">
                <a16:creationId xmlns:a16="http://schemas.microsoft.com/office/drawing/2014/main" xmlns="" id="{91FF1337-EB82-4168-B5C7-50DC1902FEA2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8929" name="Rectangle 1048928">
            <a:extLst>
              <a:ext uri="{FF2B5EF4-FFF2-40B4-BE49-F238E27FC236}">
                <a16:creationId xmlns:a16="http://schemas.microsoft.com/office/drawing/2014/main" xmlns="" id="{15F22585-295C-490E-9DEA-08093C172CC6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Responsible AI controls reduce unfair or unsafe decisions</a:t>
            </a:r>
          </a:p>
        </p:txBody>
      </p:sp>
      <p:sp>
        <p:nvSpPr>
          <p:cNvPr id="1048930" name="Rectangle 1048929">
            <a:extLst>
              <a:ext uri="{FF2B5EF4-FFF2-40B4-BE49-F238E27FC236}">
                <a16:creationId xmlns:a16="http://schemas.microsoft.com/office/drawing/2014/main" xmlns="" id="{24DD3342-8DC3-4F6A-8A7F-E7ABB19FDE00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931" name="Rounded Rectangle 1048930">
            <a:extLst>
              <a:ext uri="{FF2B5EF4-FFF2-40B4-BE49-F238E27FC236}">
                <a16:creationId xmlns:a16="http://schemas.microsoft.com/office/drawing/2014/main" xmlns="" id="{74BBF0B5-9DB5-4E9C-85D5-F017196E370E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809750" cy="590550"/>
          </a:xfrm>
          <a:prstGeom prst="roundRect">
            <a:avLst>
              <a:gd name="adj" fmla="val 19355"/>
            </a:avLst>
          </a:prstGeom>
          <a:solidFill>
            <a:srgbClr val="FFF0F0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32" name="Rectangle 1048931">
            <a:extLst>
              <a:ext uri="{FF2B5EF4-FFF2-40B4-BE49-F238E27FC236}">
                <a16:creationId xmlns:a16="http://schemas.microsoft.com/office/drawing/2014/main" xmlns="" id="{B63AAB9E-5442-4F7C-A414-C9C9FBB73409}"/>
              </a:ext>
            </a:extLst>
          </p:cNvPr>
          <p:cNvSpPr>
            <a:spLocks noGrp="1"/>
          </p:cNvSpPr>
          <p:nvPr/>
        </p:nvSpPr>
        <p:spPr>
          <a:xfrm>
            <a:off x="742950" y="174307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C0392B"/>
                </a:solidFill>
              </a:defRPr>
            </a:pPr>
            <a:r>
              <a:rPr sz="1575" b="1">
                <a:solidFill>
                  <a:srgbClr val="C0392B"/>
                </a:solidFill>
              </a:rPr>
              <a:t>Bias</a:t>
            </a:r>
          </a:p>
        </p:txBody>
      </p:sp>
      <p:sp>
        <p:nvSpPr>
          <p:cNvPr id="1048933" name="Rectangle 1048932">
            <a:extLst>
              <a:ext uri="{FF2B5EF4-FFF2-40B4-BE49-F238E27FC236}">
                <a16:creationId xmlns:a16="http://schemas.microsoft.com/office/drawing/2014/main" xmlns="" id="{B9C03414-C211-404E-87EB-8EAE77091D13}"/>
              </a:ext>
            </a:extLst>
          </p:cNvPr>
          <p:cNvSpPr>
            <a:spLocks noGrp="1"/>
          </p:cNvSpPr>
          <p:nvPr/>
        </p:nvSpPr>
        <p:spPr>
          <a:xfrm>
            <a:off x="2714625" y="1666875"/>
            <a:ext cx="8239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Do not score gender, age, photo, religion or address.</a:t>
            </a:r>
          </a:p>
        </p:txBody>
      </p:sp>
      <p:sp>
        <p:nvSpPr>
          <p:cNvPr id="1048934" name="Rounded Rectangle 1048933">
            <a:extLst>
              <a:ext uri="{FF2B5EF4-FFF2-40B4-BE49-F238E27FC236}">
                <a16:creationId xmlns:a16="http://schemas.microsoft.com/office/drawing/2014/main" xmlns="" id="{93E66992-31AF-4671-9FA8-C06CB2A49E77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1809750" cy="590550"/>
          </a:xfrm>
          <a:prstGeom prst="roundRect">
            <a:avLst>
              <a:gd name="adj" fmla="val 19355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35" name="Rectangle 1048934">
            <a:extLst>
              <a:ext uri="{FF2B5EF4-FFF2-40B4-BE49-F238E27FC236}">
                <a16:creationId xmlns:a16="http://schemas.microsoft.com/office/drawing/2014/main" xmlns="" id="{8F16CC0E-6853-4DBA-BBCE-61EEF3387C26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246BFD"/>
                </a:solidFill>
              </a:defRPr>
            </a:pPr>
            <a:r>
              <a:rPr sz="1575" b="1">
                <a:solidFill>
                  <a:srgbClr val="246BFD"/>
                </a:solidFill>
              </a:rPr>
              <a:t>Privacy</a:t>
            </a:r>
          </a:p>
        </p:txBody>
      </p:sp>
      <p:sp>
        <p:nvSpPr>
          <p:cNvPr id="1048936" name="Rectangle 1048935">
            <a:extLst>
              <a:ext uri="{FF2B5EF4-FFF2-40B4-BE49-F238E27FC236}">
                <a16:creationId xmlns:a16="http://schemas.microsoft.com/office/drawing/2014/main" xmlns="" id="{E93D635C-8CF8-482A-8A33-18FE8D482856}"/>
              </a:ext>
            </a:extLst>
          </p:cNvPr>
          <p:cNvSpPr>
            <a:spLocks noGrp="1"/>
          </p:cNvSpPr>
          <p:nvPr/>
        </p:nvSpPr>
        <p:spPr>
          <a:xfrm>
            <a:off x="2714625" y="2543175"/>
            <a:ext cx="8239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Collect only required data; encrypt files; define deletion period.</a:t>
            </a:r>
          </a:p>
        </p:txBody>
      </p:sp>
      <p:sp>
        <p:nvSpPr>
          <p:cNvPr id="1048937" name="Rounded Rectangle 1048936">
            <a:extLst>
              <a:ext uri="{FF2B5EF4-FFF2-40B4-BE49-F238E27FC236}">
                <a16:creationId xmlns:a16="http://schemas.microsoft.com/office/drawing/2014/main" xmlns="" id="{61A27441-C74C-4699-9305-2069449FED69}"/>
              </a:ext>
            </a:extLst>
          </p:cNvPr>
          <p:cNvSpPr>
            <a:spLocks noGrp="1"/>
          </p:cNvSpPr>
          <p:nvPr/>
        </p:nvSpPr>
        <p:spPr>
          <a:xfrm>
            <a:off x="609600" y="3324225"/>
            <a:ext cx="1809750" cy="590550"/>
          </a:xfrm>
          <a:prstGeom prst="roundRect">
            <a:avLst>
              <a:gd name="adj" fmla="val 19355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38" name="Rectangle 1048937">
            <a:extLst>
              <a:ext uri="{FF2B5EF4-FFF2-40B4-BE49-F238E27FC236}">
                <a16:creationId xmlns:a16="http://schemas.microsoft.com/office/drawing/2014/main" xmlns="" id="{B3BA3B36-27E7-4D4F-9974-6364C48950CE}"/>
              </a:ext>
            </a:extLst>
          </p:cNvPr>
          <p:cNvSpPr>
            <a:spLocks noGrp="1"/>
          </p:cNvSpPr>
          <p:nvPr/>
        </p:nvSpPr>
        <p:spPr>
          <a:xfrm>
            <a:off x="742950" y="349567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246BFD"/>
                </a:solidFill>
              </a:defRPr>
            </a:pPr>
            <a:r>
              <a:rPr sz="1575" b="1">
                <a:solidFill>
                  <a:srgbClr val="246BFD"/>
                </a:solidFill>
              </a:rPr>
              <a:t>Transparency</a:t>
            </a:r>
          </a:p>
        </p:txBody>
      </p:sp>
      <p:sp>
        <p:nvSpPr>
          <p:cNvPr id="1048939" name="Rectangle 1048938">
            <a:extLst>
              <a:ext uri="{FF2B5EF4-FFF2-40B4-BE49-F238E27FC236}">
                <a16:creationId xmlns:a16="http://schemas.microsoft.com/office/drawing/2014/main" xmlns="" id="{9A05E34C-B701-4220-9FEF-5C8ED45077DB}"/>
              </a:ext>
            </a:extLst>
          </p:cNvPr>
          <p:cNvSpPr>
            <a:spLocks noGrp="1"/>
          </p:cNvSpPr>
          <p:nvPr/>
        </p:nvSpPr>
        <p:spPr>
          <a:xfrm>
            <a:off x="2714625" y="3419475"/>
            <a:ext cx="8239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Show score breakdown and matching evidence.</a:t>
            </a:r>
          </a:p>
        </p:txBody>
      </p:sp>
      <p:sp>
        <p:nvSpPr>
          <p:cNvPr id="1048940" name="Rounded Rectangle 1048939">
            <a:extLst>
              <a:ext uri="{FF2B5EF4-FFF2-40B4-BE49-F238E27FC236}">
                <a16:creationId xmlns:a16="http://schemas.microsoft.com/office/drawing/2014/main" xmlns="" id="{38C9CBC8-B3F8-4B81-B2A0-24DDBDAB6262}"/>
              </a:ext>
            </a:extLst>
          </p:cNvPr>
          <p:cNvSpPr>
            <a:spLocks noGrp="1"/>
          </p:cNvSpPr>
          <p:nvPr/>
        </p:nvSpPr>
        <p:spPr>
          <a:xfrm>
            <a:off x="609600" y="4200525"/>
            <a:ext cx="1809750" cy="590550"/>
          </a:xfrm>
          <a:prstGeom prst="roundRect">
            <a:avLst>
              <a:gd name="adj" fmla="val 19355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41" name="Rectangle 1048940">
            <a:extLst>
              <a:ext uri="{FF2B5EF4-FFF2-40B4-BE49-F238E27FC236}">
                <a16:creationId xmlns:a16="http://schemas.microsoft.com/office/drawing/2014/main" xmlns="" id="{D8C23FE6-8BCD-4E62-9BAC-BD4015EEAFF0}"/>
              </a:ext>
            </a:extLst>
          </p:cNvPr>
          <p:cNvSpPr>
            <a:spLocks noGrp="1"/>
          </p:cNvSpPr>
          <p:nvPr/>
        </p:nvSpPr>
        <p:spPr>
          <a:xfrm>
            <a:off x="742950" y="437197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246BFD"/>
                </a:solidFill>
              </a:defRPr>
            </a:pPr>
            <a:r>
              <a:rPr sz="1575" b="1">
                <a:solidFill>
                  <a:srgbClr val="246BFD"/>
                </a:solidFill>
              </a:rPr>
              <a:t>Human control</a:t>
            </a:r>
          </a:p>
        </p:txBody>
      </p:sp>
      <p:sp>
        <p:nvSpPr>
          <p:cNvPr id="1048942" name="Rectangle 1048941">
            <a:extLst>
              <a:ext uri="{FF2B5EF4-FFF2-40B4-BE49-F238E27FC236}">
                <a16:creationId xmlns:a16="http://schemas.microsoft.com/office/drawing/2014/main" xmlns="" id="{0EE0C615-488B-4105-9BCC-DDEF9867EB5B}"/>
              </a:ext>
            </a:extLst>
          </p:cNvPr>
          <p:cNvSpPr>
            <a:spLocks noGrp="1"/>
          </p:cNvSpPr>
          <p:nvPr/>
        </p:nvSpPr>
        <p:spPr>
          <a:xfrm>
            <a:off x="2714625" y="4295775"/>
            <a:ext cx="8239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Recruiter reviews borderline and rejected candidates.</a:t>
            </a:r>
          </a:p>
        </p:txBody>
      </p:sp>
      <p:sp>
        <p:nvSpPr>
          <p:cNvPr id="1048943" name="Rounded Rectangle 1048942">
            <a:extLst>
              <a:ext uri="{FF2B5EF4-FFF2-40B4-BE49-F238E27FC236}">
                <a16:creationId xmlns:a16="http://schemas.microsoft.com/office/drawing/2014/main" xmlns="" id="{FAF3A9D6-1269-46BB-9A46-A08E84EB1367}"/>
              </a:ext>
            </a:extLst>
          </p:cNvPr>
          <p:cNvSpPr>
            <a:spLocks noGrp="1"/>
          </p:cNvSpPr>
          <p:nvPr/>
        </p:nvSpPr>
        <p:spPr>
          <a:xfrm>
            <a:off x="609600" y="5076825"/>
            <a:ext cx="1809750" cy="590550"/>
          </a:xfrm>
          <a:prstGeom prst="roundRect">
            <a:avLst>
              <a:gd name="adj" fmla="val 19355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44" name="Rectangle 1048943">
            <a:extLst>
              <a:ext uri="{FF2B5EF4-FFF2-40B4-BE49-F238E27FC236}">
                <a16:creationId xmlns:a16="http://schemas.microsoft.com/office/drawing/2014/main" xmlns="" id="{A63E0DA0-9F15-4B42-BBAB-591B2FB6EAE7}"/>
              </a:ext>
            </a:extLst>
          </p:cNvPr>
          <p:cNvSpPr>
            <a:spLocks noGrp="1"/>
          </p:cNvSpPr>
          <p:nvPr/>
        </p:nvSpPr>
        <p:spPr>
          <a:xfrm>
            <a:off x="742950" y="524827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246BFD"/>
                </a:solidFill>
              </a:defRPr>
            </a:pPr>
            <a:r>
              <a:rPr sz="1575" b="1">
                <a:solidFill>
                  <a:srgbClr val="246BFD"/>
                </a:solidFill>
              </a:rPr>
              <a:t>Auditability</a:t>
            </a:r>
          </a:p>
        </p:txBody>
      </p:sp>
      <p:sp>
        <p:nvSpPr>
          <p:cNvPr id="1048945" name="Rectangle 1048944">
            <a:extLst>
              <a:ext uri="{FF2B5EF4-FFF2-40B4-BE49-F238E27FC236}">
                <a16:creationId xmlns:a16="http://schemas.microsoft.com/office/drawing/2014/main" xmlns="" id="{5C41ADBB-1471-4D61-AC9D-ABF92C519DBB}"/>
              </a:ext>
            </a:extLst>
          </p:cNvPr>
          <p:cNvSpPr>
            <a:spLocks noGrp="1"/>
          </p:cNvSpPr>
          <p:nvPr/>
        </p:nvSpPr>
        <p:spPr>
          <a:xfrm>
            <a:off x="2714625" y="5172075"/>
            <a:ext cx="8239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Store model version, weights and reviewer action.</a:t>
            </a:r>
          </a:p>
        </p:txBody>
      </p:sp>
      <p:sp>
        <p:nvSpPr>
          <p:cNvPr id="1048946" name="Rectangle 1048945">
            <a:extLst>
              <a:ext uri="{FF2B5EF4-FFF2-40B4-BE49-F238E27FC236}">
                <a16:creationId xmlns:a16="http://schemas.microsoft.com/office/drawing/2014/main" xmlns="" id="{56FF9617-F1D4-4916-A43D-0D31A28F8AAD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12</a:t>
            </a:r>
          </a:p>
        </p:txBody>
      </p:sp>
      <p:pic>
        <p:nvPicPr>
          <p:cNvPr id="23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331609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0" name="Rounded Rectangle 1048949">
            <a:extLst>
              <a:ext uri="{FF2B5EF4-FFF2-40B4-BE49-F238E27FC236}">
                <a16:creationId xmlns:a16="http://schemas.microsoft.com/office/drawing/2014/main" xmlns="" id="{2AA5745B-F37F-4DD0-86AD-8448CC2B21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952" name="Rectangle 1048951">
            <a:extLst>
              <a:ext uri="{FF2B5EF4-FFF2-40B4-BE49-F238E27FC236}">
                <a16:creationId xmlns:a16="http://schemas.microsoft.com/office/drawing/2014/main" xmlns="" id="{049251F3-F608-4618-B115-5A7F23CDED04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8953" name="Rectangle 1048952">
            <a:extLst>
              <a:ext uri="{FF2B5EF4-FFF2-40B4-BE49-F238E27FC236}">
                <a16:creationId xmlns:a16="http://schemas.microsoft.com/office/drawing/2014/main" xmlns="" id="{B75F9839-AAAA-473F-8A36-D270D82728C2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Facts show why responsible AI hiring matters</a:t>
            </a:r>
          </a:p>
        </p:txBody>
      </p:sp>
      <p:sp>
        <p:nvSpPr>
          <p:cNvPr id="1048954" name="Rectangle 1048953">
            <a:extLst>
              <a:ext uri="{FF2B5EF4-FFF2-40B4-BE49-F238E27FC236}">
                <a16:creationId xmlns:a16="http://schemas.microsoft.com/office/drawing/2014/main" xmlns="" id="{7735B1EE-EA50-46DF-A0AA-B324ED9FEA0E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955" name="Rounded Rectangle 1048954">
            <a:extLst>
              <a:ext uri="{FF2B5EF4-FFF2-40B4-BE49-F238E27FC236}">
                <a16:creationId xmlns:a16="http://schemas.microsoft.com/office/drawing/2014/main" xmlns="" id="{C8FB26BD-1D64-4247-A730-BD3A316B4C9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5095875" cy="1809750"/>
          </a:xfrm>
          <a:prstGeom prst="roundRect">
            <a:avLst>
              <a:gd name="adj" fmla="val 6316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56" name="Rectangle 1048955">
            <a:extLst>
              <a:ext uri="{FF2B5EF4-FFF2-40B4-BE49-F238E27FC236}">
                <a16:creationId xmlns:a16="http://schemas.microsoft.com/office/drawing/2014/main" xmlns="" id="{90081F91-9AE0-4E18-8FDD-121038C1807B}"/>
              </a:ext>
            </a:extLst>
          </p:cNvPr>
          <p:cNvSpPr>
            <a:spLocks noGrp="1"/>
          </p:cNvSpPr>
          <p:nvPr/>
        </p:nvSpPr>
        <p:spPr>
          <a:xfrm>
            <a:off x="847725" y="1828800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246BFD"/>
                </a:solidFill>
              </a:defRPr>
            </a:pPr>
            <a:r>
              <a:rPr sz="2550" b="1">
                <a:solidFill>
                  <a:srgbClr val="246BFD"/>
                </a:solidFill>
              </a:rPr>
              <a:t>86%</a:t>
            </a:r>
          </a:p>
        </p:txBody>
      </p:sp>
      <p:sp>
        <p:nvSpPr>
          <p:cNvPr id="1048957" name="Rectangle 1048956">
            <a:extLst>
              <a:ext uri="{FF2B5EF4-FFF2-40B4-BE49-F238E27FC236}">
                <a16:creationId xmlns:a16="http://schemas.microsoft.com/office/drawing/2014/main" xmlns="" id="{BA7FEABB-EF71-4F84-8565-850C8D69F86B}"/>
              </a:ext>
            </a:extLst>
          </p:cNvPr>
          <p:cNvSpPr>
            <a:spLocks noGrp="1"/>
          </p:cNvSpPr>
          <p:nvPr/>
        </p:nvSpPr>
        <p:spPr>
          <a:xfrm>
            <a:off x="2419350" y="1809750"/>
            <a:ext cx="3000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of surveyed employers expect AI and information processing to transform their business by 2030.</a:t>
            </a:r>
          </a:p>
        </p:txBody>
      </p:sp>
      <p:sp>
        <p:nvSpPr>
          <p:cNvPr id="1048958" name="Rectangle 1048957">
            <a:extLst>
              <a:ext uri="{FF2B5EF4-FFF2-40B4-BE49-F238E27FC236}">
                <a16:creationId xmlns:a16="http://schemas.microsoft.com/office/drawing/2014/main" xmlns="" id="{87C1FCB4-B6BF-402F-87D4-3101360B1DAB}"/>
              </a:ext>
            </a:extLst>
          </p:cNvPr>
          <p:cNvSpPr>
            <a:spLocks noGrp="1"/>
          </p:cNvSpPr>
          <p:nvPr/>
        </p:nvSpPr>
        <p:spPr>
          <a:xfrm>
            <a:off x="847725" y="29718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World Economic Forum, Future of Jobs Report 2025</a:t>
            </a:r>
          </a:p>
        </p:txBody>
      </p:sp>
      <p:sp>
        <p:nvSpPr>
          <p:cNvPr id="1048959" name="Rounded Rectangle 1048958">
            <a:extLst>
              <a:ext uri="{FF2B5EF4-FFF2-40B4-BE49-F238E27FC236}">
                <a16:creationId xmlns:a16="http://schemas.microsoft.com/office/drawing/2014/main" xmlns="" id="{1BE9239A-CC76-49EB-8110-90BCCE85C5FA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5095875" cy="1809750"/>
          </a:xfrm>
          <a:prstGeom prst="roundRect">
            <a:avLst>
              <a:gd name="adj" fmla="val 6316"/>
            </a:avLst>
          </a:prstGeom>
          <a:solidFill>
            <a:srgbClr val="EEF9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60" name="Rectangle 1048959">
            <a:extLst>
              <a:ext uri="{FF2B5EF4-FFF2-40B4-BE49-F238E27FC236}">
                <a16:creationId xmlns:a16="http://schemas.microsoft.com/office/drawing/2014/main" xmlns="" id="{697E3AAE-E37B-425A-91E4-0B0D1E27F0C4}"/>
              </a:ext>
            </a:extLst>
          </p:cNvPr>
          <p:cNvSpPr>
            <a:spLocks noGrp="1"/>
          </p:cNvSpPr>
          <p:nvPr/>
        </p:nvSpPr>
        <p:spPr>
          <a:xfrm>
            <a:off x="6429375" y="1828800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246BFD"/>
                </a:solidFill>
              </a:defRPr>
            </a:pPr>
            <a:r>
              <a:rPr sz="2550" b="1">
                <a:solidFill>
                  <a:srgbClr val="246BFD"/>
                </a:solidFill>
              </a:rPr>
              <a:t>77%</a:t>
            </a:r>
          </a:p>
        </p:txBody>
      </p:sp>
      <p:sp>
        <p:nvSpPr>
          <p:cNvPr id="1048961" name="Rectangle 1048960">
            <a:extLst>
              <a:ext uri="{FF2B5EF4-FFF2-40B4-BE49-F238E27FC236}">
                <a16:creationId xmlns:a16="http://schemas.microsoft.com/office/drawing/2014/main" xmlns="" id="{87711E49-28E9-4DD8-B980-C130002A2191}"/>
              </a:ext>
            </a:extLst>
          </p:cNvPr>
          <p:cNvSpPr>
            <a:spLocks noGrp="1"/>
          </p:cNvSpPr>
          <p:nvPr/>
        </p:nvSpPr>
        <p:spPr>
          <a:xfrm>
            <a:off x="8001000" y="1809750"/>
            <a:ext cx="3000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plan to reskill or upskill workers in response to AI-driven change.</a:t>
            </a:r>
          </a:p>
        </p:txBody>
      </p:sp>
      <p:sp>
        <p:nvSpPr>
          <p:cNvPr id="1048962" name="Rectangle 1048961">
            <a:extLst>
              <a:ext uri="{FF2B5EF4-FFF2-40B4-BE49-F238E27FC236}">
                <a16:creationId xmlns:a16="http://schemas.microsoft.com/office/drawing/2014/main" xmlns="" id="{12490B05-9BD0-486F-A5AF-FDDCC923EF6D}"/>
              </a:ext>
            </a:extLst>
          </p:cNvPr>
          <p:cNvSpPr>
            <a:spLocks noGrp="1"/>
          </p:cNvSpPr>
          <p:nvPr/>
        </p:nvSpPr>
        <p:spPr>
          <a:xfrm>
            <a:off x="6429375" y="29718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World Economic Forum, Future of Jobs Report 2025</a:t>
            </a:r>
          </a:p>
        </p:txBody>
      </p:sp>
      <p:sp>
        <p:nvSpPr>
          <p:cNvPr id="1048963" name="Rounded Rectangle 1048962">
            <a:extLst>
              <a:ext uri="{FF2B5EF4-FFF2-40B4-BE49-F238E27FC236}">
                <a16:creationId xmlns:a16="http://schemas.microsoft.com/office/drawing/2014/main" xmlns="" id="{FABBB397-B104-467A-8F78-7D595148716E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5095875" cy="1809750"/>
          </a:xfrm>
          <a:prstGeom prst="roundRect">
            <a:avLst>
              <a:gd name="adj" fmla="val 6316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64" name="Rectangle 1048963">
            <a:extLst>
              <a:ext uri="{FF2B5EF4-FFF2-40B4-BE49-F238E27FC236}">
                <a16:creationId xmlns:a16="http://schemas.microsoft.com/office/drawing/2014/main" xmlns="" id="{C9577A16-6BA2-432C-8BEA-1C33F876A9B4}"/>
              </a:ext>
            </a:extLst>
          </p:cNvPr>
          <p:cNvSpPr>
            <a:spLocks noGrp="1"/>
          </p:cNvSpPr>
          <p:nvPr/>
        </p:nvSpPr>
        <p:spPr>
          <a:xfrm>
            <a:off x="847725" y="3971925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246BFD"/>
                </a:solidFill>
              </a:defRPr>
            </a:pPr>
            <a:r>
              <a:rPr sz="2550" b="1">
                <a:solidFill>
                  <a:srgbClr val="246BFD"/>
                </a:solidFill>
              </a:rPr>
              <a:t>Bias audit</a:t>
            </a:r>
          </a:p>
        </p:txBody>
      </p:sp>
      <p:sp>
        <p:nvSpPr>
          <p:cNvPr id="1048965" name="Rectangle 1048964">
            <a:extLst>
              <a:ext uri="{FF2B5EF4-FFF2-40B4-BE49-F238E27FC236}">
                <a16:creationId xmlns:a16="http://schemas.microsoft.com/office/drawing/2014/main" xmlns="" id="{68F278BE-3574-471B-853F-E6F12B087739}"/>
              </a:ext>
            </a:extLst>
          </p:cNvPr>
          <p:cNvSpPr>
            <a:spLocks noGrp="1"/>
          </p:cNvSpPr>
          <p:nvPr/>
        </p:nvSpPr>
        <p:spPr>
          <a:xfrm>
            <a:off x="2419350" y="3952875"/>
            <a:ext cx="3000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New York City requires certain automated employment decision tools to receive a recent independent bias audit and candidate notice.</a:t>
            </a:r>
          </a:p>
        </p:txBody>
      </p:sp>
      <p:sp>
        <p:nvSpPr>
          <p:cNvPr id="1048966" name="Rectangle 1048965">
            <a:extLst>
              <a:ext uri="{FF2B5EF4-FFF2-40B4-BE49-F238E27FC236}">
                <a16:creationId xmlns:a16="http://schemas.microsoft.com/office/drawing/2014/main" xmlns="" id="{DE73E512-E99D-4963-8B2C-8CCB4D512341}"/>
              </a:ext>
            </a:extLst>
          </p:cNvPr>
          <p:cNvSpPr>
            <a:spLocks noGrp="1"/>
          </p:cNvSpPr>
          <p:nvPr/>
        </p:nvSpPr>
        <p:spPr>
          <a:xfrm>
            <a:off x="847725" y="5114925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NYC DCWP, Local Law 144</a:t>
            </a:r>
          </a:p>
        </p:txBody>
      </p:sp>
      <p:sp>
        <p:nvSpPr>
          <p:cNvPr id="1048967" name="Rounded Rectangle 1048966">
            <a:extLst>
              <a:ext uri="{FF2B5EF4-FFF2-40B4-BE49-F238E27FC236}">
                <a16:creationId xmlns:a16="http://schemas.microsoft.com/office/drawing/2014/main" xmlns="" id="{7FFF3D25-AE47-4D82-956E-31D10A961304}"/>
              </a:ext>
            </a:extLst>
          </p:cNvPr>
          <p:cNvSpPr>
            <a:spLocks noGrp="1"/>
          </p:cNvSpPr>
          <p:nvPr/>
        </p:nvSpPr>
        <p:spPr>
          <a:xfrm>
            <a:off x="6191250" y="3762375"/>
            <a:ext cx="5095875" cy="1809750"/>
          </a:xfrm>
          <a:prstGeom prst="roundRect">
            <a:avLst>
              <a:gd name="adj" fmla="val 6316"/>
            </a:avLst>
          </a:prstGeom>
          <a:solidFill>
            <a:srgbClr val="EEF9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68" name="Rectangle 1048967">
            <a:extLst>
              <a:ext uri="{FF2B5EF4-FFF2-40B4-BE49-F238E27FC236}">
                <a16:creationId xmlns:a16="http://schemas.microsoft.com/office/drawing/2014/main" xmlns="" id="{A09C2411-27D9-4CC9-8E51-CA112D1695D4}"/>
              </a:ext>
            </a:extLst>
          </p:cNvPr>
          <p:cNvSpPr>
            <a:spLocks noGrp="1"/>
          </p:cNvSpPr>
          <p:nvPr/>
        </p:nvSpPr>
        <p:spPr>
          <a:xfrm>
            <a:off x="6429375" y="3971925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246BFD"/>
                </a:solidFill>
              </a:defRPr>
            </a:pPr>
            <a:r>
              <a:rPr sz="2550" b="1">
                <a:solidFill>
                  <a:srgbClr val="246BFD"/>
                </a:solidFill>
              </a:rPr>
              <a:t>High-risk</a:t>
            </a:r>
          </a:p>
        </p:txBody>
      </p:sp>
      <p:sp>
        <p:nvSpPr>
          <p:cNvPr id="1048969" name="Rectangle 1048968">
            <a:extLst>
              <a:ext uri="{FF2B5EF4-FFF2-40B4-BE49-F238E27FC236}">
                <a16:creationId xmlns:a16="http://schemas.microsoft.com/office/drawing/2014/main" xmlns="" id="{F7D17252-8F9B-4122-9211-EA82211B51B9}"/>
              </a:ext>
            </a:extLst>
          </p:cNvPr>
          <p:cNvSpPr>
            <a:spLocks noGrp="1"/>
          </p:cNvSpPr>
          <p:nvPr/>
        </p:nvSpPr>
        <p:spPr>
          <a:xfrm>
            <a:off x="8001000" y="3952875"/>
            <a:ext cx="3000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The EU AI Act treats AI used to analyse and filter job applications as a high-risk employment use case.</a:t>
            </a:r>
          </a:p>
        </p:txBody>
      </p:sp>
      <p:sp>
        <p:nvSpPr>
          <p:cNvPr id="1048970" name="Rectangle 1048969">
            <a:extLst>
              <a:ext uri="{FF2B5EF4-FFF2-40B4-BE49-F238E27FC236}">
                <a16:creationId xmlns:a16="http://schemas.microsoft.com/office/drawing/2014/main" xmlns="" id="{3992CBAE-3649-4A49-905D-9C2AA69B4B9E}"/>
              </a:ext>
            </a:extLst>
          </p:cNvPr>
          <p:cNvSpPr>
            <a:spLocks noGrp="1"/>
          </p:cNvSpPr>
          <p:nvPr/>
        </p:nvSpPr>
        <p:spPr>
          <a:xfrm>
            <a:off x="6429375" y="5114925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European Commission, AI Act guidance</a:t>
            </a:r>
          </a:p>
        </p:txBody>
      </p:sp>
      <p:sp>
        <p:nvSpPr>
          <p:cNvPr id="1048971" name="Rectangle 1048970">
            <a:extLst>
              <a:ext uri="{FF2B5EF4-FFF2-40B4-BE49-F238E27FC236}">
                <a16:creationId xmlns:a16="http://schemas.microsoft.com/office/drawing/2014/main" xmlns="" id="{DAEB2575-7E5D-46B5-8FE7-369792A97967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668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Sources: weforum.org/publications/the-future-of-jobs-report-2025 • nyc.gov/site/dca/about/automated-employment-decision-tools • digital-strategy.ec.europa.eu</a:t>
            </a:r>
          </a:p>
        </p:txBody>
      </p:sp>
      <p:sp>
        <p:nvSpPr>
          <p:cNvPr id="1048972" name="Rectangle 1048971">
            <a:extLst>
              <a:ext uri="{FF2B5EF4-FFF2-40B4-BE49-F238E27FC236}">
                <a16:creationId xmlns:a16="http://schemas.microsoft.com/office/drawing/2014/main" xmlns="" id="{73F88BDC-F303-4A3E-B823-FDB93FBACB7C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13</a:t>
            </a:r>
          </a:p>
        </p:txBody>
      </p:sp>
      <p:pic>
        <p:nvPicPr>
          <p:cNvPr id="25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66358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6" name="Rounded Rectangle 1048975">
            <a:extLst>
              <a:ext uri="{FF2B5EF4-FFF2-40B4-BE49-F238E27FC236}">
                <a16:creationId xmlns:a16="http://schemas.microsoft.com/office/drawing/2014/main" xmlns="" id="{FE14E125-83EB-404E-A589-26F3C4DAD6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8978" name="Rectangle 1048977">
            <a:extLst>
              <a:ext uri="{FF2B5EF4-FFF2-40B4-BE49-F238E27FC236}">
                <a16:creationId xmlns:a16="http://schemas.microsoft.com/office/drawing/2014/main" xmlns="" id="{6EBB89C0-53B0-411B-906C-5FDE392687BF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8979" name="Rectangle 1048978">
            <a:extLst>
              <a:ext uri="{FF2B5EF4-FFF2-40B4-BE49-F238E27FC236}">
                <a16:creationId xmlns:a16="http://schemas.microsoft.com/office/drawing/2014/main" xmlns="" id="{54EE3E2A-98F0-4A66-9997-F2BAEB5D87AC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Testing proves the system is useful, stable and fair</a:t>
            </a:r>
          </a:p>
        </p:txBody>
      </p:sp>
      <p:sp>
        <p:nvSpPr>
          <p:cNvPr id="1048980" name="Rectangle 1048979">
            <a:extLst>
              <a:ext uri="{FF2B5EF4-FFF2-40B4-BE49-F238E27FC236}">
                <a16:creationId xmlns:a16="http://schemas.microsoft.com/office/drawing/2014/main" xmlns="" id="{DA9F095B-5EA0-4D1A-BB91-ACA611B44AC9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8981" name="Rounded Rectangle 1048980">
            <a:extLst>
              <a:ext uri="{FF2B5EF4-FFF2-40B4-BE49-F238E27FC236}">
                <a16:creationId xmlns:a16="http://schemas.microsoft.com/office/drawing/2014/main" xmlns="" id="{2C1642B7-CAC1-44AE-ACE1-5C247055B348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3333750" cy="1666875"/>
          </a:xfrm>
          <a:prstGeom prst="roundRect">
            <a:avLst>
              <a:gd name="adj" fmla="val 6857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82" name="Rectangle 1048981">
            <a:extLst>
              <a:ext uri="{FF2B5EF4-FFF2-40B4-BE49-F238E27FC236}">
                <a16:creationId xmlns:a16="http://schemas.microsoft.com/office/drawing/2014/main" xmlns="" id="{82748668-791E-41F4-ADA5-B5E86E23A4FC}"/>
              </a:ext>
            </a:extLst>
          </p:cNvPr>
          <p:cNvSpPr>
            <a:spLocks noGrp="1"/>
          </p:cNvSpPr>
          <p:nvPr/>
        </p:nvSpPr>
        <p:spPr>
          <a:xfrm>
            <a:off x="819150" y="1876425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Functional</a:t>
            </a:r>
          </a:p>
        </p:txBody>
      </p:sp>
      <p:sp>
        <p:nvSpPr>
          <p:cNvPr id="1048983" name="Rectangle 1048982">
            <a:extLst>
              <a:ext uri="{FF2B5EF4-FFF2-40B4-BE49-F238E27FC236}">
                <a16:creationId xmlns:a16="http://schemas.microsoft.com/office/drawing/2014/main" xmlns="" id="{0B730DEB-682D-493E-9502-796A77829A74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2914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Upload, extraction, matching and report work correctly</a:t>
            </a:r>
          </a:p>
        </p:txBody>
      </p:sp>
      <p:sp>
        <p:nvSpPr>
          <p:cNvPr id="1048984" name="Rounded Rectangle 1048983">
            <a:extLst>
              <a:ext uri="{FF2B5EF4-FFF2-40B4-BE49-F238E27FC236}">
                <a16:creationId xmlns:a16="http://schemas.microsoft.com/office/drawing/2014/main" xmlns="" id="{601F2C75-E000-46ED-B5D4-7FFF13666810}"/>
              </a:ext>
            </a:extLst>
          </p:cNvPr>
          <p:cNvSpPr>
            <a:spLocks noGrp="1"/>
          </p:cNvSpPr>
          <p:nvPr/>
        </p:nvSpPr>
        <p:spPr>
          <a:xfrm>
            <a:off x="4324350" y="1666875"/>
            <a:ext cx="3333750" cy="1666875"/>
          </a:xfrm>
          <a:prstGeom prst="roundRect">
            <a:avLst>
              <a:gd name="adj" fmla="val 6857"/>
            </a:avLst>
          </a:prstGeom>
          <a:solidFill>
            <a:srgbClr val="F2F4F7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85" name="Rectangle 1048984">
            <a:extLst>
              <a:ext uri="{FF2B5EF4-FFF2-40B4-BE49-F238E27FC236}">
                <a16:creationId xmlns:a16="http://schemas.microsoft.com/office/drawing/2014/main" xmlns="" id="{788B2DF0-3C89-483E-94FE-5BB757B21B88}"/>
              </a:ext>
            </a:extLst>
          </p:cNvPr>
          <p:cNvSpPr>
            <a:spLocks noGrp="1"/>
          </p:cNvSpPr>
          <p:nvPr/>
        </p:nvSpPr>
        <p:spPr>
          <a:xfrm>
            <a:off x="4533900" y="1876425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Accuracy</a:t>
            </a:r>
          </a:p>
        </p:txBody>
      </p:sp>
      <p:sp>
        <p:nvSpPr>
          <p:cNvPr id="1048986" name="Rectangle 1048985">
            <a:extLst>
              <a:ext uri="{FF2B5EF4-FFF2-40B4-BE49-F238E27FC236}">
                <a16:creationId xmlns:a16="http://schemas.microsoft.com/office/drawing/2014/main" xmlns="" id="{B93AB042-2EA9-4FA3-BB06-C2F4042F3AA3}"/>
              </a:ext>
            </a:extLst>
          </p:cNvPr>
          <p:cNvSpPr>
            <a:spLocks noGrp="1"/>
          </p:cNvSpPr>
          <p:nvPr/>
        </p:nvSpPr>
        <p:spPr>
          <a:xfrm>
            <a:off x="4533900" y="2286000"/>
            <a:ext cx="2914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Compare system ranking with expert-reviewed sample resumes</a:t>
            </a:r>
          </a:p>
        </p:txBody>
      </p:sp>
      <p:sp>
        <p:nvSpPr>
          <p:cNvPr id="1048987" name="Rounded Rectangle 1048986">
            <a:extLst>
              <a:ext uri="{FF2B5EF4-FFF2-40B4-BE49-F238E27FC236}">
                <a16:creationId xmlns:a16="http://schemas.microsoft.com/office/drawing/2014/main" xmlns="" id="{8F5F3486-FA2C-41CD-8AC6-68DDFA56D9A4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3333750" cy="1666875"/>
          </a:xfrm>
          <a:prstGeom prst="roundRect">
            <a:avLst>
              <a:gd name="adj" fmla="val 6857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88" name="Rectangle 1048987">
            <a:extLst>
              <a:ext uri="{FF2B5EF4-FFF2-40B4-BE49-F238E27FC236}">
                <a16:creationId xmlns:a16="http://schemas.microsoft.com/office/drawing/2014/main" xmlns="" id="{2DFEAF71-C4D5-48E8-9FA9-3CC554C34D8F}"/>
              </a:ext>
            </a:extLst>
          </p:cNvPr>
          <p:cNvSpPr>
            <a:spLocks noGrp="1"/>
          </p:cNvSpPr>
          <p:nvPr/>
        </p:nvSpPr>
        <p:spPr>
          <a:xfrm>
            <a:off x="8248650" y="1876425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Performance</a:t>
            </a:r>
          </a:p>
        </p:txBody>
      </p:sp>
      <p:sp>
        <p:nvSpPr>
          <p:cNvPr id="1048989" name="Rectangle 1048988">
            <a:extLst>
              <a:ext uri="{FF2B5EF4-FFF2-40B4-BE49-F238E27FC236}">
                <a16:creationId xmlns:a16="http://schemas.microsoft.com/office/drawing/2014/main" xmlns="" id="{CE7497F1-339F-4260-AEC0-4A28FC287C03}"/>
              </a:ext>
            </a:extLst>
          </p:cNvPr>
          <p:cNvSpPr>
            <a:spLocks noGrp="1"/>
          </p:cNvSpPr>
          <p:nvPr/>
        </p:nvSpPr>
        <p:spPr>
          <a:xfrm>
            <a:off x="8248650" y="2286000"/>
            <a:ext cx="2914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Measure processing time for 10, 50 and 100 resumes</a:t>
            </a:r>
          </a:p>
        </p:txBody>
      </p:sp>
      <p:sp>
        <p:nvSpPr>
          <p:cNvPr id="1048990" name="Rounded Rectangle 1048989">
            <a:extLst>
              <a:ext uri="{FF2B5EF4-FFF2-40B4-BE49-F238E27FC236}">
                <a16:creationId xmlns:a16="http://schemas.microsoft.com/office/drawing/2014/main" xmlns="" id="{6C02F8D9-E108-46CC-8463-13A7C05C8DAC}"/>
              </a:ext>
            </a:extLst>
          </p:cNvPr>
          <p:cNvSpPr>
            <a:spLocks noGrp="1"/>
          </p:cNvSpPr>
          <p:nvPr/>
        </p:nvSpPr>
        <p:spPr>
          <a:xfrm>
            <a:off x="2476500" y="3857625"/>
            <a:ext cx="3714750" cy="1666875"/>
          </a:xfrm>
          <a:prstGeom prst="roundRect">
            <a:avLst>
              <a:gd name="adj" fmla="val 6857"/>
            </a:avLst>
          </a:prstGeom>
          <a:solidFill>
            <a:srgbClr val="F2F4F7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91" name="Rectangle 1048990">
            <a:extLst>
              <a:ext uri="{FF2B5EF4-FFF2-40B4-BE49-F238E27FC236}">
                <a16:creationId xmlns:a16="http://schemas.microsoft.com/office/drawing/2014/main" xmlns="" id="{5C174D69-228C-41DE-8ACE-A8C4E8C6FDEB}"/>
              </a:ext>
            </a:extLst>
          </p:cNvPr>
          <p:cNvSpPr>
            <a:spLocks noGrp="1"/>
          </p:cNvSpPr>
          <p:nvPr/>
        </p:nvSpPr>
        <p:spPr>
          <a:xfrm>
            <a:off x="2686050" y="4067175"/>
            <a:ext cx="3295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Security</a:t>
            </a:r>
          </a:p>
        </p:txBody>
      </p:sp>
      <p:sp>
        <p:nvSpPr>
          <p:cNvPr id="1048992" name="Rectangle 1048991">
            <a:extLst>
              <a:ext uri="{FF2B5EF4-FFF2-40B4-BE49-F238E27FC236}">
                <a16:creationId xmlns:a16="http://schemas.microsoft.com/office/drawing/2014/main" xmlns="" id="{B3B0AA7C-256C-4BB8-84CC-08D230226189}"/>
              </a:ext>
            </a:extLst>
          </p:cNvPr>
          <p:cNvSpPr>
            <a:spLocks noGrp="1"/>
          </p:cNvSpPr>
          <p:nvPr/>
        </p:nvSpPr>
        <p:spPr>
          <a:xfrm>
            <a:off x="2686050" y="4476750"/>
            <a:ext cx="3295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Reject unsupported files; protect stored data</a:t>
            </a:r>
          </a:p>
        </p:txBody>
      </p:sp>
      <p:sp>
        <p:nvSpPr>
          <p:cNvPr id="1048993" name="Rounded Rectangle 1048992">
            <a:extLst>
              <a:ext uri="{FF2B5EF4-FFF2-40B4-BE49-F238E27FC236}">
                <a16:creationId xmlns:a16="http://schemas.microsoft.com/office/drawing/2014/main" xmlns="" id="{CCABE2FC-26C9-41D3-BB4E-69228640F961}"/>
              </a:ext>
            </a:extLst>
          </p:cNvPr>
          <p:cNvSpPr>
            <a:spLocks noGrp="1"/>
          </p:cNvSpPr>
          <p:nvPr/>
        </p:nvSpPr>
        <p:spPr>
          <a:xfrm>
            <a:off x="6572250" y="3857625"/>
            <a:ext cx="3714750" cy="1666875"/>
          </a:xfrm>
          <a:prstGeom prst="roundRect">
            <a:avLst>
              <a:gd name="adj" fmla="val 6857"/>
            </a:avLst>
          </a:prstGeom>
          <a:solidFill>
            <a:srgbClr val="EAF2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048994" name="Rectangle 1048993">
            <a:extLst>
              <a:ext uri="{FF2B5EF4-FFF2-40B4-BE49-F238E27FC236}">
                <a16:creationId xmlns:a16="http://schemas.microsoft.com/office/drawing/2014/main" xmlns="" id="{600288BF-18E0-461B-B6F8-E6A463F63BB2}"/>
              </a:ext>
            </a:extLst>
          </p:cNvPr>
          <p:cNvSpPr>
            <a:spLocks noGrp="1"/>
          </p:cNvSpPr>
          <p:nvPr/>
        </p:nvSpPr>
        <p:spPr>
          <a:xfrm>
            <a:off x="6781800" y="4067175"/>
            <a:ext cx="3295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Fairness</a:t>
            </a:r>
          </a:p>
        </p:txBody>
      </p:sp>
      <p:sp>
        <p:nvSpPr>
          <p:cNvPr id="1048995" name="Rectangle 1048994">
            <a:extLst>
              <a:ext uri="{FF2B5EF4-FFF2-40B4-BE49-F238E27FC236}">
                <a16:creationId xmlns:a16="http://schemas.microsoft.com/office/drawing/2014/main" xmlns="" id="{4064B8AB-3159-40E6-9D1C-83FFE292D1F8}"/>
              </a:ext>
            </a:extLst>
          </p:cNvPr>
          <p:cNvSpPr>
            <a:spLocks noGrp="1"/>
          </p:cNvSpPr>
          <p:nvPr/>
        </p:nvSpPr>
        <p:spPr>
          <a:xfrm>
            <a:off x="6781800" y="4476750"/>
            <a:ext cx="3295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Check whether removing personal fields changes ranking</a:t>
            </a:r>
          </a:p>
        </p:txBody>
      </p:sp>
      <p:sp>
        <p:nvSpPr>
          <p:cNvPr id="1048996" name="Rectangle 1048995">
            <a:extLst>
              <a:ext uri="{FF2B5EF4-FFF2-40B4-BE49-F238E27FC236}">
                <a16:creationId xmlns:a16="http://schemas.microsoft.com/office/drawing/2014/main" xmlns="" id="{B6CFC66E-5F81-4847-989F-6E892D7E402F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13</a:t>
            </a:r>
          </a:p>
        </p:txBody>
      </p:sp>
      <p:pic>
        <p:nvPicPr>
          <p:cNvPr id="23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432635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Rounded Rectangle 1048999">
            <a:extLst>
              <a:ext uri="{FF2B5EF4-FFF2-40B4-BE49-F238E27FC236}">
                <a16:creationId xmlns:a16="http://schemas.microsoft.com/office/drawing/2014/main" xmlns="" id="{BC04E6DC-3E26-4328-9C54-67DFA92AB6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9002" name="Rectangle 1049001">
            <a:extLst>
              <a:ext uri="{FF2B5EF4-FFF2-40B4-BE49-F238E27FC236}">
                <a16:creationId xmlns:a16="http://schemas.microsoft.com/office/drawing/2014/main" xmlns="" id="{F370D8B2-AF44-49AD-BE53-E3778FA3104E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9003" name="Rectangle 1049002">
            <a:extLst>
              <a:ext uri="{FF2B5EF4-FFF2-40B4-BE49-F238E27FC236}">
                <a16:creationId xmlns:a16="http://schemas.microsoft.com/office/drawing/2014/main" xmlns="" id="{1E7EDEA2-B762-4E95-A4BC-E89597042808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Expected results and future improvements</a:t>
            </a:r>
          </a:p>
        </p:txBody>
      </p:sp>
      <p:sp>
        <p:nvSpPr>
          <p:cNvPr id="1049004" name="Rectangle 1049003">
            <a:extLst>
              <a:ext uri="{FF2B5EF4-FFF2-40B4-BE49-F238E27FC236}">
                <a16:creationId xmlns:a16="http://schemas.microsoft.com/office/drawing/2014/main" xmlns="" id="{23598B25-2479-4A6F-A012-C2D5E0E40D7D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sp>
        <p:nvSpPr>
          <p:cNvPr id="1049005" name="Rectangle 1049004">
            <a:extLst>
              <a:ext uri="{FF2B5EF4-FFF2-40B4-BE49-F238E27FC236}">
                <a16:creationId xmlns:a16="http://schemas.microsoft.com/office/drawing/2014/main" xmlns="" id="{A585B7E9-0269-4A28-8DB8-7F8D67F896E1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572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Expected project results</a:t>
            </a:r>
          </a:p>
        </p:txBody>
      </p:sp>
      <p:sp>
        <p:nvSpPr>
          <p:cNvPr id="1049006" name="Oval 1049005">
            <a:extLst>
              <a:ext uri="{FF2B5EF4-FFF2-40B4-BE49-F238E27FC236}">
                <a16:creationId xmlns:a16="http://schemas.microsoft.com/office/drawing/2014/main" xmlns="" id="{76E6DB36-7D8D-4A7B-8AE6-19081B5D0143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9007" name="Rectangle 1049006">
            <a:extLst>
              <a:ext uri="{FF2B5EF4-FFF2-40B4-BE49-F238E27FC236}">
                <a16:creationId xmlns:a16="http://schemas.microsoft.com/office/drawing/2014/main" xmlns="" id="{69479F71-1196-42B4-85F5-02546B453539}"/>
              </a:ext>
            </a:extLst>
          </p:cNvPr>
          <p:cNvSpPr>
            <a:spLocks noGrp="1"/>
          </p:cNvSpPr>
          <p:nvPr/>
        </p:nvSpPr>
        <p:spPr>
          <a:xfrm>
            <a:off x="866775" y="2143125"/>
            <a:ext cx="4505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Faster first-stage screening</a:t>
            </a:r>
          </a:p>
        </p:txBody>
      </p:sp>
      <p:sp>
        <p:nvSpPr>
          <p:cNvPr id="1049008" name="Oval 1049007">
            <a:extLst>
              <a:ext uri="{FF2B5EF4-FFF2-40B4-BE49-F238E27FC236}">
                <a16:creationId xmlns:a16="http://schemas.microsoft.com/office/drawing/2014/main" xmlns="" id="{28B52650-ED08-4597-A511-3A9287351B8C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9009" name="Rectangle 1049008">
            <a:extLst>
              <a:ext uri="{FF2B5EF4-FFF2-40B4-BE49-F238E27FC236}">
                <a16:creationId xmlns:a16="http://schemas.microsoft.com/office/drawing/2014/main" xmlns="" id="{125DDAE1-5B69-4D11-BC43-FAA3085A6576}"/>
              </a:ext>
            </a:extLst>
          </p:cNvPr>
          <p:cNvSpPr>
            <a:spLocks noGrp="1"/>
          </p:cNvSpPr>
          <p:nvPr/>
        </p:nvSpPr>
        <p:spPr>
          <a:xfrm>
            <a:off x="866775" y="2771775"/>
            <a:ext cx="4505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Consistent scoring rules</a:t>
            </a:r>
          </a:p>
        </p:txBody>
      </p:sp>
      <p:sp>
        <p:nvSpPr>
          <p:cNvPr id="1049010" name="Oval 1049009">
            <a:extLst>
              <a:ext uri="{FF2B5EF4-FFF2-40B4-BE49-F238E27FC236}">
                <a16:creationId xmlns:a16="http://schemas.microsoft.com/office/drawing/2014/main" xmlns="" id="{1758D173-56E6-4522-BD87-DC31D706B5A7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9011" name="Rectangle 1049010">
            <a:extLst>
              <a:ext uri="{FF2B5EF4-FFF2-40B4-BE49-F238E27FC236}">
                <a16:creationId xmlns:a16="http://schemas.microsoft.com/office/drawing/2014/main" xmlns="" id="{667BD581-1E91-4C4C-AA4C-C8863CB75E4E}"/>
              </a:ext>
            </a:extLst>
          </p:cNvPr>
          <p:cNvSpPr>
            <a:spLocks noGrp="1"/>
          </p:cNvSpPr>
          <p:nvPr/>
        </p:nvSpPr>
        <p:spPr>
          <a:xfrm>
            <a:off x="866775" y="3400425"/>
            <a:ext cx="4505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Visible reasons for each score</a:t>
            </a:r>
          </a:p>
        </p:txBody>
      </p:sp>
      <p:sp>
        <p:nvSpPr>
          <p:cNvPr id="1049012" name="Oval 1049011">
            <a:extLst>
              <a:ext uri="{FF2B5EF4-FFF2-40B4-BE49-F238E27FC236}">
                <a16:creationId xmlns:a16="http://schemas.microsoft.com/office/drawing/2014/main" xmlns="" id="{85DCEBE3-2620-45D4-819A-A60A7B364294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9013" name="Rectangle 1049012">
            <a:extLst>
              <a:ext uri="{FF2B5EF4-FFF2-40B4-BE49-F238E27FC236}">
                <a16:creationId xmlns:a16="http://schemas.microsoft.com/office/drawing/2014/main" xmlns="" id="{D19CBA03-1A2A-44E4-B399-CC2ED00BCBB2}"/>
              </a:ext>
            </a:extLst>
          </p:cNvPr>
          <p:cNvSpPr>
            <a:spLocks noGrp="1"/>
          </p:cNvSpPr>
          <p:nvPr/>
        </p:nvSpPr>
        <p:spPr>
          <a:xfrm>
            <a:off x="866775" y="4029075"/>
            <a:ext cx="4505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Better tracking of recruiter decisions</a:t>
            </a:r>
          </a:p>
        </p:txBody>
      </p:sp>
      <p:sp>
        <p:nvSpPr>
          <p:cNvPr id="1049014" name="Rectangle 1049013">
            <a:extLst>
              <a:ext uri="{FF2B5EF4-FFF2-40B4-BE49-F238E27FC236}">
                <a16:creationId xmlns:a16="http://schemas.microsoft.com/office/drawing/2014/main" xmlns="" id="{D21C746C-3B07-41A9-900E-B8D8EA3BF1E5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3810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Future scope</a:t>
            </a:r>
          </a:p>
        </p:txBody>
      </p:sp>
      <p:sp>
        <p:nvSpPr>
          <p:cNvPr id="1049015" name="Oval 1049014">
            <a:extLst>
              <a:ext uri="{FF2B5EF4-FFF2-40B4-BE49-F238E27FC236}">
                <a16:creationId xmlns:a16="http://schemas.microsoft.com/office/drawing/2014/main" xmlns="" id="{BBD3D56B-2044-4485-844A-99A2700BDF38}"/>
              </a:ext>
            </a:extLst>
          </p:cNvPr>
          <p:cNvSpPr>
            <a:spLocks noGrp="1"/>
          </p:cNvSpPr>
          <p:nvPr/>
        </p:nvSpPr>
        <p:spPr>
          <a:xfrm>
            <a:off x="6572250" y="22098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9016" name="Rectangle 1049015">
            <a:extLst>
              <a:ext uri="{FF2B5EF4-FFF2-40B4-BE49-F238E27FC236}">
                <a16:creationId xmlns:a16="http://schemas.microsoft.com/office/drawing/2014/main" xmlns="" id="{07C11FEB-2542-4478-8AAA-1C835A54606F}"/>
              </a:ext>
            </a:extLst>
          </p:cNvPr>
          <p:cNvSpPr>
            <a:spLocks noGrp="1"/>
          </p:cNvSpPr>
          <p:nvPr/>
        </p:nvSpPr>
        <p:spPr>
          <a:xfrm>
            <a:off x="6829425" y="2143125"/>
            <a:ext cx="4505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Support DOCX and scanned resumes</a:t>
            </a:r>
          </a:p>
        </p:txBody>
      </p:sp>
      <p:sp>
        <p:nvSpPr>
          <p:cNvPr id="1049017" name="Oval 1049016">
            <a:extLst>
              <a:ext uri="{FF2B5EF4-FFF2-40B4-BE49-F238E27FC236}">
                <a16:creationId xmlns:a16="http://schemas.microsoft.com/office/drawing/2014/main" xmlns="" id="{FD2042F2-3CDC-4E94-9AAD-0D6687DC8759}"/>
              </a:ext>
            </a:extLst>
          </p:cNvPr>
          <p:cNvSpPr>
            <a:spLocks noGrp="1"/>
          </p:cNvSpPr>
          <p:nvPr/>
        </p:nvSpPr>
        <p:spPr>
          <a:xfrm>
            <a:off x="6572250" y="27622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9018" name="Rectangle 1049017">
            <a:extLst>
              <a:ext uri="{FF2B5EF4-FFF2-40B4-BE49-F238E27FC236}">
                <a16:creationId xmlns:a16="http://schemas.microsoft.com/office/drawing/2014/main" xmlns="" id="{191E8FDC-4708-4FAB-9CC3-2742880DAB52}"/>
              </a:ext>
            </a:extLst>
          </p:cNvPr>
          <p:cNvSpPr>
            <a:spLocks noGrp="1"/>
          </p:cNvSpPr>
          <p:nvPr/>
        </p:nvSpPr>
        <p:spPr>
          <a:xfrm>
            <a:off x="6829425" y="2695575"/>
            <a:ext cx="4505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Use named-entity recognition</a:t>
            </a:r>
          </a:p>
        </p:txBody>
      </p:sp>
      <p:sp>
        <p:nvSpPr>
          <p:cNvPr id="1049019" name="Oval 1049018">
            <a:extLst>
              <a:ext uri="{FF2B5EF4-FFF2-40B4-BE49-F238E27FC236}">
                <a16:creationId xmlns:a16="http://schemas.microsoft.com/office/drawing/2014/main" xmlns="" id="{5366D404-D825-4920-BD8A-2BDBFE528F1B}"/>
              </a:ext>
            </a:extLst>
          </p:cNvPr>
          <p:cNvSpPr>
            <a:spLocks noGrp="1"/>
          </p:cNvSpPr>
          <p:nvPr/>
        </p:nvSpPr>
        <p:spPr>
          <a:xfrm>
            <a:off x="6572250" y="33147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9020" name="Rectangle 1049019">
            <a:extLst>
              <a:ext uri="{FF2B5EF4-FFF2-40B4-BE49-F238E27FC236}">
                <a16:creationId xmlns:a16="http://schemas.microsoft.com/office/drawing/2014/main" xmlns="" id="{B020683E-73B8-41B1-AC97-56BB9CFE6EE4}"/>
              </a:ext>
            </a:extLst>
          </p:cNvPr>
          <p:cNvSpPr>
            <a:spLocks noGrp="1"/>
          </p:cNvSpPr>
          <p:nvPr/>
        </p:nvSpPr>
        <p:spPr>
          <a:xfrm>
            <a:off x="6829425" y="3248025"/>
            <a:ext cx="4505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Add multilingual resume analysis</a:t>
            </a:r>
          </a:p>
        </p:txBody>
      </p:sp>
      <p:sp>
        <p:nvSpPr>
          <p:cNvPr id="1049021" name="Oval 1049020">
            <a:extLst>
              <a:ext uri="{FF2B5EF4-FFF2-40B4-BE49-F238E27FC236}">
                <a16:creationId xmlns:a16="http://schemas.microsoft.com/office/drawing/2014/main" xmlns="" id="{B372E687-5701-4049-B5E6-4FDEC4A01849}"/>
              </a:ext>
            </a:extLst>
          </p:cNvPr>
          <p:cNvSpPr>
            <a:spLocks noGrp="1"/>
          </p:cNvSpPr>
          <p:nvPr/>
        </p:nvSpPr>
        <p:spPr>
          <a:xfrm>
            <a:off x="6572250" y="386715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9022" name="Rectangle 1049021">
            <a:extLst>
              <a:ext uri="{FF2B5EF4-FFF2-40B4-BE49-F238E27FC236}">
                <a16:creationId xmlns:a16="http://schemas.microsoft.com/office/drawing/2014/main" xmlns="" id="{CAE263D0-0404-471A-B85E-F27EFFCFD2B8}"/>
              </a:ext>
            </a:extLst>
          </p:cNvPr>
          <p:cNvSpPr>
            <a:spLocks noGrp="1"/>
          </p:cNvSpPr>
          <p:nvPr/>
        </p:nvSpPr>
        <p:spPr>
          <a:xfrm>
            <a:off x="6829425" y="3800475"/>
            <a:ext cx="4505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Monitor bias and model drift</a:t>
            </a:r>
          </a:p>
        </p:txBody>
      </p:sp>
      <p:sp>
        <p:nvSpPr>
          <p:cNvPr id="1049023" name="Oval 1049022">
            <a:extLst>
              <a:ext uri="{FF2B5EF4-FFF2-40B4-BE49-F238E27FC236}">
                <a16:creationId xmlns:a16="http://schemas.microsoft.com/office/drawing/2014/main" xmlns="" id="{9C0C6AD8-0DDF-468D-8ADA-0CF81387A95E}"/>
              </a:ext>
            </a:extLst>
          </p:cNvPr>
          <p:cNvSpPr>
            <a:spLocks noGrp="1"/>
          </p:cNvSpPr>
          <p:nvPr/>
        </p:nvSpPr>
        <p:spPr>
          <a:xfrm>
            <a:off x="6572250" y="4419600"/>
            <a:ext cx="114300" cy="114300"/>
          </a:xfrm>
          <a:prstGeom prst="ellipse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49024" name="Rectangle 1049023">
            <a:extLst>
              <a:ext uri="{FF2B5EF4-FFF2-40B4-BE49-F238E27FC236}">
                <a16:creationId xmlns:a16="http://schemas.microsoft.com/office/drawing/2014/main" xmlns="" id="{326B041E-1756-47D5-A6F1-7D8CCDB4A4B4}"/>
              </a:ext>
            </a:extLst>
          </p:cNvPr>
          <p:cNvSpPr>
            <a:spLocks noGrp="1"/>
          </p:cNvSpPr>
          <p:nvPr/>
        </p:nvSpPr>
        <p:spPr>
          <a:xfrm>
            <a:off x="6829425" y="4352925"/>
            <a:ext cx="4505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Integrate with an applicant tracking system</a:t>
            </a:r>
          </a:p>
        </p:txBody>
      </p:sp>
      <p:sp>
        <p:nvSpPr>
          <p:cNvPr id="1049025" name="Rounded Rectangle 1049024">
            <a:extLst>
              <a:ext uri="{FF2B5EF4-FFF2-40B4-BE49-F238E27FC236}">
                <a16:creationId xmlns:a16="http://schemas.microsoft.com/office/drawing/2014/main" xmlns="" id="{E7BA551C-542F-4B19-8375-3D5AAD07D7AD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668000" cy="57150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9026" name="Rectangle 1049025">
            <a:extLst>
              <a:ext uri="{FF2B5EF4-FFF2-40B4-BE49-F238E27FC236}">
                <a16:creationId xmlns:a16="http://schemas.microsoft.com/office/drawing/2014/main" xmlns="" id="{E5325991-B433-4907-A530-77AC4C3AA720}"/>
              </a:ext>
            </a:extLst>
          </p:cNvPr>
          <p:cNvSpPr>
            <a:spLocks noGrp="1"/>
          </p:cNvSpPr>
          <p:nvPr/>
        </p:nvSpPr>
        <p:spPr>
          <a:xfrm>
            <a:off x="857250" y="558165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Success means better decisions—not merely higher automation.</a:t>
            </a:r>
          </a:p>
        </p:txBody>
      </p:sp>
      <p:sp>
        <p:nvSpPr>
          <p:cNvPr id="1049027" name="Rectangle 1049026">
            <a:extLst>
              <a:ext uri="{FF2B5EF4-FFF2-40B4-BE49-F238E27FC236}">
                <a16:creationId xmlns:a16="http://schemas.microsoft.com/office/drawing/2014/main" xmlns="" id="{DAE6C52C-D2CE-4171-A2F5-B43285B5B6E2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14</a:t>
            </a:r>
          </a:p>
        </p:txBody>
      </p:sp>
      <p:pic>
        <p:nvPicPr>
          <p:cNvPr id="30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32784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1" name="Rounded Rectangle 1049030">
            <a:extLst>
              <a:ext uri="{FF2B5EF4-FFF2-40B4-BE49-F238E27FC236}">
                <a16:creationId xmlns:a16="http://schemas.microsoft.com/office/drawing/2014/main" xmlns="" id="{42E5D3FC-7019-44E9-AD64-B34457F0A6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49033" name="Rectangle 1049032">
            <a:extLst>
              <a:ext uri="{FF2B5EF4-FFF2-40B4-BE49-F238E27FC236}">
                <a16:creationId xmlns:a16="http://schemas.microsoft.com/office/drawing/2014/main" xmlns="" id="{7D7652CC-A1F1-46BE-B650-8075F3FC9128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46BFD"/>
                </a:solidFill>
              </a:defRPr>
            </a:pPr>
            <a:endParaRPr sz="1050" b="1">
              <a:solidFill>
                <a:srgbClr val="246BFD"/>
              </a:solidFill>
            </a:endParaRPr>
          </a:p>
        </p:txBody>
      </p:sp>
      <p:sp>
        <p:nvSpPr>
          <p:cNvPr id="1049034" name="Rectangle 1049033">
            <a:extLst>
              <a:ext uri="{FF2B5EF4-FFF2-40B4-BE49-F238E27FC236}">
                <a16:creationId xmlns:a16="http://schemas.microsoft.com/office/drawing/2014/main" xmlns="" id="{BED78C3E-A92E-417F-99AD-D7897D0863DF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B1220"/>
                </a:solidFill>
              </a:defRPr>
            </a:pPr>
            <a:r>
              <a:rPr sz="2400" b="1">
                <a:solidFill>
                  <a:srgbClr val="0B1220"/>
                </a:solidFill>
              </a:rPr>
              <a:t>Literature review grounds the system in prior research</a:t>
            </a:r>
          </a:p>
        </p:txBody>
      </p:sp>
      <p:sp>
        <p:nvSpPr>
          <p:cNvPr id="1049035" name="Rectangle 1049034">
            <a:extLst>
              <a:ext uri="{FF2B5EF4-FFF2-40B4-BE49-F238E27FC236}">
                <a16:creationId xmlns:a16="http://schemas.microsoft.com/office/drawing/2014/main" xmlns="" id="{2CDC0439-5F38-48A8-9920-F8D896BEF7D6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C9D2E3"/>
          </a:solidFill>
          <a:ln w="0">
            <a:solidFill>
              <a:srgbClr val="C9D2E3"/>
            </a:solidFill>
            <a:prstDash val="solid"/>
          </a:ln>
        </p:spPr>
      </p:sp>
      <p:graphicFrame>
        <p:nvGraphicFramePr>
          <p:cNvPr id="1049043" name="Literature Table"/>
          <p:cNvGraphicFramePr/>
          <p:nvPr/>
        </p:nvGraphicFramePr>
        <p:xfrm>
          <a:off x="609600" y="1504950"/>
          <a:ext cx="10972800" cy="4581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1943100"/>
                <a:gridCol w="3200400"/>
                <a:gridCol w="2438400"/>
                <a:gridCol w="2628900"/>
              </a:tblGrid>
              <a:tr h="5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S. No.</a:t>
                      </a:r>
                    </a:p>
                  </a:txBody>
                  <a:tcPr anchor="ctr">
                    <a:solidFill>
                      <a:srgbClr val="246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Author &amp; Year</a:t>
                      </a:r>
                    </a:p>
                  </a:txBody>
                  <a:tcPr anchor="ctr">
                    <a:solidFill>
                      <a:srgbClr val="246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Paper Title</a:t>
                      </a:r>
                    </a:p>
                  </a:txBody>
                  <a:tcPr anchor="ctr">
                    <a:solidFill>
                      <a:srgbClr val="246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Methodology</a:t>
                      </a:r>
                    </a:p>
                  </a:txBody>
                  <a:tcPr anchor="ctr">
                    <a:solidFill>
                      <a:srgbClr val="246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Key Finding</a:t>
                      </a:r>
                    </a:p>
                  </a:txBody>
                  <a:tcPr anchor="ctr">
                    <a:solidFill>
                      <a:srgbClr val="246BFD"/>
                    </a:solidFill>
                  </a:tcPr>
                </a:tc>
              </a:tr>
              <a:tr h="8163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0B1220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Daryani et al. (2020)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Automated Resume Screening System Using NLP and Similarity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TF-IDF vectorization with cosine similarity for CV-to-job matching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Established a similarity-based baseline for ranking resumes against job descriptions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163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0B1220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Tejaswini et al. (2022)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CV Matching for Recruitment Using NLP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Cosine similarity combined with K-Nearest Neighbors (KNN)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KNN-based matching improved alignment between resumes and job requirements over plain keyword search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</a:tr>
              <a:tr h="8163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0B1220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Cabrera-Diego et al. (2015)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Resume Similarity in e-Recruitment Systems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Comparison of text-similarity measures, including the Dice coefficient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Dice-based similarity best separated selected from rejected candidates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163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0B1220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Raghavendra &amp; Vijay B. (2026)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AI-Based Applicant Tracking System for Resume Analysis and Skill Gap Prediction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TF-IDF vectorization with cosine similarity plus a skill-gap module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Layered skill-gap prediction on top of similarity scoring to guide candidates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</a:tr>
              <a:tr h="8163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0B1220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Smart Recruitment System, IJERT (2026)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Intelligent Resume Screening and Job Matching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Benchmarked TF-IDF cosine similarity against BERT embeddings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0B1220"/>
                          </a:solidFill>
                        </a:rPr>
                        <a:t>TF-IDF stayed accurate and lightweight for moderate scale; BERT added semantic depth at higher compute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9036" name="Rectangle 1049035">
            <a:extLst>
              <a:ext uri="{FF2B5EF4-FFF2-40B4-BE49-F238E27FC236}">
                <a16:creationId xmlns:a16="http://schemas.microsoft.com/office/drawing/2014/main" xmlns="" id="{17F2ADAC-F3E2-4033-9DE7-10A9CA358040}"/>
              </a:ext>
            </a:extLst>
          </p:cNvPr>
          <p:cNvSpPr>
            <a:spLocks noGrp="1"/>
          </p:cNvSpPr>
          <p:nvPr/>
        </p:nvSpPr>
        <p:spPr>
          <a:xfrm>
            <a:off x="11125200" y="6429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18</a:t>
            </a:r>
          </a:p>
        </p:txBody>
      </p:sp>
      <p:pic>
        <p:nvPicPr>
          <p:cNvPr id="9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76576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7" name="Rectangle 1049036">
            <a:extLst>
              <a:ext uri="{FF2B5EF4-FFF2-40B4-BE49-F238E27FC236}">
                <a16:creationId xmlns:a16="http://schemas.microsoft.com/office/drawing/2014/main" xmlns="" id="{D4C7D881-2052-4839-98E7-B2516CF82D37}"/>
              </a:ext>
            </a:extLst>
          </p:cNvPr>
          <p:cNvSpPr>
            <a:spLocks noGrp="1"/>
          </p:cNvSpPr>
          <p:nvPr/>
        </p:nvSpPr>
        <p:spPr>
          <a:xfrm>
            <a:off x="666750" y="8572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49C6E5"/>
                </a:solidFill>
              </a:defRPr>
            </a:pPr>
            <a:endParaRPr sz="1350" b="1">
              <a:solidFill>
                <a:srgbClr val="49C6E5"/>
              </a:solidFill>
            </a:endParaRPr>
          </a:p>
        </p:txBody>
      </p:sp>
      <p:sp>
        <p:nvSpPr>
          <p:cNvPr id="1049038" name="Rectangle 1049037">
            <a:extLst>
              <a:ext uri="{FF2B5EF4-FFF2-40B4-BE49-F238E27FC236}">
                <a16:creationId xmlns:a16="http://schemas.microsoft.com/office/drawing/2014/main" xmlns="" id="{4E8A7514-6B25-4D99-82EC-21C393292521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857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AI can organize evidence.</a:t>
            </a:r>
          </a:p>
          <a:p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Humans must make the decision.</a:t>
            </a:r>
          </a:p>
        </p:txBody>
      </p:sp>
      <p:sp>
        <p:nvSpPr>
          <p:cNvPr id="1049039" name="Rectangle 1049038">
            <a:extLst>
              <a:ext uri="{FF2B5EF4-FFF2-40B4-BE49-F238E27FC236}">
                <a16:creationId xmlns:a16="http://schemas.microsoft.com/office/drawing/2014/main" xmlns="" id="{B131637B-F2A9-4562-970E-E57AC063D169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8572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>
                <a:solidFill>
                  <a:srgbClr val="D6E0F0"/>
                </a:solidFill>
              </a:defRPr>
            </a:pPr>
            <a:r>
              <a:rPr sz="1725" b="0">
                <a:solidFill>
                  <a:srgbClr val="D6E0F0"/>
                </a:solidFill>
              </a:rPr>
              <a:t>The proposed Python system extracts resume data, compares it with job requirements, provides an explainable score, and keeps the recruiter in control.</a:t>
            </a:r>
          </a:p>
        </p:txBody>
      </p:sp>
      <p:sp>
        <p:nvSpPr>
          <p:cNvPr id="1049040" name="Rectangle 1049039">
            <a:extLst>
              <a:ext uri="{FF2B5EF4-FFF2-40B4-BE49-F238E27FC236}">
                <a16:creationId xmlns:a16="http://schemas.microsoft.com/office/drawing/2014/main" xmlns="" id="{151B881C-CB03-47CA-8F50-B9FA2D6C1FF3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9334500" cy="28575"/>
          </a:xfrm>
          <a:prstGeom prst="rect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</p:sp>
      <p:sp>
        <p:nvSpPr>
          <p:cNvPr id="1049041" name="Rectangle 1049040">
            <a:extLst>
              <a:ext uri="{FF2B5EF4-FFF2-40B4-BE49-F238E27FC236}">
                <a16:creationId xmlns:a16="http://schemas.microsoft.com/office/drawing/2014/main" xmlns="" id="{EC7330CA-D43D-4753-A42F-70B154046E5F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49042" name="Rectangle 1049041">
            <a:extLst>
              <a:ext uri="{FF2B5EF4-FFF2-40B4-BE49-F238E27FC236}">
                <a16:creationId xmlns:a16="http://schemas.microsoft.com/office/drawing/2014/main" xmlns="" id="{CDFE568C-78FA-4D3E-BC3A-46AA72428E57}"/>
              </a:ext>
            </a:extLst>
          </p:cNvPr>
          <p:cNvSpPr>
            <a:spLocks noGrp="1"/>
          </p:cNvSpPr>
          <p:nvPr/>
        </p:nvSpPr>
        <p:spPr>
          <a:xfrm>
            <a:off x="7524750" y="51435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950" b="1">
                <a:solidFill>
                  <a:srgbClr val="49C6E5"/>
                </a:solidFill>
              </a:defRPr>
            </a:pPr>
            <a:endParaRPr sz="1950" b="1">
              <a:solidFill>
                <a:srgbClr val="49C6E5"/>
              </a:solidFill>
            </a:endParaRPr>
          </a:p>
        </p:txBody>
      </p:sp>
      <p:pic>
        <p:nvPicPr>
          <p:cNvPr id="8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084" y="0"/>
            <a:ext cx="723150" cy="78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39536" y="0"/>
            <a:ext cx="952464" cy="95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8513027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1509</Words>
  <Application>Walnut Exporter</Application>
  <DocSecurity>0</DocSecurity>
  <PresentationFormat>Custom</PresentationFormat>
  <Paragraphs>319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ChatGPT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2</cp:revision>
  <dcterms:created xsi:type="dcterms:W3CDTF">2026-09-03T14:52:45Z</dcterms:created>
  <dcterms:modified xsi:type="dcterms:W3CDTF">2026-09-03T15:22:55Z</dcterms:modified>
</cp:coreProperties>
</file>