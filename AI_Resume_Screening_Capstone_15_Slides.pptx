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d554b65d3f4630" /><Relationship Type="http://schemas.openxmlformats.org/officeDocument/2006/relationships/extended-properties" Target="/docProps/app.xml" Id="R92f4bb6575954e78" /><Relationship Type="http://schemas.openxmlformats.org/officeDocument/2006/relationships/officeDocument" Target="/ppt/presentation.xml" Id="R8e3211518fb142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b868553bbd4380"/>
  </p:sldMasterIdLst>
  <p:notesMasterIdLst>
    <p:notesMasterId xmlns:r="http://schemas.openxmlformats.org/officeDocument/2006/relationships" r:id="R94fca0158cdd48e9"/>
  </p:notesMasterIdLst>
  <p:sldIdLst>
    <p:sldId xmlns:r="http://schemas.openxmlformats.org/officeDocument/2006/relationships" id="256" r:id="Re9121e9b561e4be3"/>
    <p:sldId xmlns:r="http://schemas.openxmlformats.org/officeDocument/2006/relationships" id="257" r:id="R7b8938b883a941da"/>
    <p:sldId xmlns:r="http://schemas.openxmlformats.org/officeDocument/2006/relationships" id="258" r:id="Rf0fe14584ae94504"/>
    <p:sldId xmlns:r="http://schemas.openxmlformats.org/officeDocument/2006/relationships" id="259" r:id="R21fbdf93180a4449"/>
    <p:sldId xmlns:r="http://schemas.openxmlformats.org/officeDocument/2006/relationships" id="260" r:id="R3ad3b01e4c4f4bef"/>
    <p:sldId xmlns:r="http://schemas.openxmlformats.org/officeDocument/2006/relationships" id="261" r:id="R70f556b048f4489d"/>
    <p:sldId xmlns:r="http://schemas.openxmlformats.org/officeDocument/2006/relationships" id="262" r:id="R75ed23b6de6c4a77"/>
    <p:sldId xmlns:r="http://schemas.openxmlformats.org/officeDocument/2006/relationships" id="263" r:id="R1035a26be68c4ce8"/>
    <p:sldId xmlns:r="http://schemas.openxmlformats.org/officeDocument/2006/relationships" id="264" r:id="Rfd359743d5aa4164"/>
    <p:sldId xmlns:r="http://schemas.openxmlformats.org/officeDocument/2006/relationships" id="265" r:id="Rb80b447aaf484122"/>
    <p:sldId xmlns:r="http://schemas.openxmlformats.org/officeDocument/2006/relationships" id="266" r:id="Rc950eec575d24c37"/>
    <p:sldId xmlns:r="http://schemas.openxmlformats.org/officeDocument/2006/relationships" id="267" r:id="R50722ee84026494a"/>
    <p:sldId xmlns:r="http://schemas.openxmlformats.org/officeDocument/2006/relationships" id="268" r:id="Rd82e4158a0ed4de0"/>
    <p:sldId xmlns:r="http://schemas.openxmlformats.org/officeDocument/2006/relationships" id="269" r:id="R5c2191e2c3204652"/>
    <p:sldId xmlns:r="http://schemas.openxmlformats.org/officeDocument/2006/relationships" id="270" r:id="R81ba56e121e143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1ee81c8c44742" /><Relationship Type="http://schemas.openxmlformats.org/officeDocument/2006/relationships/slideMaster" Target="/ppt/slideMasters/slideMaster1.xml" Id="R2db868553bbd4380" /><Relationship Type="http://schemas.openxmlformats.org/officeDocument/2006/relationships/notesMaster" Target="/ppt/notesMasters/notesMaster1.xml" Id="R94fca0158cdd48e9" /><Relationship Type="http://schemas.openxmlformats.org/officeDocument/2006/relationships/presProps" Target="/ppt/presProps.xml" Id="Re46dc955a50a437d" /><Relationship Type="http://schemas.openxmlformats.org/officeDocument/2006/relationships/tableStyles" Target="/ppt/tableStyles.xml" Id="Re52cfe7daaf346ab" /><Relationship Type="http://schemas.openxmlformats.org/officeDocument/2006/relationships/slide" Target="/ppt/slides/slide1.xml" Id="Re9121e9b561e4be3" /><Relationship Type="http://schemas.openxmlformats.org/officeDocument/2006/relationships/slide" Target="/ppt/slides/slide2.xml" Id="R7b8938b883a941da" /><Relationship Type="http://schemas.openxmlformats.org/officeDocument/2006/relationships/slide" Target="/ppt/slides/slide3.xml" Id="Rf0fe14584ae94504" /><Relationship Type="http://schemas.openxmlformats.org/officeDocument/2006/relationships/slide" Target="/ppt/slides/slide4.xml" Id="R21fbdf93180a4449" /><Relationship Type="http://schemas.openxmlformats.org/officeDocument/2006/relationships/slide" Target="/ppt/slides/slide5.xml" Id="R3ad3b01e4c4f4bef" /><Relationship Type="http://schemas.openxmlformats.org/officeDocument/2006/relationships/slide" Target="/ppt/slides/slide6.xml" Id="R70f556b048f4489d" /><Relationship Type="http://schemas.openxmlformats.org/officeDocument/2006/relationships/slide" Target="/ppt/slides/slide7.xml" Id="R75ed23b6de6c4a77" /><Relationship Type="http://schemas.openxmlformats.org/officeDocument/2006/relationships/slide" Target="/ppt/slides/slide8.xml" Id="R1035a26be68c4ce8" /><Relationship Type="http://schemas.openxmlformats.org/officeDocument/2006/relationships/slide" Target="/ppt/slides/slide9.xml" Id="Rfd359743d5aa4164" /><Relationship Type="http://schemas.openxmlformats.org/officeDocument/2006/relationships/slide" Target="/ppt/slides/slide10.xml" Id="Rb80b447aaf484122" /><Relationship Type="http://schemas.openxmlformats.org/officeDocument/2006/relationships/slide" Target="/ppt/slides/slide11.xml" Id="Rc950eec575d24c37" /><Relationship Type="http://schemas.openxmlformats.org/officeDocument/2006/relationships/slide" Target="/ppt/slides/slide12.xml" Id="R50722ee84026494a" /><Relationship Type="http://schemas.openxmlformats.org/officeDocument/2006/relationships/slide" Target="/ppt/slides/slide13.xml" Id="Rd82e4158a0ed4de0" /><Relationship Type="http://schemas.openxmlformats.org/officeDocument/2006/relationships/slide" Target="/ppt/slides/slide14.xml" Id="R5c2191e2c3204652" /><Relationship Type="http://schemas.openxmlformats.org/officeDocument/2006/relationships/slide" Target="/ppt/slides/slide15.xml" Id="R81ba56e121e1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1968efd984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a51f1e4ed41e2" /><Relationship Type="http://schemas.openxmlformats.org/officeDocument/2006/relationships/notesMaster" Target="/ppt/notesMasters/notesMaster1.xml" Id="R9ae9385cb3db4a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33ca7ade6f4e82" /><Relationship Type="http://schemas.openxmlformats.org/officeDocument/2006/relationships/notesMaster" Target="/ppt/notesMasters/notesMaster1.xml" Id="Rd483259cf3d545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c1c23aa734d79" /><Relationship Type="http://schemas.openxmlformats.org/officeDocument/2006/relationships/notesMaster" Target="/ppt/notesMasters/notesMaster1.xml" Id="R4f20b5462fe6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b07c46a3b84faf" /><Relationship Type="http://schemas.openxmlformats.org/officeDocument/2006/relationships/notesMaster" Target="/ppt/notesMasters/notesMaster1.xml" Id="R949a3a971e0b4e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9443dc0454d3f" /><Relationship Type="http://schemas.openxmlformats.org/officeDocument/2006/relationships/notesMaster" Target="/ppt/notesMasters/notesMaster1.xml" Id="R527eda6a7f454c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260be71aa43d1" /><Relationship Type="http://schemas.openxmlformats.org/officeDocument/2006/relationships/notesMaster" Target="/ppt/notesMasters/notesMaster1.xml" Id="R60ec1434265345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9936b31fec4854" /><Relationship Type="http://schemas.openxmlformats.org/officeDocument/2006/relationships/notesMaster" Target="/ppt/notesMasters/notesMaster1.xml" Id="Rd876f76cb72f45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e4370694e45ac" /><Relationship Type="http://schemas.openxmlformats.org/officeDocument/2006/relationships/notesMaster" Target="/ppt/notesMasters/notesMaster1.xml" Id="R6646ab5c7b6647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2049dd4a1f44f2" /><Relationship Type="http://schemas.openxmlformats.org/officeDocument/2006/relationships/notesMaster" Target="/ppt/notesMasters/notesMaster1.xml" Id="R0aa6200f201343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52f159f65e4199" /><Relationship Type="http://schemas.openxmlformats.org/officeDocument/2006/relationships/notesMaster" Target="/ppt/notesMasters/notesMaster1.xml" Id="Rb208e9be256d4c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d15942b0354277" /><Relationship Type="http://schemas.openxmlformats.org/officeDocument/2006/relationships/notesMaster" Target="/ppt/notesMasters/notesMaster1.xml" Id="R2c30ab8a8cdc46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ee301d57274235" /><Relationship Type="http://schemas.openxmlformats.org/officeDocument/2006/relationships/notesMaster" Target="/ppt/notesMasters/notesMaster1.xml" Id="Rf415dc30b33248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5a9b4a39a6407b" /><Relationship Type="http://schemas.openxmlformats.org/officeDocument/2006/relationships/notesMaster" Target="/ppt/notesMasters/notesMaster1.xml" Id="R0608fe13a13d40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f14424b543411e" /><Relationship Type="http://schemas.openxmlformats.org/officeDocument/2006/relationships/notesMaster" Target="/ppt/notesMasters/notesMaster1.xml" Id="R26147d5a00674f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2958ba25ca47fd" /><Relationship Type="http://schemas.openxmlformats.org/officeDocument/2006/relationships/notesMaster" Target="/ppt/notesMasters/notesMaster1.xml" Id="R14921f0b48d3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98c4245a4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cb5519188420a" /><Relationship Type="http://schemas.openxmlformats.org/officeDocument/2006/relationships/slideLayout" Target="/ppt/slideLayouts/slideLayout1.xml" Id="R9aeb7f16bbe44d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eb7f16bbe44d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61ee473f04867" /><Relationship Type="http://schemas.openxmlformats.org/officeDocument/2006/relationships/notesSlide" Target="/ppt/notesSlides/notesSlide1.xml" Id="Rfe0f574d9f5340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2a0043bfb4bd3" /><Relationship Type="http://schemas.openxmlformats.org/officeDocument/2006/relationships/notesSlide" Target="/ppt/notesSlides/notesSlide2.xml" Id="R7a9ed8cf458b49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511a67dc4de8" /><Relationship Type="http://schemas.openxmlformats.org/officeDocument/2006/relationships/notesSlide" Target="/ppt/notesSlides/notesSlide3.xml" Id="R03c767f0b832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782a51b164f74" /><Relationship Type="http://schemas.openxmlformats.org/officeDocument/2006/relationships/notesSlide" Target="/ppt/notesSlides/notesSlide4.xml" Id="Rbc65e82763ad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95e3be9de435e" /><Relationship Type="http://schemas.openxmlformats.org/officeDocument/2006/relationships/notesSlide" Target="/ppt/notesSlides/notesSlide5.xml" Id="Ra07787a1f0444e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6542c46a42bc" /><Relationship Type="http://schemas.openxmlformats.org/officeDocument/2006/relationships/notesSlide" Target="/ppt/notesSlides/notesSlide6.xml" Id="Rd37529adbd47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dc7ab91d8486e" /><Relationship Type="http://schemas.openxmlformats.org/officeDocument/2006/relationships/notesSlide" Target="/ppt/notesSlides/notesSlide7.xml" Id="R78e0966ff3dd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4cf7d9811460f" /><Relationship Type="http://schemas.openxmlformats.org/officeDocument/2006/relationships/notesSlide" Target="/ppt/notesSlides/notesSlide8.xml" Id="R01874a95e37743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6ac2ec6a4b96" /><Relationship Type="http://schemas.openxmlformats.org/officeDocument/2006/relationships/notesSlide" Target="/ppt/notesSlides/notesSlide9.xml" Id="R1f23e26d7321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ea56fbaf04873" /><Relationship Type="http://schemas.openxmlformats.org/officeDocument/2006/relationships/notesSlide" Target="/ppt/notesSlides/notesSlide10.xml" Id="R898f8e23d15441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e3793d7ea4c0b" /><Relationship Type="http://schemas.openxmlformats.org/officeDocument/2006/relationships/notesSlide" Target="/ppt/notesSlides/notesSlide11.xml" Id="R8b739046dfbb4d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faa7883b54ac2" /><Relationship Type="http://schemas.openxmlformats.org/officeDocument/2006/relationships/notesSlide" Target="/ppt/notesSlides/notesSlide12.xml" Id="R5fc9937dd4234a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3cf8e4e914e95" /><Relationship Type="http://schemas.openxmlformats.org/officeDocument/2006/relationships/notesSlide" Target="/ppt/notesSlides/notesSlide13.xml" Id="R16b35f4af64246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eccbddde64ee8" /><Relationship Type="http://schemas.openxmlformats.org/officeDocument/2006/relationships/notesSlide" Target="/ppt/notesSlides/notesSlide14.xml" Id="R8fe0b13546be4e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207bfef4475b" /><Relationship Type="http://schemas.openxmlformats.org/officeDocument/2006/relationships/notesSlide" Target="/ppt/notesSlides/notesSlide15.xml" Id="R4c49a458b6d442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40362-F3D7-4B85-B897-3E322408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27781-767D-4084-8731-3A37C67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C6E5"/>
                </a:solidFill>
              </a:defRPr>
            </a:pPr>
            <a:r>
              <a:rPr sz="1425" b="1">
                <a:solidFill>
                  <a:srgbClr val="49C6E5"/>
                </a:solidFill>
              </a:rPr>
              <a:t>AI-BASED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23D2C-2D43-470C-AB38-9BF5C25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Resume Screening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and Review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7B466-DEBB-40A9-852F-6FDB80A9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0F0"/>
                </a:solidFill>
              </a:defRPr>
            </a:pPr>
            <a:r>
              <a:rPr sz="1800" b="0">
                <a:solidFill>
                  <a:srgbClr val="D6E0F0"/>
                </a:solidFill>
              </a:rPr>
              <a:t>A fair, explainable and efficient approach to candidate shortlisting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7B006-1E3C-4217-8DE9-690F191D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344B2-DD3A-4C64-A355-73A1EEC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CAPSTONE PROJECT  •  PYTHON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35686-0DE7-4AAE-A897-F56126B0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8"/>
                </a:solidFill>
              </a:defRPr>
            </a:pPr>
            <a:r>
              <a:rPr sz="1200" b="0">
                <a:solidFill>
                  <a:srgbClr val="AFC0D8"/>
                </a:solidFill>
              </a:rPr>
              <a:t>15-slide 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A7588-BBF7-4118-B855-487E8589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B77A9-25E8-4E08-AF9E-6084F0F3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CV → SCORE → REVIEW</a:t>
            </a:r>
          </a:p>
        </p:txBody>
      </p:sp>
    </p:spTree>
    <p:extLst>
      <p:ext uri="{BB962C8B-B14F-4D97-AF65-F5344CB8AC3E}">
        <p14:creationId xmlns:p14="http://schemas.microsoft.com/office/powerpoint/2010/main" val="1726928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415BD-9D3B-4C12-B5E6-15E6DE7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1434C-5E5D-40A1-B8AE-32A933C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Why manual resume screening needs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21D0-A5E5-463E-8903-9499CA99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64BB1-54CF-4AFD-84EF-2E0978BB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Recruiters often review many resumes under time pressure.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77702-29A5-4224-A5DA-B86D833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2F59A-F674-4CA9-8AFF-516BEB26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3837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Slow: repeated reading delays shortlisting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54A97-CFA8-4838-8991-8304720F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58D1E-53C6-4E81-A4C9-9502BB6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0512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Inconsistent: different reviewers may judge differently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A82B5-B713-4ADA-925A-DBD621A8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E7EB0-9FAF-4CA5-B2A0-9E1D1169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Keyword overload: suitable candidates may be missed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CA287-DFD0-48EA-A62A-09F8F4CA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90AA0-A615-4352-9FB1-45721F41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593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Hard to explain why one resume ranked above another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966F7-134F-47DF-848E-2C1DBC6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095625" cy="342900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8D330-143B-486D-A85B-18F3A6B2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PROJECT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A129D-92AA-4098-AD05-3093877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2428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Convert resumes into structured data, compare them with a job description, and generate a transparent review report.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9FFBB-7A85-4C02-848C-9071EC4C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2703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E0A5E-F48D-413B-9838-00D9175A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A742-699F-4227-AFD0-CC8CAC0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proposed system supports—not replaces—the recruiter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DE053-A418-4959-80A6-0059BEE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749EB-46CF-455C-AB79-71D3B829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44565-EFF1-4AE5-8F61-8E87DEE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3F628-AE91-4CD9-95D9-5856A53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6F473-3900-48F5-BFFD-BD336C8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113DB-6C7E-4119-A35E-3CF82D0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66DC1-58D1-4AEA-8AB7-EC31BD0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Upload resume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6DCBB-851D-4087-94BB-34E1C022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B4B8C-F1B5-4CDD-896F-B1D46BFD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0DBDA-7DA7-4820-8B9A-27FECB3D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Extract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4DB08-4060-4D6D-9226-E3360F99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C164-FC91-4262-9FB7-361979C8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17E2C-7A13-46C0-AE36-4A035B1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Match 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AE2F6-7C4C-43B7-9959-F142AA3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7C118-2AA4-4E99-8FCA-DF4BE2E4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960F6-B3FF-4D27-B698-02C6C09F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Rank &amp; 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D7ED2-2710-43EF-BAC4-5BC94BC4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8600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51A11-E6A3-464D-A3AE-CFD9466A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398C3-67E6-4601-9E30-8CC62695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432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Human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C3F95-DC71-49CF-8B22-69991B5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19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3E9C1-46D3-40A7-B8A9-DEE5A43F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PDF / DOCX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7D0F9-3901-4412-B5EF-F39DF283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NLP cleaning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28525-9FF3-4E29-8194-9A1A448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48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TF-IDF similarity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59EEC-BC98-48D1-9292-3BB4E88A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Score +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0D566-6F06-482A-A01E-1A72A7B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06D"/>
                </a:solidFill>
              </a:defRPr>
            </a:pPr>
            <a:r>
              <a:rPr sz="1275" b="1">
                <a:solidFill>
                  <a:srgbClr val="52606D"/>
                </a:solidFill>
              </a:rPr>
              <a:t>Approve / reject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3B246-F41B-40EB-B844-17D206E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3C4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10B01-3B29-4F98-8AD8-AEC89B9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435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Human oversight remains mandatory for final hiring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DA59C1-C6F5-4FE6-8292-8EA8D26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0273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3DC04-C2D1-4BA5-B063-26296878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274CA-FFBB-4B7D-A1E3-B28156E8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Five modules turn an unstructured resume into a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3CE67-18B9-45FC-890A-5CB720B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096D5-4DB0-442B-8D17-C046899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DD13A-37B3-4F96-B44A-9FED3195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811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83726-3BC6-432A-9C5C-AB0A62F3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Resume 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B6C91-FA86-4BD0-801C-CB78808F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Validates PDF/DOCX and file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49341-6598-4B2F-BC7A-2A7C898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FB6FF-109B-425C-BB98-1B84176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57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3AF07-47C1-4888-BD21-137D4AA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479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Text extraction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DF8D2-0C16-4159-A468-1B466ECB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479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Reads name, skills, education and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E0395-9A3D-4EB4-88B4-97FF848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56F10-AA6B-48B9-89EA-235DDE1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33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18DD9-3B64-4490-BEA3-B93FDC2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242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Job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BA514-31C7-4FED-894B-8D8EAC17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242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Identifies required and preferred keywords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8AE5B-02EB-4DB5-B3AF-AAA204BE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BD4D8-3A83-4FFD-A7A2-C60E3362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22F5D-8463-4B78-B1BD-EE19E514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005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Matching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E63CE-BC38-4AA3-AF98-24AA6E6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005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Calculates skill, education and experience scores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801B1-0B2B-4AC7-86FE-9530B55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FD"/>
                </a:solidFill>
              </a:defRPr>
            </a:pPr>
            <a:r>
              <a:rPr sz="1950" b="1">
                <a:solidFill>
                  <a:srgbClr val="246BFD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FACA4-0B20-4EAD-9690-F4E0E3EF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6E5"/>
          </a:solidFill>
          <a:ln xmlns:a="http://schemas.openxmlformats.org/drawingml/2006/main" w="0">
            <a:solidFill>
              <a:srgbClr val="49C6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AD9C9-6B7C-4513-87DC-F28D3E05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768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Review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74B62-9CA5-4C54-B3F1-A4CBCA0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7682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Shows ranking, evidence and recommendations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C85FF-B38B-4E88-B676-755B4AE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4825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413C4-754F-4A15-9D93-1625C82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15429-8817-439C-9201-DBF7465C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System architecture separates interface, intelligence and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01A02-3399-48BF-AE7B-0A020B8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DAEC3-A633-472D-BE3E-956EBC92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8C321-B570-499A-8DAE-3BFD3C6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USER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C2A40-3F70-4ED9-BE77-E645243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Upload resume • enter job description • view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1CE46-85AA-40F4-92AB-C911017B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B3893-AC60-4212-8E23-602FF39F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86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APPLICATION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CC0BC-CB79-4339-B15B-A13C8E87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Flask / Streamlit controls validation and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2B4AD-47C5-433E-B89E-919FB02D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73CE2-1AB5-455B-BBAD-4F669D1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81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AI &amp; NLP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20E80-31A5-4882-B992-3E82DA24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Text cleaning • skill extraction • similarity • scoring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34A7E-884B-44F8-A99E-9488D4C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D117C-CEF5-457B-8CFA-E3F2F3C5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76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D"/>
                </a:solidFill>
              </a:defRPr>
            </a:pPr>
            <a:r>
              <a:rPr sz="1425" b="1">
                <a:solidFill>
                  <a:srgbClr val="246BFD"/>
                </a:solidFill>
              </a:rPr>
              <a:t>DATA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31481-FF0C-4FD3-8663-1932F9F5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768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Resume files • job profiles • scores • audit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6A02B-DEC3-4D86-8250-EAB70F7B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3707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3C91BD-F5BC-4292-98FC-91497075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DA713-AB49-434F-9D01-E3E2AFA4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Matching combines multiple signals into one explainable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8400E-BA22-4D5D-B333-2452218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E00B4-DF18-4D90-95D9-17BFE8E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Overall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A1A10-B5D5-4981-BD47-AE84D967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668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D"/>
                </a:solidFill>
              </a:defRPr>
            </a:pPr>
            <a:r>
              <a:rPr sz="2100" b="1">
                <a:solidFill>
                  <a:srgbClr val="246BFD"/>
                </a:solidFill>
              </a:rPr>
              <a:t>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4476-D6B8-4464-B663-6B887A5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09A71-E92D-4F70-861B-DE3C1E6F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Skill 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E8C12-9303-41AC-8866-9FEAAB17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F0930-489F-4034-880E-EB30C42A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DE80B-C97B-45C9-860C-9410015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E6F0-426B-4599-AA7C-E3D1EBF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53E5E-DA00-4F10-81FE-7A7921BB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9580F-D7A2-492B-ABEF-ED80F90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Education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B728B-508B-4F43-B481-F0CAAE6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247FE-08A4-4353-B807-4172CFC1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24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38F6B-7FB3-4B62-9A4B-5482C447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95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Resume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33F08-30B9-48A9-824C-8DF7FE27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097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FD"/>
                </a:solidFill>
              </a:defRPr>
            </a:pPr>
            <a:r>
              <a:rPr sz="1800" b="1">
                <a:solidFill>
                  <a:srgbClr val="246BFD"/>
                </a:solidFill>
              </a:rPr>
              <a:t>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EA76E-6469-4ED1-8CEA-E8AB92E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Example candidate calculation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77923-9376-4D87-83C2-548D9A7A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64E60-DDF0-4C47-B7A4-17BEB02E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Skills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2A9E9-B69E-4630-B5B6-232B81D6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80 × 0.50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1828E-7F06-4576-BA56-D94C3E68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40.0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08019-527F-4087-9FB6-A0FD106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43726-ABD0-4EBC-914F-50B6850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70 × 0.25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8DB9C-8C44-4CEE-B8E8-D6FEA18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17.5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7C663-2610-40CB-8CCA-84EEBE6F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FB01C-A348-416E-A908-D2954F5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Education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333D1-6D3D-4D0F-99A4-5D630AC8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90 × 0.15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42BA9-3AB1-47DA-8E0B-8BB34C9C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13.5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7A108-F2E7-475B-87A3-16C7D3C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E08497-DACF-48B1-A476-895F10F2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577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75 × 0.10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D6086-A67F-410C-B8E5-8E4E82CD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57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7.5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68E14-6D63-4D1D-9F43-1A79153C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18B4DA-F800-4C02-8A7E-35C73F78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9C6E5"/>
                </a:solidFill>
              </a:defRPr>
            </a:pPr>
            <a:r>
              <a:rPr sz="1350" b="1">
                <a:solidFill>
                  <a:srgbClr val="49C6E5"/>
                </a:solidFill>
              </a:rPr>
              <a:t>FINAL SCORE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88BE8E-F1F7-4906-B642-1FD3030B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78.5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CD5ED8-53D9-4088-A76D-BE9D132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Potential Match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6CC7B-B68A-48E8-91FE-1763BA1D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2850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B7175-5716-4009-ADD3-B3FA2135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564DA-BB43-4A0B-B657-396B4B24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Python extracts and cleans text before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CE0A6-F84B-47ED-9F1F-BD6D2DDF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8A64D-9A94-46F0-9B27-66EA45F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667500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25BC-B63C-4013-8AC3-A713EAF8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191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from pypdf import PdfReader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import 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def extract_text(file_path):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reader = PdfReader(file_path)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text = " ".join(page.extract_text() or ""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                for page in reader.pages)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text = text.lower()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text = re.sub(r"[^a-z0-9+#. ]", " ", text)</a:t>
            </a:r>
          </a:p>
          <a:p xmlns:a="http://schemas.openxmlformats.org/drawingml/2006/main">
            <a:pPr algn="l">
              <a:defRPr sz="1350" b="0">
                <a:solidFill>
                  <a:srgbClr val="E5ECF6"/>
                </a:solidFill>
              </a:defRPr>
            </a:pPr>
            <a:r>
              <a:rPr sz="1350" b="0">
                <a:solidFill>
                  <a:srgbClr val="E5ECF6"/>
                </a:solidFill>
              </a:rPr>
              <a:t>    return re.sub(r"\s+", " ", text).strip()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1132D-09F4-40FD-A225-0586931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What this code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CBFC6-5498-4195-BFFD-8A2B7395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5B37D-9549-40B5-9718-89B844E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3837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Reads every PDF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213FF-5780-4F25-8D75-5544D56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E6E42-3DC4-4DB0-B587-93EC72B4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Joins all extracted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B6B21-9B7D-4FFC-8952-1CF219AB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BF800-B7C5-45F6-A667-EE48D71F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4327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Converts text to lowercase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26708-62F8-42C6-A226-70E9099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301E0-0E6D-4DB9-ACEF-4DCA16A0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9572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Removes unwanted symbols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B7C12-2C89-4F20-9A92-4FADEA5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70F28-8580-4E03-8DBD-D17D976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48175"/>
            <a:ext cx="307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Returns clean searchable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A98D7-4292-4245-B27D-9044225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54578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5D464-9571-4AEC-B40C-7455300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F8404-1247-478F-A24C-F1CB759B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TF-IDF measures similarity between resume and job description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54F25-A999-4D85-8BBF-975BCB41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54B1C-3708-4309-B7C0-51A91BB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5D3C-C70D-439F-BBC1-DDBE3E8D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6429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from sklearn.feature_extraction.text import TfidfVectorizer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from sklearn.metrics.pairwise import cosine_similarity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def similarity_score(resume, job):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model = TfidfVectorizer(stop_words="english")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vectors = model.fit_transform([resume, job])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score = cosine_similarity(vectors[0], vectors[1])[0][0]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return round(score * 100, 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3809B-4AEA-4BC1-9565-D658FF3A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674CB-B475-4082-8F40-44D94F9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606D"/>
                </a:solidFill>
              </a:defRPr>
            </a:pPr>
            <a:r>
              <a:rPr sz="2025" b="1">
                <a:solidFill>
                  <a:srgbClr val="52606D"/>
                </a:solidFill>
              </a:rPr>
              <a:t>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CE480-1336-42FA-9B63-3C5AB1D7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6BFD"/>
                </a:solidFill>
              </a:defRPr>
            </a:pPr>
            <a:r>
              <a:rPr sz="1275" b="1">
                <a:solidFill>
                  <a:srgbClr val="246BFD"/>
                </a:solidFill>
              </a:rPr>
              <a:t>← similarity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00147-37EA-4EAC-8814-29288965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6A36A"/>
                </a:solidFill>
              </a:defRPr>
            </a:pPr>
            <a:r>
              <a:rPr sz="2025" b="1">
                <a:solidFill>
                  <a:srgbClr val="16A36A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9F33D-A22F-47A6-88F0-F8490C2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A higher value means the resume language is more similar to the job description.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A83E5-40FB-4B74-9B16-E5764C67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Similarity is only one signal; it should not decide hiring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3B5DD-3B2F-41B4-8E32-DE95573D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0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8C2BC-D3E3-4E57-9C9C-B11B96A5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4210B-674E-4427-90D3-84DD86E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Skill extraction makes the result easy to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9DC0C-C36A-4676-871B-33E2943F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21735-CCF2-4708-A262-B79BFD5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E16B1-278F-4D38-A877-E51573F9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857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SKILLS = ["python", "sql", "flask", "machine learning",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      "communication", "git", "data analysis"]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def find_skills(text):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    return [skill for skill in SKILLS if skill in text]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resume_skills = find_skills(resume_text)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job_skills = find_skills(job_text)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matching = sorted(set(resume_skills) &amp; set(job_skills))</a:t>
            </a:r>
          </a:p>
          <a:p xmlns:a="http://schemas.openxmlformats.org/drawingml/2006/main">
            <a:pPr algn="l">
              <a:defRPr sz="1275" b="0">
                <a:solidFill>
                  <a:srgbClr val="E5ECF6"/>
                </a:solidFill>
              </a:defRPr>
            </a:pPr>
            <a:r>
              <a:rPr sz="1275" b="0">
                <a:solidFill>
                  <a:srgbClr val="E5ECF6"/>
                </a:solidFill>
              </a:rPr>
              <a:t>missing = sorted(set(job_skills) - set(resume_skills))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85ADE-9E62-4E22-9A5E-F9CF3ACE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Example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316F8-2082-4762-8D7D-CE9AF5AA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8AD6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E3966-8664-4ABB-9D29-5E4FB5AB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6A"/>
                </a:solidFill>
              </a:defRPr>
            </a:pPr>
            <a:r>
              <a:rPr sz="1275" b="1">
                <a:solidFill>
                  <a:srgbClr val="16A36A"/>
                </a:solidFill>
              </a:rPr>
              <a:t>MATCHING SKILLS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481F5-E167-4DCB-86B7-58D8837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Python • SQL • 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B5824-40DD-4180-BFDE-BF704AC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3C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652CB-894C-48DA-BCFE-A332A18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A62A"/>
                </a:solidFill>
              </a:defRPr>
            </a:pPr>
            <a:r>
              <a:rPr sz="1275" b="1">
                <a:solidFill>
                  <a:srgbClr val="F4A62A"/>
                </a:solidFill>
              </a:rPr>
              <a:t>MISSING 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7183E-E533-448C-8993-E04CAA2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576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Flask • Machine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D02D8-A242-48C3-8897-4B691AF9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5256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C2AB7-3D9B-44F2-9D54-7087BC7C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6C7BD-EDE5-4511-B026-75C0F049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review report explains both strengths and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94995-CD57-4324-A9BF-C33152EC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F7E3A-0C05-4879-B723-3B09B2E6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46537-AC27-4B1F-ACF5-CFF3AC3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Candidate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4C789-FF76-4129-A73D-FC81D50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384C8-C5C6-4EB6-A713-FEF483D6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48AED-2699-4F4B-9FA6-CEEEAE7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Name and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08378-2BB1-48B7-95BB-784B380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81EC7-045B-421A-80E9-636CF071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52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Education 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03FC8-6195-4BAC-A851-29B0F2FD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EB68B-14A7-4034-8E5F-E5C6AAA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909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Years of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EE771-49A3-49AC-8D69-AE1739F3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668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9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C679F-9C7A-4FEC-890C-6CC7949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95D96-F797-41B6-8EC3-C77EC542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288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6F61D-CD71-4AB7-B106-D473C06C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02720-7185-4754-894D-D84577B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Matched keywords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DF95B-2C9B-4E8E-9FB1-6EA6C079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3F19B-DAFF-47A8-8FB1-60B6770E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Relevant projects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DB079-919A-4A44-9FAF-D44DA1E7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2E50D-CC18-409A-B9DF-B305D4C1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909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Required skills found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7748C-A3EB-44D5-B2A5-635A224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A82FB-63F5-4AB1-918E-0CCD2E28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Decision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FA6E9-8E04-4298-904E-1B92DEA2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28875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4B0DC-3BA9-4DE5-9FF6-71EBABA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7510E-A40D-4349-8FB5-DB7E9CBC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Match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7D77F-4D73-48D5-9D6D-38F6099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0F511-038E-471B-9EFE-427AA7A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Missing skills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53B92-AD06-4CBB-A887-03A040E9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83CF2-6191-4553-BDDD-1A84196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909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Improvement suggestions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CC1A1-5D77-44D3-92A0-E33994B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63E57-933F-48DD-900A-21C478E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578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Output: Strong Match  •  Potential Match  •  Not Recommended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3E0A15-4C52-49DF-AEDA-9FEFF170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049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049246-5977-4890-A584-D54B237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338D-0C6D-413B-893F-4B7F6EC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Database design keeps decisions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F7BFD-9BBE-4560-ACF5-C22972C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5BFAE-3265-4ED0-BE12-54D3EF1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26E0E-419B-4F23-A4A8-377A1E23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candidate_id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D4D22-AF99-49EC-A52B-7E707E59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47925-E1B5-48D9-962A-84BAB315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job_id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C3CDB-B6FF-4935-AD21-DC5C057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CF167-D68E-443F-BC16-D5345524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match_score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51C24-AC13-4B22-BD95-50F5A82C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08C14-C345-4C43-B6EE-61ABEA8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B783C-0157-4ACB-86AA-8D5B612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1952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8DDDB-267C-4B45-A832-C72C1AA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764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reviewed_by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C7459-3E47-4752-8BC3-6D5EA836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FDCBF-18CD-4501-8641-D1A6309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32A7D-FE0A-486A-8F3E-76B7306B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7D2F2-F636-484F-B673-425C514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B1344-FE05-4250-8220-6ABDB62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7741E-A819-4859-A938-1960AC01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86.5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C3D4E-2FD5-4A87-A1A0-94B377A8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FDCA0-138E-45A5-8B69-9A7391F7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Strong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5CC0A-667C-480A-8954-A0ADEB16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336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57965-A887-4113-AA43-F73D2255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669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CBDD2-8A6A-47F3-A088-F70FC64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A7CB7-203F-4152-938E-AA12CC2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150FD-BC3D-4A41-869E-89544D4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FED26-3792-4882-9E84-60506B3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D9A08-A4D3-409E-98EC-62F52446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84D76-34F1-4A95-9970-AD17693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72.0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E6EEA-B19D-40C0-9520-0BE52915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20BA95-7F4A-4845-A07E-8AE3738A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Potential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39D00A-77B8-4E2B-BB69-42A0678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8607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C8A28A-DF4F-4070-8951-379E5D01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194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80B86F-3297-4869-A4B5-DC98E33F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37783-49E3-4C3D-9DD3-9016701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C003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610FBE-91E9-418C-8754-A58680FD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8A4C66-23C2-403E-9ED1-C8550E0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J101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FC47DA-A36A-4BDA-886C-CE309385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C683BB-E3B7-4DE0-A280-B1BFF36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49.5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F221D0-8A78-4326-8570-28679E39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12F3E1-7393-4E5B-A304-923C65E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Review Needed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947CCC-3A16-41FF-9A98-E2FA8B5E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38525"/>
            <a:ext cx="1952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00FE44-6A76-453D-A917-103DE53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7187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Recruiter 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0BDE38-DEBD-47C9-892A-AF400F45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Recommended tables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9F6A95-3726-40BA-B620-E5756F1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898BC3-CFA9-41D7-AD24-139219FF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candidates — extracted profile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E2F7AD-D2D8-4264-98BC-101F7AC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C8096C-C818-41F6-89F6-4BEA08F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jobs — requirements and weights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00EDE9-4840-4E31-9830-6436AE04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DEB529-D79D-47C1-B8AD-BD44C6D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screening_results — scores and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DC83ED-56F3-4276-8D18-D4621C03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0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59D10B-4507-47A5-AFD4-CA0CA196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10220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audit_log — reviewer action and time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1EF7A4-6DBB-42BE-A044-292AC54D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30091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D16FC-F886-41B7-905D-6E920B47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11A7C-7C9E-4485-87CA-C1750EA9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Responsible AI controls reduce unfair or unsafe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2FB33-F977-4C21-BFA1-AB104AB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1CFE7-E15B-4EBB-A3B5-24F5298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941A9-5116-4FFE-B683-5D95D1F7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0392B"/>
                </a:solidFill>
              </a:defRPr>
            </a:pPr>
            <a:r>
              <a:rPr sz="1575" b="1">
                <a:solidFill>
                  <a:srgbClr val="C0392B"/>
                </a:solidFill>
              </a:rPr>
              <a:t>Bias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A77C9-206D-4CDA-8495-F3ADA3E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Do not score gender, age, photo, religion or address.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2FDD2-A87D-446F-82F1-041DFF1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C79F3-440B-49C3-AA5D-F64B454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Privacy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24AB3-387F-4812-87E3-58BF0D66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431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Collect only required data; encrypt files; define deletion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C705E-DFB2-4E4B-9E30-303F601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E3A94-39D2-4673-9B1D-D7BE596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Transparency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BBFD-90EA-42A5-B433-7492A64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194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Show score breakdown and matching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C7626-902E-41DC-ADF8-F785D1BF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0AF22-FE00-44DA-A522-174D5193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Human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89611-BBBE-4A4D-ABFE-36D85E85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957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Recruiter reviews borderline and rejected candidates.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B50C1-9F97-43BB-A178-44011696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80C61-C2E8-43FF-A921-96207057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FD"/>
                </a:solidFill>
              </a:defRPr>
            </a:pPr>
            <a:r>
              <a:rPr sz="1575" b="1">
                <a:solidFill>
                  <a:srgbClr val="246BFD"/>
                </a:solidFill>
              </a:rPr>
              <a:t>Auditability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86F0B-7AEE-4EA5-B469-63F40549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72075"/>
            <a:ext cx="823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Store model version, weights and reviewer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73C1F-109E-46D8-8187-F6978B38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4581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75D7D-CDB4-44E8-847D-B4EE6C19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373FC-C06D-465D-B338-16061E36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Testing proves the system is useful, stable and fair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5D709-038B-49D7-B9B3-C38F3F1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382B-3C95-4337-A268-C7CFEEF1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2C30B-7117-49E2-83CA-34190A3F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Functional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4B5C0-12B7-4FD2-AAB8-D224D1FD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Upload, extraction, matching and report work correctly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C2870-466D-41F7-AB26-403E8BBC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6687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B6932-8DBF-4F00-81D8-8A0515B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76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C8109-646D-4F63-8F29-78AF0AA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Compare system ranking with expert-reviewed sample resumes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BFD32-2C29-43EE-A461-E519B54C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7AEAC-2AEF-4524-BFE8-A7454D2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76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92965-1E7C-4773-980C-105496A9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Measure processing time for 10, 50 and 100 resumes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35D7F-146B-439E-A4FB-791C012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3714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F24B1-AE5F-4617-B5BF-7F5D2B9E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6717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CC5BB-E95F-4CC1-8873-9B1E51E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767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Reject unsupported files; protect stored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C5978-8B75-4775-A304-659209C2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3714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2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EDD4E-C2CE-4424-9020-3CB305B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6717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Fairness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5963B-F5D8-437B-9289-2BD0331C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Check whether removing personal fields changes ranking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E3DA9-6A2A-47EF-BB2F-7BCA256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6430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412CE-57FC-4C1E-9129-E068679A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B4262-F904-4B5E-978D-B4F1EFF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Expected results and future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DAAA0-7758-4F3B-932C-A26369C4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E3"/>
          </a:solidFill>
          <a:ln xmlns:a="http://schemas.openxmlformats.org/drawingml/2006/main" w="0">
            <a:solidFill>
              <a:srgbClr val="C9D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A0232-53EE-455E-8633-BB4FE2C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Expected project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75909-515B-4D1C-AD65-8C5A01CC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6EE6F-75DE-4C67-811A-119E6DD7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Faster first-stage screening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F29A0-EE2B-4D22-A5AA-580AB438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FF059-ED2F-4777-AE99-D6973083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717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Consistent scoring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F062B-FC22-4C6C-B121-B3F4DA8F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22158-AABB-4348-AB8C-3AD11501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04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Visible reasons for each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BA4A1-093D-4B19-A609-039D8E77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1D89B-703F-4539-A755-462C713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Better tracking of recruiter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61E87-272E-4124-A7F2-6C4EFB23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Future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B4DA7-CAD7-420C-ABC5-4E574603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76F7A-50B5-4B19-8F33-E9500C4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431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Support DOCX and scanned resumes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27880-E921-4D1E-A4B9-1E093F9E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94E0C-3707-49D5-8236-C501FE11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955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Use named-entity recognition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A7F91-33F8-47D7-BEF0-41DB02F6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7579A-7A9F-4132-8F05-4C7FB1DF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480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Add multilingual resume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B9E78-91CF-4759-81B1-3C100C0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FEEC8-11D1-4951-A484-45CAF91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0047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Monitor bias and model drift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26038-B89C-4EB6-8927-5F2951BB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2FBFC-D054-48CF-B8E7-B99332F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52925"/>
            <a:ext cx="450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Integrate with an applicant tracking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5F1D7-B8DB-4FD3-9D32-5C99357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5618E-3483-4F35-8286-43B00932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Success means better decisions—not merely higher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F7BE9-F895-4842-B8AC-95206CD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061115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515AD-3495-474F-946F-24F5A9AD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C6E5"/>
                </a:solidFill>
              </a:defRPr>
            </a:pPr>
            <a:r>
              <a:rPr sz="1350" b="1">
                <a:solidFill>
                  <a:srgbClr val="49C6E5"/>
                </a:solidFill>
              </a:rPr>
              <a:t>PROJECT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00001-4E1A-4A9F-83CB-0316FB15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AI can organize evidence.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Humans must make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9D5EB-46A3-4840-A4A1-77FFC42B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0F0"/>
                </a:solidFill>
              </a:defRPr>
            </a:pPr>
            <a:r>
              <a:rPr sz="1725" b="0">
                <a:solidFill>
                  <a:srgbClr val="D6E0F0"/>
                </a:solidFill>
              </a:rPr>
              <a:t>The proposed Python system extracts resume data, compares it with job requirements, provides an explainable score, and keeps the recruiter in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1FCAC-A7F9-4C7E-85C0-0759A7B7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9D4D4-CF49-484A-B90A-A6D30B8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B6637-86DD-4029-8086-387564A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49C6E5"/>
                </a:solidFill>
              </a:defRPr>
            </a:pPr>
            <a:r>
              <a:rPr sz="1950" b="1">
                <a:solidFill>
                  <a:srgbClr val="49C6E5"/>
                </a:solidFill>
              </a:rPr>
              <a:t>Questions &amp; Demo</a:t>
            </a:r>
          </a:p>
        </p:txBody>
      </p:sp>
    </p:spTree>
    <p:extLst>
      <p:ext uri="{BB962C8B-B14F-4D97-AF65-F5344CB8AC3E}">
        <p14:creationId xmlns:p14="http://schemas.microsoft.com/office/powerpoint/2010/main" val="191206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2026-09-02T15:16:37.3470000Z</dcterms:created>
  <dcterms:modified xsi:type="dcterms:W3CDTF">2026-09-02T15:16:37.3480000Z</dcterms:modified>
</coreProperties>
</file>